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F2E3E"/>
    <a:srgbClr val="4D1717"/>
    <a:srgbClr val="FFF5F5"/>
    <a:srgbClr val="A78295"/>
    <a:srgbClr val="EFE1D1"/>
    <a:srgbClr val="331D2C"/>
    <a:srgbClr val="37353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150" d="100"/>
          <a:sy n="150" d="100"/>
        </p:scale>
        <p:origin x="-918" y="-16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4989804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B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132320" y="-1097280"/>
            <a:ext cx="3200400" cy="3200400"/>
          </a:xfrm>
          <a:prstGeom prst="ellipse">
            <a:avLst/>
          </a:prstGeom>
          <a:solidFill>
            <a:srgbClr val="00C9A7">
              <a:alpha val="12000"/>
            </a:srgbClr>
          </a:solidFill>
          <a:ln w="12700">
            <a:solidFill>
              <a:srgbClr val="00C9A7">
                <a:alpha val="3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680960" y="-457200"/>
            <a:ext cx="2011680" cy="2011680"/>
          </a:xfrm>
          <a:prstGeom prst="ellipse">
            <a:avLst/>
          </a:prstGeom>
          <a:solidFill>
            <a:srgbClr val="00C9A7">
              <a:alpha val="22000"/>
            </a:srgbClr>
          </a:solidFill>
          <a:ln w="12700">
            <a:solidFill>
              <a:srgbClr val="00C9A7">
                <a:alpha val="4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498080" y="3566160"/>
            <a:ext cx="91440" cy="91440"/>
          </a:xfrm>
          <a:prstGeom prst="ellipse">
            <a:avLst/>
          </a:prstGeom>
          <a:solidFill>
            <a:srgbClr val="00C9A7">
              <a:alpha val="40000"/>
            </a:srgbClr>
          </a:solidFill>
          <a:ln w="12700">
            <a:solidFill>
              <a:srgbClr val="00C9A7">
                <a:alpha val="4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498080" y="3886200"/>
            <a:ext cx="91440" cy="91440"/>
          </a:xfrm>
          <a:prstGeom prst="ellipse">
            <a:avLst/>
          </a:prstGeom>
          <a:solidFill>
            <a:srgbClr val="00C9A7">
              <a:alpha val="40000"/>
            </a:srgbClr>
          </a:solidFill>
          <a:ln w="12700">
            <a:solidFill>
              <a:srgbClr val="00C9A7">
                <a:alpha val="4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498080" y="4206240"/>
            <a:ext cx="91440" cy="91440"/>
          </a:xfrm>
          <a:prstGeom prst="ellipse">
            <a:avLst/>
          </a:prstGeom>
          <a:solidFill>
            <a:srgbClr val="00C9A7">
              <a:alpha val="40000"/>
            </a:srgbClr>
          </a:solidFill>
          <a:ln w="12700">
            <a:solidFill>
              <a:srgbClr val="00C9A7">
                <a:alpha val="4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818120" y="3566160"/>
            <a:ext cx="91440" cy="91440"/>
          </a:xfrm>
          <a:prstGeom prst="ellipse">
            <a:avLst/>
          </a:prstGeom>
          <a:solidFill>
            <a:srgbClr val="00C9A7">
              <a:alpha val="40000"/>
            </a:srgbClr>
          </a:solidFill>
          <a:ln w="12700">
            <a:solidFill>
              <a:srgbClr val="00C9A7">
                <a:alpha val="4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818120" y="3886200"/>
            <a:ext cx="91440" cy="91440"/>
          </a:xfrm>
          <a:prstGeom prst="ellipse">
            <a:avLst/>
          </a:prstGeom>
          <a:solidFill>
            <a:srgbClr val="00C9A7">
              <a:alpha val="40000"/>
            </a:srgbClr>
          </a:solidFill>
          <a:ln w="12700">
            <a:solidFill>
              <a:srgbClr val="00C9A7">
                <a:alpha val="4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818120" y="4206240"/>
            <a:ext cx="91440" cy="91440"/>
          </a:xfrm>
          <a:prstGeom prst="ellipse">
            <a:avLst/>
          </a:prstGeom>
          <a:solidFill>
            <a:srgbClr val="00C9A7">
              <a:alpha val="40000"/>
            </a:srgbClr>
          </a:solidFill>
          <a:ln w="12700">
            <a:solidFill>
              <a:srgbClr val="00C9A7">
                <a:alpha val="4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138160" y="3566160"/>
            <a:ext cx="91440" cy="91440"/>
          </a:xfrm>
          <a:prstGeom prst="ellipse">
            <a:avLst/>
          </a:prstGeom>
          <a:solidFill>
            <a:srgbClr val="00C9A7">
              <a:alpha val="40000"/>
            </a:srgbClr>
          </a:solidFill>
          <a:ln w="12700">
            <a:solidFill>
              <a:srgbClr val="00C9A7">
                <a:alpha val="40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138160" y="3886200"/>
            <a:ext cx="91440" cy="91440"/>
          </a:xfrm>
          <a:prstGeom prst="ellipse">
            <a:avLst/>
          </a:prstGeom>
          <a:solidFill>
            <a:srgbClr val="00C9A7">
              <a:alpha val="40000"/>
            </a:srgbClr>
          </a:solidFill>
          <a:ln w="12700">
            <a:solidFill>
              <a:srgbClr val="00C9A7">
                <a:alpha val="40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138160" y="4206240"/>
            <a:ext cx="91440" cy="91440"/>
          </a:xfrm>
          <a:prstGeom prst="ellipse">
            <a:avLst/>
          </a:prstGeom>
          <a:solidFill>
            <a:srgbClr val="00C9A7">
              <a:alpha val="40000"/>
            </a:srgbClr>
          </a:solidFill>
          <a:ln w="12700">
            <a:solidFill>
              <a:srgbClr val="00C9A7">
                <a:alpha val="40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458200" y="3566160"/>
            <a:ext cx="91440" cy="91440"/>
          </a:xfrm>
          <a:prstGeom prst="ellipse">
            <a:avLst/>
          </a:prstGeom>
          <a:solidFill>
            <a:srgbClr val="00C9A7">
              <a:alpha val="40000"/>
            </a:srgbClr>
          </a:solidFill>
          <a:ln w="12700">
            <a:solidFill>
              <a:srgbClr val="00C9A7">
                <a:alpha val="40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458200" y="3886200"/>
            <a:ext cx="91440" cy="91440"/>
          </a:xfrm>
          <a:prstGeom prst="ellipse">
            <a:avLst/>
          </a:prstGeom>
          <a:solidFill>
            <a:srgbClr val="00C9A7">
              <a:alpha val="40000"/>
            </a:srgbClr>
          </a:solidFill>
          <a:ln w="12700">
            <a:solidFill>
              <a:srgbClr val="00C9A7">
                <a:alpha val="40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458200" y="4206240"/>
            <a:ext cx="91440" cy="91440"/>
          </a:xfrm>
          <a:prstGeom prst="ellipse">
            <a:avLst/>
          </a:prstGeom>
          <a:solidFill>
            <a:srgbClr val="00C9A7">
              <a:alpha val="40000"/>
            </a:srgbClr>
          </a:solidFill>
          <a:ln w="12700">
            <a:solidFill>
              <a:srgbClr val="00C9A7">
                <a:alpha val="40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57200" y="457200"/>
            <a:ext cx="2560320" cy="292608"/>
          </a:xfrm>
          <a:prstGeom prst="rect">
            <a:avLst/>
          </a:prstGeom>
          <a:solidFill>
            <a:srgbClr val="00C9A7">
              <a:alpha val="80000"/>
            </a:srgbClr>
          </a:solidFill>
          <a:ln w="12700">
            <a:solidFill>
              <a:srgbClr val="00C9A7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457200" y="457200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kern="0" spc="200" dirty="0">
                <a:solidFill>
                  <a:srgbClr val="FFFFFF"/>
                </a:solidFill>
              </a:rPr>
              <a:t>PROJET FIN DE SEMESTRE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457200" y="960120"/>
            <a:ext cx="7772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Note Agent</a:t>
            </a:r>
            <a:endParaRPr lang="en-US" sz="4600" dirty="0"/>
          </a:p>
        </p:txBody>
      </p:sp>
      <p:sp>
        <p:nvSpPr>
          <p:cNvPr id="20" name="Shape 18"/>
          <p:cNvSpPr/>
          <p:nvPr/>
        </p:nvSpPr>
        <p:spPr>
          <a:xfrm>
            <a:off x="457200" y="2029968"/>
            <a:ext cx="5303520" cy="41148"/>
          </a:xfrm>
          <a:prstGeom prst="rect">
            <a:avLst/>
          </a:prstGeom>
          <a:solidFill>
            <a:srgbClr val="8EA8C3">
              <a:alpha val="60000"/>
            </a:srgbClr>
          </a:solidFill>
          <a:ln w="12700">
            <a:solidFill>
              <a:srgbClr val="8EA8C3">
                <a:alpha val="60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57200" y="2029968"/>
            <a:ext cx="1737360" cy="41148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7200" y="214884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la note brute au document professionnel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457200" y="2542032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8EA8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Système intelligent de structuration automatique de notes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457200" y="3154680"/>
            <a:ext cx="5120640" cy="1508760"/>
          </a:xfrm>
          <a:prstGeom prst="rect">
            <a:avLst/>
          </a:prstGeom>
          <a:solidFill>
            <a:srgbClr val="162236"/>
          </a:solidFill>
          <a:ln w="12700">
            <a:solidFill>
              <a:srgbClr val="1E3A5F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713232" y="3310128"/>
            <a:ext cx="4663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Équipe : </a:t>
            </a: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Groupe X — Filière Informatique &amp; IA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713232" y="3694176"/>
            <a:ext cx="4663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Encadrant : </a:t>
            </a: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Prof. [Nom de l'encadrant]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713232" y="4078224"/>
            <a:ext cx="4663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 : </a:t>
            </a: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Semestre 2 — 2024 / 2025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6492240" y="1554480"/>
            <a:ext cx="2148840" cy="2743200"/>
          </a:xfrm>
          <a:prstGeom prst="rect">
            <a:avLst/>
          </a:prstGeom>
          <a:solidFill>
            <a:srgbClr val="1E3A5F"/>
          </a:solidFill>
          <a:ln w="19050">
            <a:solidFill>
              <a:srgbClr val="00C9A7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6629400" y="1737360"/>
            <a:ext cx="1554480" cy="91440"/>
          </a:xfrm>
          <a:prstGeom prst="rect">
            <a:avLst/>
          </a:prstGeom>
          <a:solidFill>
            <a:srgbClr val="8EA8C3">
              <a:alpha val="70000"/>
            </a:srgbClr>
          </a:solidFill>
          <a:ln w="12700">
            <a:solidFill>
              <a:srgbClr val="8EA8C3">
                <a:alpha val="70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629400" y="1993392"/>
            <a:ext cx="1097280" cy="91440"/>
          </a:xfrm>
          <a:prstGeom prst="rect">
            <a:avLst/>
          </a:prstGeom>
          <a:solidFill>
            <a:srgbClr val="8EA8C3">
              <a:alpha val="70000"/>
            </a:srgbClr>
          </a:solidFill>
          <a:ln w="12700">
            <a:solidFill>
              <a:srgbClr val="8EA8C3">
                <a:alpha val="70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629400" y="2249424"/>
            <a:ext cx="1371600" cy="91440"/>
          </a:xfrm>
          <a:prstGeom prst="rect">
            <a:avLst/>
          </a:prstGeom>
          <a:solidFill>
            <a:srgbClr val="8EA8C3">
              <a:alpha val="70000"/>
            </a:srgbClr>
          </a:solidFill>
          <a:ln w="12700">
            <a:solidFill>
              <a:srgbClr val="8EA8C3">
                <a:alpha val="7000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629400" y="2505456"/>
            <a:ext cx="822960" cy="91440"/>
          </a:xfrm>
          <a:prstGeom prst="rect">
            <a:avLst/>
          </a:prstGeom>
          <a:solidFill>
            <a:srgbClr val="8EA8C3">
              <a:alpha val="70000"/>
            </a:srgbClr>
          </a:solidFill>
          <a:ln w="12700">
            <a:solidFill>
              <a:srgbClr val="8EA8C3">
                <a:alpha val="7000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629400" y="2761488"/>
            <a:ext cx="1188720" cy="91440"/>
          </a:xfrm>
          <a:prstGeom prst="rect">
            <a:avLst/>
          </a:prstGeom>
          <a:solidFill>
            <a:srgbClr val="8EA8C3">
              <a:alpha val="70000"/>
            </a:srgbClr>
          </a:solidFill>
          <a:ln w="12700">
            <a:solidFill>
              <a:srgbClr val="8EA8C3">
                <a:alpha val="7000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7223760" y="3063240"/>
            <a:ext cx="0" cy="457200"/>
          </a:xfrm>
          <a:prstGeom prst="line">
            <a:avLst/>
          </a:prstGeom>
          <a:noFill/>
          <a:ln w="25400">
            <a:solidFill>
              <a:srgbClr val="00C9A7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086600" y="3493008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C9A7"/>
                </a:solidFill>
              </a:rPr>
              <a:t>▼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6583680" y="37947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C9A7"/>
                </a:solidFill>
              </a:rPr>
              <a:t>📄 .docx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331D2C"/>
          </a:solidFill>
          <a:ln w="12700">
            <a:solidFill>
              <a:srgbClr val="331D2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914400"/>
            <a:ext cx="9144000" cy="54864"/>
          </a:xfrm>
          <a:prstGeom prst="rect">
            <a:avLst/>
          </a:prstGeom>
          <a:solidFill>
            <a:srgbClr val="EFE1D1"/>
          </a:solidFill>
          <a:ln w="12700">
            <a:solidFill>
              <a:srgbClr val="EFE1D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25984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Montserrat Bold" panose="00000800000000000000" pitchFamily="2" charset="0"/>
                <a:ea typeface="Calibri" pitchFamily="34" charset="-122"/>
                <a:cs typeface="Calibri" pitchFamily="34" charset="-120"/>
              </a:rPr>
              <a:t>Problématique &amp; Introduction</a:t>
            </a:r>
            <a:endParaRPr lang="en-US" sz="2400" dirty="0">
              <a:latin typeface="Montserrat Bold" panose="00000800000000000000" pitchFamily="2" charset="0"/>
            </a:endParaRPr>
          </a:p>
        </p:txBody>
      </p:sp>
      <p:sp>
        <p:nvSpPr>
          <p:cNvPr id="5" name="Shape 3"/>
          <p:cNvSpPr/>
          <p:nvPr/>
        </p:nvSpPr>
        <p:spPr>
          <a:xfrm>
            <a:off x="320040" y="1170432"/>
            <a:ext cx="4114800" cy="3520440"/>
          </a:xfrm>
          <a:prstGeom prst="rect">
            <a:avLst/>
          </a:prstGeom>
          <a:solidFill>
            <a:srgbClr val="FFF5F5"/>
          </a:solidFill>
          <a:ln w="12700">
            <a:solidFill>
              <a:srgbClr val="EFE1D1"/>
            </a:solidFill>
            <a:prstDash val="solid"/>
          </a:ln>
          <a:effectLst/>
        </p:spPr>
        <p:txBody>
          <a:bodyPr/>
          <a:lstStyle/>
          <a:p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320040" y="1170432"/>
            <a:ext cx="4114800" cy="347472"/>
          </a:xfrm>
          <a:prstGeom prst="rect">
            <a:avLst/>
          </a:prstGeom>
          <a:solidFill>
            <a:srgbClr val="A78295"/>
          </a:solidFill>
          <a:ln w="12700">
            <a:solidFill>
              <a:srgbClr val="A7829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1170432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Montserrat Bold" panose="00000800000000000000" pitchFamily="2" charset="0"/>
              </a:rPr>
              <a:t>  Le Problème</a:t>
            </a:r>
            <a:endParaRPr lang="en-US" sz="1200" dirty="0">
              <a:latin typeface="Montserrat Bold" panose="00000800000000000000" pitchFamily="2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502920" y="1664208"/>
            <a:ext cx="3749040" cy="2788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85750" indent="-285750">
              <a:spcAft>
                <a:spcPts val="8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374151"/>
                </a:solidFill>
                <a:ea typeface="Calibri" pitchFamily="34" charset="-122"/>
                <a:cs typeface="Calibri" pitchFamily="34" charset="-120"/>
              </a:rPr>
              <a:t>Les notes prises à la volée sont désorganisées (abréviations, dates informelles, texte libre)</a:t>
            </a:r>
            <a:endParaRPr lang="en-US" sz="1400" dirty="0"/>
          </a:p>
          <a:p>
            <a:pPr marL="285750" indent="-285750">
              <a:spcAft>
                <a:spcPts val="8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374151"/>
                </a:solidFill>
                <a:ea typeface="Calibri" pitchFamily="34" charset="-122"/>
                <a:cs typeface="Calibri" pitchFamily="34" charset="-120"/>
              </a:rPr>
              <a:t>Des heures perdues chaque semaine à reformater manuellement</a:t>
            </a:r>
            <a:endParaRPr lang="en-US" sz="1400" dirty="0"/>
          </a:p>
          <a:p>
            <a:pPr marL="285750" indent="-285750">
              <a:spcAft>
                <a:spcPts val="8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374151"/>
                </a:solidFill>
                <a:ea typeface="Calibri" pitchFamily="34" charset="-122"/>
                <a:cs typeface="Calibri" pitchFamily="34" charset="-120"/>
              </a:rPr>
              <a:t>Perte d'informations importantes lors du recopiage</a:t>
            </a:r>
            <a:endParaRPr lang="en-US" sz="1400" dirty="0"/>
          </a:p>
          <a:p>
            <a:pPr marL="285750" indent="-285750">
              <a:spcAft>
                <a:spcPts val="8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374151"/>
                </a:solidFill>
                <a:ea typeface="Calibri" pitchFamily="34" charset="-122"/>
                <a:cs typeface="Calibri" pitchFamily="34" charset="-120"/>
              </a:rPr>
              <a:t>Difficulté de partage et de relecture pour les équipes</a:t>
            </a:r>
            <a:endParaRPr lang="en-US" sz="1400" dirty="0"/>
          </a:p>
          <a:p>
            <a:pPr marL="285750" indent="-285750">
              <a:spcAft>
                <a:spcPts val="8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374151"/>
                </a:solidFill>
                <a:ea typeface="Calibri" pitchFamily="34" charset="-122"/>
                <a:cs typeface="Calibri" pitchFamily="34" charset="-120"/>
              </a:rPr>
              <a:t>Aucune cohérence de format entre les membres d'un projet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709160" y="1170432"/>
            <a:ext cx="4114800" cy="3520440"/>
          </a:xfrm>
          <a:prstGeom prst="rect">
            <a:avLst/>
          </a:prstGeom>
          <a:solidFill>
            <a:srgbClr val="FFF5F5"/>
          </a:solidFill>
          <a:ln w="12700">
            <a:solidFill>
              <a:srgbClr val="EFE1D1"/>
            </a:solidFill>
            <a:prstDash val="solid"/>
          </a:ln>
          <a:effectLst/>
        </p:spPr>
        <p:txBody>
          <a:bodyPr/>
          <a:lstStyle/>
          <a:p>
            <a:endParaRPr lang="en-US" dirty="0"/>
          </a:p>
        </p:txBody>
      </p:sp>
      <p:sp>
        <p:nvSpPr>
          <p:cNvPr id="10" name="Shape 8"/>
          <p:cNvSpPr/>
          <p:nvPr/>
        </p:nvSpPr>
        <p:spPr>
          <a:xfrm>
            <a:off x="4709160" y="1170432"/>
            <a:ext cx="4114800" cy="347472"/>
          </a:xfrm>
          <a:prstGeom prst="rect">
            <a:avLst/>
          </a:prstGeom>
          <a:solidFill>
            <a:srgbClr val="A78295"/>
          </a:solidFill>
          <a:ln w="12700">
            <a:solidFill>
              <a:srgbClr val="A7829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00600" y="1170432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Montserrat Bold" panose="00000800000000000000" pitchFamily="2" charset="0"/>
              </a:rPr>
              <a:t>Notre Solution</a:t>
            </a:r>
            <a:endParaRPr lang="en-US" sz="1200" dirty="0">
              <a:latin typeface="Montserrat Bold" panose="00000800000000000000" pitchFamily="2" charset="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4846320" y="1627632"/>
            <a:ext cx="388620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F4E3D"/>
                </a:solidFill>
                <a:ea typeface="Calibri" pitchFamily="34" charset="-122"/>
                <a:cs typeface="Calibri" pitchFamily="34" charset="-120"/>
              </a:rPr>
              <a:t>Un agent IA autonome qui lit, comprend et classifie chaque note </a:t>
            </a:r>
            <a:r>
              <a:rPr lang="en-US" sz="1400" dirty="0" err="1">
                <a:solidFill>
                  <a:srgbClr val="1F4E3D"/>
                </a:solidFill>
                <a:ea typeface="Calibri" pitchFamily="34" charset="-122"/>
                <a:cs typeface="Calibri" pitchFamily="34" charset="-120"/>
              </a:rPr>
              <a:t>automatiquement</a:t>
            </a:r>
            <a:r>
              <a:rPr lang="en-US" sz="1400" dirty="0">
                <a:solidFill>
                  <a:srgbClr val="1F4E3D"/>
                </a:solidFill>
                <a:ea typeface="Calibri" pitchFamily="34" charset="-122"/>
                <a:cs typeface="Calibri" pitchFamily="34" charset="-120"/>
              </a:rPr>
              <a:t>.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F4E3D"/>
                </a:solidFill>
                <a:ea typeface="Calibri" pitchFamily="34" charset="-122"/>
                <a:cs typeface="Calibri" pitchFamily="34" charset="-120"/>
              </a:rPr>
              <a:t>Détection intelligente du type : réunion, idée, todo, Q&amp;A, question, </a:t>
            </a:r>
            <a:r>
              <a:rPr lang="en-US" sz="1400" dirty="0" err="1">
                <a:solidFill>
                  <a:srgbClr val="1F4E3D"/>
                </a:solidFill>
                <a:ea typeface="Calibri" pitchFamily="34" charset="-122"/>
                <a:cs typeface="Calibri" pitchFamily="34" charset="-120"/>
              </a:rPr>
              <a:t>défaut</a:t>
            </a:r>
            <a:r>
              <a:rPr lang="en-US" sz="1400" dirty="0">
                <a:solidFill>
                  <a:srgbClr val="1F4E3D"/>
                </a:solidFill>
                <a:ea typeface="Calibri" pitchFamily="34" charset="-122"/>
                <a:cs typeface="Calibri" pitchFamily="34" charset="-120"/>
              </a:rPr>
              <a:t>.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F4E3D"/>
                </a:solidFill>
                <a:ea typeface="Calibri" pitchFamily="34" charset="-122"/>
                <a:cs typeface="Calibri" pitchFamily="34" charset="-120"/>
              </a:rPr>
              <a:t>Structuration </a:t>
            </a:r>
            <a:r>
              <a:rPr lang="en-US" sz="1400" dirty="0" err="1">
                <a:solidFill>
                  <a:srgbClr val="1F4E3D"/>
                </a:solidFill>
                <a:ea typeface="Calibri" pitchFamily="34" charset="-122"/>
                <a:cs typeface="Calibri" pitchFamily="34" charset="-120"/>
              </a:rPr>
              <a:t>intelligente</a:t>
            </a:r>
            <a:r>
              <a:rPr lang="en-US" sz="1400" dirty="0">
                <a:solidFill>
                  <a:srgbClr val="1F4E3D"/>
                </a:solidFill>
                <a:ea typeface="Calibri" pitchFamily="34" charset="-122"/>
                <a:cs typeface="Calibri" pitchFamily="34" charset="-120"/>
              </a:rPr>
              <a:t> pour </a:t>
            </a:r>
            <a:r>
              <a:rPr lang="en-US" sz="1400" dirty="0" err="1">
                <a:solidFill>
                  <a:srgbClr val="1F4E3D"/>
                </a:solidFill>
                <a:ea typeface="Calibri" pitchFamily="34" charset="-122"/>
                <a:cs typeface="Calibri" pitchFamily="34" charset="-120"/>
              </a:rPr>
              <a:t>chaque</a:t>
            </a:r>
            <a:r>
              <a:rPr lang="en-US" sz="1400" dirty="0">
                <a:solidFill>
                  <a:srgbClr val="1F4E3D"/>
                </a:solidFill>
                <a:ea typeface="Calibri" pitchFamily="34" charset="-122"/>
                <a:cs typeface="Calibri" pitchFamily="34" charset="-120"/>
              </a:rPr>
              <a:t> type.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F4E3D"/>
                </a:solidFill>
                <a:ea typeface="Calibri" pitchFamily="34" charset="-122"/>
                <a:cs typeface="Calibri" pitchFamily="34" charset="-120"/>
              </a:rPr>
              <a:t>Export immédiat en document Word “.docx” formaté, coloré, professionnel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F4E3D"/>
                </a:solidFill>
                <a:ea typeface="Calibri" pitchFamily="34" charset="-122"/>
                <a:cs typeface="Calibri" pitchFamily="34" charset="-120"/>
              </a:rPr>
              <a:t>Meilleur structuration des notes.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331D2C"/>
          </a:solidFill>
          <a:ln w="12700">
            <a:solidFill>
              <a:srgbClr val="4D1717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1371600" y="4764405"/>
            <a:ext cx="192024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FE1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 Du Agent</a:t>
            </a:r>
            <a:endParaRPr lang="en-US" sz="1300" dirty="0">
              <a:solidFill>
                <a:srgbClr val="EFE1D1"/>
              </a:solidFill>
            </a:endParaRPr>
          </a:p>
        </p:txBody>
      </p:sp>
      <p:sp>
        <p:nvSpPr>
          <p:cNvPr id="17" name="Shape 15"/>
          <p:cNvSpPr/>
          <p:nvPr/>
        </p:nvSpPr>
        <p:spPr>
          <a:xfrm>
            <a:off x="4480560" y="4828032"/>
            <a:ext cx="0" cy="228600"/>
          </a:xfrm>
          <a:prstGeom prst="line">
            <a:avLst/>
          </a:prstGeom>
          <a:ln>
            <a:solidFill>
              <a:srgbClr val="EFE1D1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sp>
      <p:sp>
        <p:nvSpPr>
          <p:cNvPr id="18" name="Text 16"/>
          <p:cNvSpPr/>
          <p:nvPr/>
        </p:nvSpPr>
        <p:spPr>
          <a:xfrm>
            <a:off x="5852160" y="4745355"/>
            <a:ext cx="192024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FE1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28 Avril 2026</a:t>
            </a:r>
            <a:endParaRPr lang="en-US" sz="1300" dirty="0">
              <a:solidFill>
                <a:srgbClr val="EFE1D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FE1D1"/>
          </a:solidFill>
          <a:ln w="12700">
            <a:noFill/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828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4D1717"/>
                </a:solidFill>
                <a:latin typeface="Montserrat Bold" panose="00000800000000000000" pitchFamily="2" charset="0"/>
                <a:ea typeface="Calibri" pitchFamily="34" charset="-122"/>
                <a:cs typeface="Calibri" pitchFamily="34" charset="-120"/>
              </a:rPr>
              <a:t>Architecture</a:t>
            </a:r>
            <a:r>
              <a:rPr lang="en-US" sz="2400" b="1" dirty="0">
                <a:solidFill>
                  <a:srgbClr val="4D17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400" b="1" dirty="0" err="1">
                <a:solidFill>
                  <a:srgbClr val="4D1717"/>
                </a:solidFill>
                <a:latin typeface="Montserrat Bold" panose="00000800000000000000" pitchFamily="2" charset="0"/>
                <a:ea typeface="Calibri" pitchFamily="34" charset="-122"/>
                <a:cs typeface="Calibri" pitchFamily="34" charset="-120"/>
              </a:rPr>
              <a:t>Système</a:t>
            </a:r>
            <a:endParaRPr lang="en-US" sz="2400" b="1" dirty="0">
              <a:solidFill>
                <a:srgbClr val="4D1717"/>
              </a:solidFill>
              <a:latin typeface="Montserrat Bold" panose="00000800000000000000" pitchFamily="2" charset="0"/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4" name="Text 2"/>
          <p:cNvSpPr/>
          <p:nvPr/>
        </p:nvSpPr>
        <p:spPr>
          <a:xfrm>
            <a:off x="411480" y="65836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F2E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modulaire — 6 couches indépendantes et extensibles</a:t>
            </a:r>
            <a:endParaRPr lang="en-US" sz="1400" dirty="0">
              <a:solidFill>
                <a:srgbClr val="3F2E3E"/>
              </a:solidFill>
            </a:endParaRPr>
          </a:p>
        </p:txBody>
      </p:sp>
      <p:sp>
        <p:nvSpPr>
          <p:cNvPr id="5" name="Shape 3"/>
          <p:cNvSpPr/>
          <p:nvPr/>
        </p:nvSpPr>
        <p:spPr>
          <a:xfrm>
            <a:off x="274320" y="1078992"/>
            <a:ext cx="4069080" cy="1097280"/>
          </a:xfrm>
          <a:prstGeom prst="roundRect">
            <a:avLst/>
          </a:prstGeom>
          <a:solidFill>
            <a:srgbClr val="FFF5F5"/>
          </a:solidFill>
          <a:ln w="19050">
            <a:solidFill>
              <a:srgbClr val="4D1717"/>
            </a:solidFill>
            <a:prstDash val="solid"/>
          </a:ln>
          <a:effectLst/>
        </p:spPr>
        <p:txBody>
          <a:bodyPr/>
          <a:lstStyle/>
          <a:p>
            <a:endParaRPr lang="fr-MA" dirty="0"/>
          </a:p>
        </p:txBody>
      </p:sp>
      <p:sp>
        <p:nvSpPr>
          <p:cNvPr id="6" name="Shape 4"/>
          <p:cNvSpPr/>
          <p:nvPr/>
        </p:nvSpPr>
        <p:spPr>
          <a:xfrm>
            <a:off x="384048" y="1316736"/>
            <a:ext cx="566928" cy="566928"/>
          </a:xfrm>
          <a:prstGeom prst="ellipse">
            <a:avLst/>
          </a:prstGeom>
          <a:solidFill>
            <a:srgbClr val="3F2E3E"/>
          </a:solidFill>
          <a:ln w="12700">
            <a:noFill/>
            <a:prstDash val="solid"/>
          </a:ln>
          <a:effectLst/>
        </p:spPr>
      </p:sp>
      <p:sp>
        <p:nvSpPr>
          <p:cNvPr id="7" name="Text 5"/>
          <p:cNvSpPr/>
          <p:nvPr/>
        </p:nvSpPr>
        <p:spPr>
          <a:xfrm>
            <a:off x="384048" y="131673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5F5"/>
                </a:solidFill>
                <a:ea typeface="Calibri" pitchFamily="34" charset="-122"/>
                <a:cs typeface="Calibri" pitchFamily="34" charset="-120"/>
              </a:rPr>
              <a:t>1</a:t>
            </a:r>
          </a:p>
        </p:txBody>
      </p:sp>
      <p:sp>
        <p:nvSpPr>
          <p:cNvPr id="8" name="Text 6"/>
          <p:cNvSpPr/>
          <p:nvPr/>
        </p:nvSpPr>
        <p:spPr>
          <a:xfrm>
            <a:off x="1078992" y="1170432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F2E3E"/>
                </a:solidFill>
                <a:latin typeface="Montserrat Bold" panose="00000800000000000000" pitchFamily="2" charset="0"/>
                <a:ea typeface="Calibri" pitchFamily="34" charset="-122"/>
                <a:cs typeface="Calibri" pitchFamily="34" charset="-120"/>
              </a:rPr>
              <a:t>ENTRÉE</a:t>
            </a:r>
          </a:p>
        </p:txBody>
      </p:sp>
      <p:sp>
        <p:nvSpPr>
          <p:cNvPr id="9" name="Text 7"/>
          <p:cNvSpPr/>
          <p:nvPr/>
        </p:nvSpPr>
        <p:spPr>
          <a:xfrm>
            <a:off x="1060704" y="1453896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 err="1">
                <a:solidFill>
                  <a:srgbClr val="374151"/>
                </a:solidFill>
                <a:ea typeface="Calibri" pitchFamily="34" charset="-122"/>
                <a:cs typeface="Calibri" pitchFamily="34" charset="-120"/>
              </a:rPr>
              <a:t>Fichiers</a:t>
            </a:r>
            <a:r>
              <a:rPr lang="en-US" sz="1400" dirty="0">
                <a:solidFill>
                  <a:srgbClr val="374151"/>
                </a:solidFill>
                <a:ea typeface="Calibri" pitchFamily="34" charset="-122"/>
                <a:cs typeface="Calibri" pitchFamily="34" charset="-120"/>
              </a:rPr>
              <a:t> .txt </a:t>
            </a:r>
            <a:r>
              <a:rPr lang="en-US" sz="1400" dirty="0" err="1">
                <a:solidFill>
                  <a:srgbClr val="374151"/>
                </a:solidFill>
                <a:ea typeface="Calibri" pitchFamily="34" charset="-122"/>
                <a:cs typeface="Calibri" pitchFamily="34" charset="-120"/>
              </a:rPr>
              <a:t>bruts</a:t>
            </a:r>
            <a:endParaRPr lang="en-US" sz="1400" dirty="0">
              <a:solidFill>
                <a:srgbClr val="374151"/>
              </a:solidFill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1078992" y="1673352"/>
            <a:ext cx="3108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F2E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Notes brutes </a:t>
            </a:r>
            <a:r>
              <a:rPr lang="en-US" sz="1100" dirty="0" err="1">
                <a:solidFill>
                  <a:srgbClr val="3F2E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déposées</a:t>
            </a:r>
            <a:r>
              <a:rPr lang="en-US" sz="1100" dirty="0">
                <a:solidFill>
                  <a:srgbClr val="3F2E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dans notes/</a:t>
            </a:r>
            <a:endParaRPr lang="en-US" sz="1100" dirty="0">
              <a:solidFill>
                <a:srgbClr val="3F2E3E"/>
              </a:solidFill>
            </a:endParaRPr>
          </a:p>
        </p:txBody>
      </p:sp>
      <p:sp>
        <p:nvSpPr>
          <p:cNvPr id="11" name="Text 9"/>
          <p:cNvSpPr/>
          <p:nvPr/>
        </p:nvSpPr>
        <p:spPr>
          <a:xfrm>
            <a:off x="2057400" y="2176272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C9A7"/>
                </a:solidFill>
              </a:rPr>
              <a:t>↓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709160" y="1078992"/>
            <a:ext cx="4069080" cy="1097280"/>
          </a:xfrm>
          <a:prstGeom prst="roundRect">
            <a:avLst/>
          </a:prstGeom>
          <a:solidFill>
            <a:srgbClr val="FFF5F5"/>
          </a:solidFill>
          <a:ln w="19050">
            <a:solidFill>
              <a:srgbClr val="4D1717"/>
            </a:solidFill>
            <a:prstDash val="solid"/>
          </a:ln>
          <a:effectLst/>
        </p:spPr>
      </p:sp>
      <p:sp>
        <p:nvSpPr>
          <p:cNvPr id="13" name="Shape 11"/>
          <p:cNvSpPr/>
          <p:nvPr/>
        </p:nvSpPr>
        <p:spPr>
          <a:xfrm>
            <a:off x="4818888" y="1316736"/>
            <a:ext cx="566928" cy="566928"/>
          </a:xfrm>
          <a:prstGeom prst="ellipse">
            <a:avLst/>
          </a:prstGeom>
          <a:solidFill>
            <a:srgbClr val="A78295"/>
          </a:solidFill>
          <a:ln w="12700">
            <a:noFill/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18888" y="1316736"/>
            <a:ext cx="566928" cy="566928"/>
          </a:xfrm>
          <a:prstGeom prst="ellipse">
            <a:avLst/>
          </a:prstGeom>
          <a:solidFill>
            <a:srgbClr val="3F2E3E"/>
          </a:solidFill>
          <a:ln/>
          <a:effectLst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5F5"/>
                </a:solidFill>
                <a:ea typeface="Calibri" pitchFamily="34" charset="-122"/>
                <a:cs typeface="Calibri" pitchFamily="34" charset="-120"/>
              </a:rPr>
              <a:t>2</a:t>
            </a:r>
          </a:p>
        </p:txBody>
      </p:sp>
      <p:sp>
        <p:nvSpPr>
          <p:cNvPr id="15" name="Text 13"/>
          <p:cNvSpPr/>
          <p:nvPr/>
        </p:nvSpPr>
        <p:spPr>
          <a:xfrm>
            <a:off x="5513832" y="1170432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F2E3E"/>
                </a:solidFill>
                <a:latin typeface="Montserrat Bold" panose="00000800000000000000" pitchFamily="2" charset="0"/>
                <a:ea typeface="Calibri" pitchFamily="34" charset="-122"/>
                <a:cs typeface="Calibri" pitchFamily="34" charset="-120"/>
              </a:rPr>
              <a:t>CLASSIFICATION</a:t>
            </a:r>
          </a:p>
        </p:txBody>
      </p:sp>
      <p:sp>
        <p:nvSpPr>
          <p:cNvPr id="16" name="Text 14"/>
          <p:cNvSpPr/>
          <p:nvPr/>
        </p:nvSpPr>
        <p:spPr>
          <a:xfrm>
            <a:off x="5513832" y="1380744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74151"/>
                </a:solidFill>
                <a:ea typeface="Calibri" pitchFamily="34" charset="-122"/>
                <a:cs typeface="Calibri" pitchFamily="34" charset="-120"/>
              </a:rPr>
              <a:t>Classifier Heuristique + API</a:t>
            </a:r>
          </a:p>
        </p:txBody>
      </p:sp>
      <p:sp>
        <p:nvSpPr>
          <p:cNvPr id="17" name="Text 15"/>
          <p:cNvSpPr/>
          <p:nvPr/>
        </p:nvSpPr>
        <p:spPr>
          <a:xfrm>
            <a:off x="5513832" y="1673352"/>
            <a:ext cx="3108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F2E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Mots-clés → type détecté (+ fallback </a:t>
            </a:r>
            <a:r>
              <a:rPr lang="en-US" sz="1100" dirty="0" err="1">
                <a:solidFill>
                  <a:srgbClr val="3F2E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Groq</a:t>
            </a:r>
            <a:r>
              <a:rPr lang="en-US" sz="1100" dirty="0">
                <a:solidFill>
                  <a:srgbClr val="3F2E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</a:t>
            </a:r>
          </a:p>
        </p:txBody>
      </p:sp>
      <p:sp>
        <p:nvSpPr>
          <p:cNvPr id="18" name="Text 16"/>
          <p:cNvSpPr/>
          <p:nvPr/>
        </p:nvSpPr>
        <p:spPr>
          <a:xfrm>
            <a:off x="6492240" y="2176272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C9A7"/>
                </a:solidFill>
              </a:rPr>
              <a:t>↓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274320" y="2340864"/>
            <a:ext cx="4069080" cy="1097280"/>
          </a:xfrm>
          <a:prstGeom prst="roundRect">
            <a:avLst/>
          </a:prstGeom>
          <a:solidFill>
            <a:srgbClr val="FFF5F5"/>
          </a:solidFill>
          <a:ln w="19050">
            <a:solidFill>
              <a:srgbClr val="4D1717"/>
            </a:solidFill>
            <a:prstDash val="solid"/>
          </a:ln>
          <a:effectLst/>
        </p:spPr>
      </p:sp>
      <p:sp>
        <p:nvSpPr>
          <p:cNvPr id="20" name="Shape 18"/>
          <p:cNvSpPr/>
          <p:nvPr/>
        </p:nvSpPr>
        <p:spPr>
          <a:xfrm>
            <a:off x="384048" y="2578608"/>
            <a:ext cx="566928" cy="566928"/>
          </a:xfrm>
          <a:prstGeom prst="ellipse">
            <a:avLst/>
          </a:prstGeom>
          <a:solidFill>
            <a:srgbClr val="3F2E3E"/>
          </a:solidFill>
          <a:ln w="12700">
            <a:solidFill>
              <a:srgbClr val="5C4A1A"/>
            </a:solidFill>
            <a:prstDash val="solid"/>
          </a:ln>
          <a:effectLst/>
        </p:spPr>
      </p:sp>
      <p:sp>
        <p:nvSpPr>
          <p:cNvPr id="21" name="Text 19"/>
          <p:cNvSpPr/>
          <p:nvPr/>
        </p:nvSpPr>
        <p:spPr>
          <a:xfrm>
            <a:off x="384048" y="257860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5F5"/>
                </a:solidFill>
                <a:ea typeface="Calibri" pitchFamily="34" charset="-122"/>
                <a:cs typeface="Calibri" pitchFamily="34" charset="-120"/>
              </a:rPr>
              <a:t>3</a:t>
            </a:r>
          </a:p>
        </p:txBody>
      </p:sp>
      <p:sp>
        <p:nvSpPr>
          <p:cNvPr id="22" name="Text 20"/>
          <p:cNvSpPr/>
          <p:nvPr/>
        </p:nvSpPr>
        <p:spPr>
          <a:xfrm>
            <a:off x="1078992" y="2432304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F2E3E"/>
                </a:solidFill>
                <a:latin typeface="Montserrat Bold" panose="00000800000000000000" pitchFamily="2" charset="0"/>
                <a:ea typeface="Calibri" pitchFamily="34" charset="-122"/>
                <a:cs typeface="Calibri" pitchFamily="34" charset="-120"/>
              </a:rPr>
              <a:t>EXTRACTION</a:t>
            </a:r>
          </a:p>
        </p:txBody>
      </p:sp>
      <p:sp>
        <p:nvSpPr>
          <p:cNvPr id="23" name="Text 21"/>
          <p:cNvSpPr/>
          <p:nvPr/>
        </p:nvSpPr>
        <p:spPr>
          <a:xfrm>
            <a:off x="1078992" y="2642616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74151"/>
                </a:solidFill>
                <a:ea typeface="Calibri" pitchFamily="34" charset="-122"/>
                <a:cs typeface="Calibri" pitchFamily="34" charset="-120"/>
              </a:rPr>
              <a:t>Templates JSON </a:t>
            </a:r>
            <a:r>
              <a:rPr lang="en-US" sz="1400" dirty="0" err="1">
                <a:solidFill>
                  <a:srgbClr val="374151"/>
                </a:solidFill>
                <a:ea typeface="Calibri" pitchFamily="34" charset="-122"/>
                <a:cs typeface="Calibri" pitchFamily="34" charset="-120"/>
              </a:rPr>
              <a:t>dynamiques</a:t>
            </a:r>
            <a:endParaRPr lang="en-US" sz="1400" dirty="0">
              <a:solidFill>
                <a:srgbClr val="374151"/>
              </a:solidFill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1078992" y="2935224"/>
            <a:ext cx="3108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F2E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templates : meeting, idea, todo, qa, question, default</a:t>
            </a:r>
          </a:p>
        </p:txBody>
      </p:sp>
      <p:sp>
        <p:nvSpPr>
          <p:cNvPr id="25" name="Text 23"/>
          <p:cNvSpPr/>
          <p:nvPr/>
        </p:nvSpPr>
        <p:spPr>
          <a:xfrm>
            <a:off x="2057400" y="3438144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C9A7"/>
                </a:solidFill>
              </a:rPr>
              <a:t>↓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709160" y="2340864"/>
            <a:ext cx="4069080" cy="1097280"/>
          </a:xfrm>
          <a:prstGeom prst="roundRect">
            <a:avLst/>
          </a:prstGeom>
          <a:solidFill>
            <a:srgbClr val="FFF5F5"/>
          </a:solidFill>
          <a:ln w="19050">
            <a:solidFill>
              <a:srgbClr val="4D1717"/>
            </a:solidFill>
            <a:prstDash val="solid"/>
          </a:ln>
          <a:effectLst/>
        </p:spPr>
      </p:sp>
      <p:sp>
        <p:nvSpPr>
          <p:cNvPr id="27" name="Shape 25"/>
          <p:cNvSpPr/>
          <p:nvPr/>
        </p:nvSpPr>
        <p:spPr>
          <a:xfrm>
            <a:off x="4818888" y="2578608"/>
            <a:ext cx="566928" cy="566928"/>
          </a:xfrm>
          <a:prstGeom prst="ellipse">
            <a:avLst/>
          </a:prstGeom>
          <a:solidFill>
            <a:srgbClr val="3F2E3E"/>
          </a:solidFill>
          <a:ln w="12700">
            <a:solidFill>
              <a:srgbClr val="4A1A5C"/>
            </a:solidFill>
            <a:prstDash val="solid"/>
          </a:ln>
          <a:effectLst/>
        </p:spPr>
      </p:sp>
      <p:sp>
        <p:nvSpPr>
          <p:cNvPr id="28" name="Text 26"/>
          <p:cNvSpPr/>
          <p:nvPr/>
        </p:nvSpPr>
        <p:spPr>
          <a:xfrm>
            <a:off x="4818888" y="257860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algn="ctr">
              <a:buNone/>
            </a:pPr>
            <a:r>
              <a:rPr lang="en-US" sz="2000" b="1" dirty="0">
                <a:solidFill>
                  <a:srgbClr val="FFF5F5"/>
                </a:solidFill>
                <a:ea typeface="Calibri" pitchFamily="34" charset="-122"/>
                <a:cs typeface="Calibri" pitchFamily="34" charset="-120"/>
              </a:rPr>
              <a:t>4</a:t>
            </a:r>
          </a:p>
        </p:txBody>
      </p:sp>
      <p:sp>
        <p:nvSpPr>
          <p:cNvPr id="29" name="Text 27"/>
          <p:cNvSpPr/>
          <p:nvPr/>
        </p:nvSpPr>
        <p:spPr>
          <a:xfrm>
            <a:off x="5513832" y="2432304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F2E3E"/>
                </a:solidFill>
                <a:latin typeface="Montserrat Bold" panose="00000800000000000000" pitchFamily="2" charset="0"/>
                <a:ea typeface="Calibri" pitchFamily="34" charset="-122"/>
                <a:cs typeface="Calibri" pitchFamily="34" charset="-120"/>
              </a:rPr>
              <a:t>API</a:t>
            </a:r>
            <a:r>
              <a:rPr lang="en-US" sz="1000" b="1" kern="0" spc="150" dirty="0">
                <a:solidFill>
                  <a:srgbClr val="3F2E3E"/>
                </a:solidFill>
                <a:latin typeface="Montserrat Bold" panose="00000800000000000000" pitchFamily="2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00" dirty="0">
                <a:solidFill>
                  <a:srgbClr val="3F2E3E"/>
                </a:solidFill>
                <a:latin typeface="Montserrat Bold" panose="00000800000000000000" pitchFamily="2" charset="0"/>
                <a:ea typeface="Calibri" pitchFamily="34" charset="-122"/>
                <a:cs typeface="Calibri" pitchFamily="34" charset="-120"/>
              </a:rPr>
              <a:t>LAYER</a:t>
            </a:r>
          </a:p>
        </p:txBody>
      </p:sp>
      <p:sp>
        <p:nvSpPr>
          <p:cNvPr id="30" name="Text 28"/>
          <p:cNvSpPr/>
          <p:nvPr/>
        </p:nvSpPr>
        <p:spPr>
          <a:xfrm>
            <a:off x="5513832" y="2642616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dirty="0">
                <a:solidFill>
                  <a:srgbClr val="374151"/>
                </a:solidFill>
                <a:ea typeface="Calibri" pitchFamily="34" charset="-122"/>
                <a:cs typeface="Calibri" pitchFamily="34" charset="-120"/>
              </a:rPr>
              <a:t>Appel Groq (Llama 3.1)</a:t>
            </a:r>
          </a:p>
        </p:txBody>
      </p:sp>
      <p:sp>
        <p:nvSpPr>
          <p:cNvPr id="31" name="Text 29"/>
          <p:cNvSpPr/>
          <p:nvPr/>
        </p:nvSpPr>
        <p:spPr>
          <a:xfrm>
            <a:off x="5513832" y="2935224"/>
            <a:ext cx="3108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00" dirty="0">
                <a:solidFill>
                  <a:srgbClr val="3F2E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Retry logic + nettoyage markdown fences</a:t>
            </a:r>
          </a:p>
        </p:txBody>
      </p:sp>
      <p:sp>
        <p:nvSpPr>
          <p:cNvPr id="32" name="Text 30"/>
          <p:cNvSpPr/>
          <p:nvPr/>
        </p:nvSpPr>
        <p:spPr>
          <a:xfrm>
            <a:off x="6492240" y="3438144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C9A7"/>
                </a:solidFill>
              </a:rPr>
              <a:t>↓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274320" y="3602736"/>
            <a:ext cx="4069080" cy="1014984"/>
          </a:xfrm>
          <a:prstGeom prst="roundRect">
            <a:avLst/>
          </a:prstGeom>
          <a:solidFill>
            <a:srgbClr val="FFF5F5"/>
          </a:solidFill>
          <a:ln w="19050">
            <a:solidFill>
              <a:srgbClr val="4D1717"/>
            </a:solidFill>
            <a:prstDash val="solid"/>
          </a:ln>
          <a:effectLst/>
        </p:spPr>
        <p:txBody>
          <a:bodyPr/>
          <a:lstStyle/>
          <a:p>
            <a:endParaRPr lang="fr-MA" dirty="0"/>
          </a:p>
        </p:txBody>
      </p:sp>
      <p:sp>
        <p:nvSpPr>
          <p:cNvPr id="34" name="Shape 32"/>
          <p:cNvSpPr/>
          <p:nvPr/>
        </p:nvSpPr>
        <p:spPr>
          <a:xfrm>
            <a:off x="384048" y="3840480"/>
            <a:ext cx="566928" cy="566928"/>
          </a:xfrm>
          <a:prstGeom prst="ellipse">
            <a:avLst/>
          </a:prstGeom>
          <a:solidFill>
            <a:srgbClr val="3F2E3E"/>
          </a:solidFill>
          <a:ln w="12700">
            <a:solidFill>
              <a:srgbClr val="1A3A5C"/>
            </a:solidFill>
            <a:prstDash val="solid"/>
          </a:ln>
          <a:effectLst/>
        </p:spPr>
      </p:sp>
      <p:sp>
        <p:nvSpPr>
          <p:cNvPr id="35" name="Text 33"/>
          <p:cNvSpPr/>
          <p:nvPr/>
        </p:nvSpPr>
        <p:spPr>
          <a:xfrm>
            <a:off x="384048" y="384048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400" b="1" dirty="0">
                <a:solidFill>
                  <a:srgbClr val="FFF5F5"/>
                </a:solidFill>
                <a:ea typeface="Calibri" pitchFamily="34" charset="-122"/>
                <a:cs typeface="Calibri" pitchFamily="34" charset="-120"/>
              </a:rPr>
              <a:t>5</a:t>
            </a:r>
          </a:p>
        </p:txBody>
      </p:sp>
      <p:sp>
        <p:nvSpPr>
          <p:cNvPr id="36" name="Text 34"/>
          <p:cNvSpPr/>
          <p:nvPr/>
        </p:nvSpPr>
        <p:spPr>
          <a:xfrm>
            <a:off x="1078992" y="3694176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F2E3E"/>
                </a:solidFill>
                <a:latin typeface="Montserrat Bold" panose="00000800000000000000" pitchFamily="2" charset="0"/>
                <a:ea typeface="Calibri" pitchFamily="34" charset="-122"/>
                <a:cs typeface="Calibri" pitchFamily="34" charset="-120"/>
              </a:rPr>
              <a:t>VALIDATION</a:t>
            </a:r>
          </a:p>
        </p:txBody>
      </p:sp>
      <p:sp>
        <p:nvSpPr>
          <p:cNvPr id="37" name="Text 35"/>
          <p:cNvSpPr/>
          <p:nvPr/>
        </p:nvSpPr>
        <p:spPr>
          <a:xfrm>
            <a:off x="1078992" y="3904488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74151"/>
                </a:solidFill>
                <a:ea typeface="Calibri" pitchFamily="34" charset="-122"/>
                <a:cs typeface="Calibri" pitchFamily="34" charset="-120"/>
              </a:rPr>
              <a:t>Vérification &amp; </a:t>
            </a:r>
            <a:r>
              <a:rPr lang="en-US" sz="1400" dirty="0" err="1">
                <a:solidFill>
                  <a:srgbClr val="374151"/>
                </a:solidFill>
                <a:ea typeface="Calibri" pitchFamily="34" charset="-122"/>
                <a:cs typeface="Calibri" pitchFamily="34" charset="-120"/>
              </a:rPr>
              <a:t>nettoyage</a:t>
            </a:r>
            <a:endParaRPr lang="en-US" sz="1400" dirty="0">
              <a:solidFill>
                <a:srgbClr val="374151"/>
              </a:solidFill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38" name="Text 36"/>
          <p:cNvSpPr/>
          <p:nvPr/>
        </p:nvSpPr>
        <p:spPr>
          <a:xfrm>
            <a:off x="1078992" y="4197096"/>
            <a:ext cx="3108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F2E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Champs requis + valeurs par </a:t>
            </a:r>
            <a:r>
              <a:rPr lang="en-US" sz="1100" dirty="0" err="1">
                <a:solidFill>
                  <a:srgbClr val="3F2E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défaut</a:t>
            </a:r>
            <a:endParaRPr lang="en-US" sz="1100" dirty="0">
              <a:solidFill>
                <a:srgbClr val="3F2E3E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39" name="Shape 37"/>
          <p:cNvSpPr/>
          <p:nvPr/>
        </p:nvSpPr>
        <p:spPr>
          <a:xfrm>
            <a:off x="4709160" y="3602736"/>
            <a:ext cx="4069080" cy="1014984"/>
          </a:xfrm>
          <a:prstGeom prst="roundRect">
            <a:avLst/>
          </a:prstGeom>
          <a:solidFill>
            <a:srgbClr val="FFF5F5"/>
          </a:solidFill>
          <a:ln w="19050">
            <a:solidFill>
              <a:srgbClr val="4D1717"/>
            </a:solidFill>
            <a:prstDash val="solid"/>
          </a:ln>
          <a:effectLst/>
        </p:spPr>
      </p:sp>
      <p:sp>
        <p:nvSpPr>
          <p:cNvPr id="40" name="Shape 38"/>
          <p:cNvSpPr/>
          <p:nvPr/>
        </p:nvSpPr>
        <p:spPr>
          <a:xfrm>
            <a:off x="4818888" y="3840480"/>
            <a:ext cx="566928" cy="566928"/>
          </a:xfrm>
          <a:prstGeom prst="ellipse">
            <a:avLst/>
          </a:prstGeom>
          <a:solidFill>
            <a:srgbClr val="3F2E3E"/>
          </a:solidFill>
          <a:ln w="12700">
            <a:solidFill>
              <a:srgbClr val="5C1A2A"/>
            </a:solidFill>
            <a:prstDash val="solid"/>
          </a:ln>
          <a:effectLst/>
        </p:spPr>
      </p:sp>
      <p:sp>
        <p:nvSpPr>
          <p:cNvPr id="41" name="Text 39"/>
          <p:cNvSpPr/>
          <p:nvPr/>
        </p:nvSpPr>
        <p:spPr>
          <a:xfrm>
            <a:off x="4818888" y="384048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000" b="1" dirty="0">
                <a:solidFill>
                  <a:srgbClr val="FFF5F5"/>
                </a:solidFill>
                <a:ea typeface="Calibri" pitchFamily="34" charset="-122"/>
                <a:cs typeface="Calibri" pitchFamily="34" charset="-120"/>
              </a:rPr>
              <a:t>6</a:t>
            </a:r>
          </a:p>
        </p:txBody>
      </p:sp>
      <p:sp>
        <p:nvSpPr>
          <p:cNvPr id="42" name="Text 40"/>
          <p:cNvSpPr/>
          <p:nvPr/>
        </p:nvSpPr>
        <p:spPr>
          <a:xfrm>
            <a:off x="5513832" y="3694176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F2E3E"/>
                </a:solidFill>
                <a:latin typeface="Montserrat Bold" panose="00000800000000000000" pitchFamily="2" charset="0"/>
                <a:ea typeface="Calibri" pitchFamily="34" charset="-122"/>
                <a:cs typeface="Calibri" pitchFamily="34" charset="-120"/>
              </a:rPr>
              <a:t>RENDU</a:t>
            </a:r>
          </a:p>
        </p:txBody>
      </p:sp>
      <p:sp>
        <p:nvSpPr>
          <p:cNvPr id="43" name="Text 41"/>
          <p:cNvSpPr/>
          <p:nvPr/>
        </p:nvSpPr>
        <p:spPr>
          <a:xfrm>
            <a:off x="5513832" y="3904488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74151"/>
                </a:solidFill>
                <a:ea typeface="Calibri" pitchFamily="34" charset="-122"/>
                <a:cs typeface="Calibri" pitchFamily="34" charset="-120"/>
              </a:rPr>
              <a:t>Générateur .docx</a:t>
            </a:r>
          </a:p>
        </p:txBody>
      </p:sp>
      <p:sp>
        <p:nvSpPr>
          <p:cNvPr id="44" name="Text 42"/>
          <p:cNvSpPr/>
          <p:nvPr/>
        </p:nvSpPr>
        <p:spPr>
          <a:xfrm>
            <a:off x="5513832" y="4197096"/>
            <a:ext cx="3108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>
              <a:buNone/>
            </a:pPr>
            <a:r>
              <a:rPr lang="en-US" sz="1100" dirty="0">
                <a:solidFill>
                  <a:srgbClr val="3F2E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python-docx : styles, couleurs, tableaux</a:t>
            </a:r>
          </a:p>
        </p:txBody>
      </p:sp>
      <p:sp>
        <p:nvSpPr>
          <p:cNvPr id="45" name="Shape 43"/>
          <p:cNvSpPr/>
          <p:nvPr/>
        </p:nvSpPr>
        <p:spPr>
          <a:xfrm>
            <a:off x="3063240" y="4690491"/>
            <a:ext cx="3108960" cy="320040"/>
          </a:xfrm>
          <a:prstGeom prst="roundRect">
            <a:avLst/>
          </a:prstGeom>
          <a:solidFill>
            <a:srgbClr val="3F2E3E"/>
          </a:solidFill>
          <a:ln w="19050">
            <a:noFill/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3017520" y="4665599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FF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Sortie : documents .docx structurés </a:t>
            </a:r>
            <a:r>
              <a:rPr lang="en-US" sz="1100" i="1">
                <a:solidFill>
                  <a:srgbClr val="FF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dans output</a:t>
            </a:r>
            <a:endParaRPr lang="en-US" sz="1100" i="1" dirty="0">
              <a:solidFill>
                <a:srgbClr val="FFF5F5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F1B2D"/>
          </a:solidFill>
          <a:ln w="12700">
            <a:solidFill>
              <a:srgbClr val="0F1B2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96112"/>
            <a:ext cx="9144000" cy="50292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146304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 Global de l'Agent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256032" y="1188720"/>
            <a:ext cx="1133856" cy="3200400"/>
          </a:xfrm>
          <a:prstGeom prst="rect">
            <a:avLst/>
          </a:prstGeom>
          <a:solidFill>
            <a:srgbClr val="1E3A5F"/>
          </a:solidFill>
          <a:ln w="19050">
            <a:solidFill>
              <a:srgbClr val="00C9A7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85216" y="1298448"/>
            <a:ext cx="457200" cy="457200"/>
          </a:xfrm>
          <a:prstGeom prst="ellipse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85216" y="12984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F1B2D"/>
                </a:solidFill>
              </a:rPr>
              <a:t>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256032" y="1847088"/>
            <a:ext cx="11338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📂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256032" y="2395728"/>
            <a:ext cx="113385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310896" y="2761488"/>
            <a:ext cx="10241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Fichier .txt brut chargé depuis notes/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1353312" y="2697480"/>
            <a:ext cx="1463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C9A7"/>
                </a:solidFill>
              </a:rPr>
              <a:t>→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1499616" y="1188720"/>
            <a:ext cx="1133856" cy="3200400"/>
          </a:xfrm>
          <a:prstGeom prst="rect">
            <a:avLst/>
          </a:prstGeom>
          <a:solidFill>
            <a:srgbClr val="1A4A3A"/>
          </a:solidFill>
          <a:ln w="19050">
            <a:solidFill>
              <a:srgbClr val="F5A623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1828800" y="1298448"/>
            <a:ext cx="457200" cy="457200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828800" y="12984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F1B2D"/>
                </a:solidFill>
              </a:rPr>
              <a:t>2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499616" y="1847088"/>
            <a:ext cx="11338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🔍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1499616" y="2395728"/>
            <a:ext cx="113385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1554480" y="2761488"/>
            <a:ext cx="10241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Détection automatique du type de note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2596896" y="2697480"/>
            <a:ext cx="1463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C9A7"/>
                </a:solidFill>
              </a:rPr>
              <a:t>→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2743200" y="1188720"/>
            <a:ext cx="1133856" cy="3200400"/>
          </a:xfrm>
          <a:prstGeom prst="rect">
            <a:avLst/>
          </a:prstGeom>
          <a:solidFill>
            <a:srgbClr val="1E3A5F"/>
          </a:solidFill>
          <a:ln w="19050">
            <a:solidFill>
              <a:srgbClr val="00C9A7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072384" y="1298448"/>
            <a:ext cx="457200" cy="457200"/>
          </a:xfrm>
          <a:prstGeom prst="ellipse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072384" y="12984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F1B2D"/>
                </a:solidFill>
              </a:rPr>
              <a:t>3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2743200" y="1847088"/>
            <a:ext cx="11338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📝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2743200" y="2395728"/>
            <a:ext cx="113385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Template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2798064" y="2761488"/>
            <a:ext cx="10241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Chargement du prompt adapté au type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3840480" y="2697480"/>
            <a:ext cx="1463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C9A7"/>
                </a:solidFill>
              </a:rPr>
              <a:t>→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3986784" y="1188720"/>
            <a:ext cx="1133856" cy="3200400"/>
          </a:xfrm>
          <a:prstGeom prst="rect">
            <a:avLst/>
          </a:prstGeom>
          <a:solidFill>
            <a:srgbClr val="1A4A3A"/>
          </a:solidFill>
          <a:ln w="19050">
            <a:solidFill>
              <a:srgbClr val="F5A623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315968" y="1298448"/>
            <a:ext cx="457200" cy="457200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315968" y="12984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F1B2D"/>
                </a:solidFill>
              </a:rPr>
              <a:t>4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3986784" y="1847088"/>
            <a:ext cx="11338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🤖</a:t>
            </a:r>
            <a:endParaRPr lang="en-US" sz="2000" dirty="0"/>
          </a:p>
        </p:txBody>
      </p:sp>
      <p:sp>
        <p:nvSpPr>
          <p:cNvPr id="30" name="Text 28"/>
          <p:cNvSpPr/>
          <p:nvPr/>
        </p:nvSpPr>
        <p:spPr>
          <a:xfrm>
            <a:off x="3986784" y="2395728"/>
            <a:ext cx="113385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Groq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4041648" y="2761488"/>
            <a:ext cx="10241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Structuration en JSON via Llama 3.1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5084064" y="2697480"/>
            <a:ext cx="1463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C9A7"/>
                </a:solidFill>
              </a:rPr>
              <a:t>→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5230368" y="1188720"/>
            <a:ext cx="1133856" cy="3200400"/>
          </a:xfrm>
          <a:prstGeom prst="rect">
            <a:avLst/>
          </a:prstGeom>
          <a:solidFill>
            <a:srgbClr val="1E3A5F"/>
          </a:solidFill>
          <a:ln w="19050">
            <a:solidFill>
              <a:srgbClr val="00C9A7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5559552" y="1298448"/>
            <a:ext cx="457200" cy="457200"/>
          </a:xfrm>
          <a:prstGeom prst="ellipse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559552" y="12984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F1B2D"/>
                </a:solidFill>
              </a:rPr>
              <a:t>5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5230368" y="1847088"/>
            <a:ext cx="11338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✅</a:t>
            </a:r>
            <a:endParaRPr lang="en-US" sz="2000" dirty="0"/>
          </a:p>
        </p:txBody>
      </p:sp>
      <p:sp>
        <p:nvSpPr>
          <p:cNvPr id="37" name="Text 35"/>
          <p:cNvSpPr/>
          <p:nvPr/>
        </p:nvSpPr>
        <p:spPr>
          <a:xfrm>
            <a:off x="5230368" y="2395728"/>
            <a:ext cx="113385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5285232" y="2761488"/>
            <a:ext cx="10241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Nettoyage et vérification des champs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6327648" y="2697480"/>
            <a:ext cx="1463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C9A7"/>
                </a:solidFill>
              </a:rPr>
              <a:t>→</a:t>
            </a:r>
            <a:endParaRPr lang="en-US" sz="1300" dirty="0"/>
          </a:p>
        </p:txBody>
      </p:sp>
      <p:sp>
        <p:nvSpPr>
          <p:cNvPr id="40" name="Shape 38"/>
          <p:cNvSpPr/>
          <p:nvPr/>
        </p:nvSpPr>
        <p:spPr>
          <a:xfrm>
            <a:off x="6473952" y="1188720"/>
            <a:ext cx="1133856" cy="3200400"/>
          </a:xfrm>
          <a:prstGeom prst="rect">
            <a:avLst/>
          </a:prstGeom>
          <a:solidFill>
            <a:srgbClr val="1A4A3A"/>
          </a:solidFill>
          <a:ln w="19050">
            <a:solidFill>
              <a:srgbClr val="F5A623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6803136" y="1298448"/>
            <a:ext cx="457200" cy="457200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803136" y="12984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F1B2D"/>
                </a:solidFill>
              </a:rPr>
              <a:t>6</a:t>
            </a:r>
            <a:endParaRPr lang="en-US" sz="1300" dirty="0"/>
          </a:p>
        </p:txBody>
      </p:sp>
      <p:sp>
        <p:nvSpPr>
          <p:cNvPr id="43" name="Text 41"/>
          <p:cNvSpPr/>
          <p:nvPr/>
        </p:nvSpPr>
        <p:spPr>
          <a:xfrm>
            <a:off x="6473952" y="1847088"/>
            <a:ext cx="11338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🎨</a:t>
            </a:r>
            <a:endParaRPr lang="en-US" sz="2000" dirty="0"/>
          </a:p>
        </p:txBody>
      </p:sp>
      <p:sp>
        <p:nvSpPr>
          <p:cNvPr id="44" name="Text 42"/>
          <p:cNvSpPr/>
          <p:nvPr/>
        </p:nvSpPr>
        <p:spPr>
          <a:xfrm>
            <a:off x="6473952" y="2395728"/>
            <a:ext cx="113385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Rendu</a:t>
            </a:r>
            <a:endParaRPr lang="en-US" sz="1050" dirty="0"/>
          </a:p>
        </p:txBody>
      </p:sp>
      <p:sp>
        <p:nvSpPr>
          <p:cNvPr id="45" name="Text 43"/>
          <p:cNvSpPr/>
          <p:nvPr/>
        </p:nvSpPr>
        <p:spPr>
          <a:xfrm>
            <a:off x="6528816" y="2761488"/>
            <a:ext cx="10241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Génération du document Word mis en forme</a:t>
            </a:r>
            <a:endParaRPr lang="en-US" sz="850" dirty="0"/>
          </a:p>
        </p:txBody>
      </p:sp>
      <p:sp>
        <p:nvSpPr>
          <p:cNvPr id="46" name="Text 44"/>
          <p:cNvSpPr/>
          <p:nvPr/>
        </p:nvSpPr>
        <p:spPr>
          <a:xfrm>
            <a:off x="7571232" y="2697480"/>
            <a:ext cx="1463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C9A7"/>
                </a:solidFill>
              </a:rPr>
              <a:t>→</a:t>
            </a:r>
            <a:endParaRPr lang="en-US" sz="1300" dirty="0"/>
          </a:p>
        </p:txBody>
      </p:sp>
      <p:sp>
        <p:nvSpPr>
          <p:cNvPr id="47" name="Shape 45"/>
          <p:cNvSpPr/>
          <p:nvPr/>
        </p:nvSpPr>
        <p:spPr>
          <a:xfrm>
            <a:off x="7717536" y="1188720"/>
            <a:ext cx="1133856" cy="3200400"/>
          </a:xfrm>
          <a:prstGeom prst="rect">
            <a:avLst/>
          </a:prstGeom>
          <a:solidFill>
            <a:srgbClr val="1E3A5F"/>
          </a:solidFill>
          <a:ln w="19050">
            <a:solidFill>
              <a:srgbClr val="00C9A7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48" name="Shape 46"/>
          <p:cNvSpPr/>
          <p:nvPr/>
        </p:nvSpPr>
        <p:spPr>
          <a:xfrm>
            <a:off x="8046720" y="1298448"/>
            <a:ext cx="457200" cy="457200"/>
          </a:xfrm>
          <a:prstGeom prst="ellipse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8046720" y="12984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F1B2D"/>
                </a:solidFill>
              </a:rPr>
              <a:t>7</a:t>
            </a:r>
            <a:endParaRPr lang="en-US" sz="1300" dirty="0"/>
          </a:p>
        </p:txBody>
      </p:sp>
      <p:sp>
        <p:nvSpPr>
          <p:cNvPr id="50" name="Text 48"/>
          <p:cNvSpPr/>
          <p:nvPr/>
        </p:nvSpPr>
        <p:spPr>
          <a:xfrm>
            <a:off x="7717536" y="1847088"/>
            <a:ext cx="11338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📤</a:t>
            </a:r>
            <a:endParaRPr lang="en-US" sz="2000" dirty="0"/>
          </a:p>
        </p:txBody>
      </p:sp>
      <p:sp>
        <p:nvSpPr>
          <p:cNvPr id="51" name="Text 49"/>
          <p:cNvSpPr/>
          <p:nvPr/>
        </p:nvSpPr>
        <p:spPr>
          <a:xfrm>
            <a:off x="7717536" y="2395728"/>
            <a:ext cx="113385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</a:t>
            </a:r>
            <a:endParaRPr lang="en-US" sz="1050" dirty="0"/>
          </a:p>
        </p:txBody>
      </p:sp>
      <p:sp>
        <p:nvSpPr>
          <p:cNvPr id="52" name="Text 50"/>
          <p:cNvSpPr/>
          <p:nvPr/>
        </p:nvSpPr>
        <p:spPr>
          <a:xfrm>
            <a:off x="7772400" y="2761488"/>
            <a:ext cx="10241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Fichier .docx sauvegardé dans output/</a:t>
            </a:r>
            <a:endParaRPr lang="en-US" sz="850" dirty="0"/>
          </a:p>
        </p:txBody>
      </p:sp>
      <p:sp>
        <p:nvSpPr>
          <p:cNvPr id="53" name="Shape 51"/>
          <p:cNvSpPr/>
          <p:nvPr/>
        </p:nvSpPr>
        <p:spPr>
          <a:xfrm>
            <a:off x="256032" y="4526280"/>
            <a:ext cx="1133856" cy="274320"/>
          </a:xfrm>
          <a:prstGeom prst="rect">
            <a:avLst/>
          </a:prstGeom>
          <a:solidFill>
            <a:srgbClr val="FEF3C7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256032" y="4526280"/>
            <a:ext cx="11338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kern="0" spc="100" dirty="0">
                <a:solidFill>
                  <a:srgbClr val="92400E"/>
                </a:solidFill>
              </a:rPr>
              <a:t>INPUT</a:t>
            </a:r>
            <a:endParaRPr lang="en-US" sz="800" dirty="0"/>
          </a:p>
        </p:txBody>
      </p:sp>
      <p:sp>
        <p:nvSpPr>
          <p:cNvPr id="55" name="Shape 53"/>
          <p:cNvSpPr/>
          <p:nvPr/>
        </p:nvSpPr>
        <p:spPr>
          <a:xfrm>
            <a:off x="7936992" y="4526280"/>
            <a:ext cx="1133856" cy="274320"/>
          </a:xfrm>
          <a:prstGeom prst="rect">
            <a:avLst/>
          </a:prstGeom>
          <a:solidFill>
            <a:srgbClr val="D1FAE5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7936992" y="4526280"/>
            <a:ext cx="11338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kern="0" spc="100" dirty="0">
                <a:solidFill>
                  <a:srgbClr val="065F46"/>
                </a:solidFill>
              </a:rPr>
              <a:t>OUTPUT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B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0116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Étape 1 — Classification Intelligente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411480" y="676656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8EA8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Double stratégie : économie de tokens + robustesse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078992"/>
            <a:ext cx="4069080" cy="3063240"/>
          </a:xfrm>
          <a:prstGeom prst="rect">
            <a:avLst/>
          </a:prstGeom>
          <a:solidFill>
            <a:srgbClr val="1E3A5F"/>
          </a:solidFill>
          <a:ln w="19050">
            <a:solidFill>
              <a:srgbClr val="00C9A7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078992"/>
            <a:ext cx="4069080" cy="384048"/>
          </a:xfrm>
          <a:prstGeom prst="rect">
            <a:avLst/>
          </a:prstGeom>
          <a:solidFill>
            <a:srgbClr val="1A5C4A"/>
          </a:solidFill>
          <a:ln w="12700">
            <a:solidFill>
              <a:srgbClr val="1A5C4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078992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 </a:t>
            </a: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Classifier Heuristique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218688" y="1161288"/>
            <a:ext cx="1024128" cy="219456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18688" y="1161288"/>
            <a:ext cx="10241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50" dirty="0">
                <a:solidFill>
                  <a:srgbClr val="0F1B2D"/>
                </a:solidFill>
              </a:rPr>
              <a:t>PRIORITAIRE</a:t>
            </a:r>
            <a:endParaRPr lang="en-US" sz="700" dirty="0"/>
          </a:p>
        </p:txBody>
      </p:sp>
      <p:sp>
        <p:nvSpPr>
          <p:cNvPr id="10" name="Text 8"/>
          <p:cNvSpPr/>
          <p:nvPr/>
        </p:nvSpPr>
        <p:spPr>
          <a:xfrm>
            <a:off x="530352" y="1554480"/>
            <a:ext cx="365760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 de mots-clés dans le texte brut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meet, réunion → meeting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todo, tâche, urgent → todo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how, pourquoi → question_only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Coût : 0 token — instantané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800600" y="1078992"/>
            <a:ext cx="4069080" cy="3063240"/>
          </a:xfrm>
          <a:prstGeom prst="rect">
            <a:avLst/>
          </a:prstGeom>
          <a:solidFill>
            <a:srgbClr val="1E3A5F"/>
          </a:solidFill>
          <a:ln w="19050">
            <a:solidFill>
              <a:srgbClr val="F5A623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800600" y="1078992"/>
            <a:ext cx="4069080" cy="384048"/>
          </a:xfrm>
          <a:prstGeom prst="rect">
            <a:avLst/>
          </a:prstGeom>
          <a:solidFill>
            <a:srgbClr val="4A2A1A"/>
          </a:solidFill>
          <a:ln w="12700">
            <a:solidFill>
              <a:srgbClr val="4A2A1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937760" y="1078992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🤖  </a:t>
            </a: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Classifier API (Groq)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7653528" y="1161288"/>
            <a:ext cx="1024128" cy="219456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653528" y="1161288"/>
            <a:ext cx="10241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50" dirty="0">
                <a:solidFill>
                  <a:srgbClr val="0F1B2D"/>
                </a:solidFill>
              </a:rPr>
              <a:t>FALLBACK</a:t>
            </a:r>
            <a:endParaRPr lang="en-US" sz="700" dirty="0"/>
          </a:p>
        </p:txBody>
      </p:sp>
      <p:sp>
        <p:nvSpPr>
          <p:cNvPr id="16" name="Text 14"/>
          <p:cNvSpPr/>
          <p:nvPr/>
        </p:nvSpPr>
        <p:spPr>
          <a:xfrm>
            <a:off x="4965192" y="1554480"/>
            <a:ext cx="365760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Activé si confiance heuristique &lt; seuil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Envoi du texte à Llama 3.1 pour analyse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Retourne le type JSON + niveau de confiance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Utilisé pour les notes ambiguës / mixtes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Coût : ~50 tokens par classification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365760" y="4279392"/>
            <a:ext cx="8412480" cy="621792"/>
          </a:xfrm>
          <a:prstGeom prst="rect">
            <a:avLst/>
          </a:prstGeom>
          <a:solidFill>
            <a:srgbClr val="0A1628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8640" y="4315968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C9A7"/>
                </a:solidFill>
              </a:rPr>
              <a:t>Exemples : 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1481328" y="4315968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"meet w alice bob"</a:t>
            </a:r>
            <a:r>
              <a:rPr lang="en-US" sz="900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→ meeting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3264408" y="4315968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"how do I fix..."</a:t>
            </a:r>
            <a:r>
              <a:rPr lang="en-US" sz="900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→ question_only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5047488" y="4315968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"buy milk, call bob"</a:t>
            </a:r>
            <a:r>
              <a:rPr lang="en-US" sz="900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→ todo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6830568" y="4315968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"texte mixte"</a:t>
            </a:r>
            <a:r>
              <a:rPr lang="en-US" sz="900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→ default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F1B2D"/>
          </a:solidFill>
          <a:ln w="12700">
            <a:solidFill>
              <a:srgbClr val="0F1B2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96112"/>
            <a:ext cx="9144000" cy="50292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146304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Étape 2 — Templates Dynamiques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20040" y="1097280"/>
            <a:ext cx="2651760" cy="1664208"/>
          </a:xfrm>
          <a:prstGeom prst="rect">
            <a:avLst/>
          </a:prstGeom>
          <a:solidFill>
            <a:srgbClr val="EFF6FF"/>
          </a:solidFill>
          <a:ln w="19050">
            <a:solidFill>
              <a:srgbClr val="1E5A8A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097280"/>
            <a:ext cx="2651760" cy="365760"/>
          </a:xfrm>
          <a:prstGeom prst="rect">
            <a:avLst/>
          </a:prstGeom>
          <a:solidFill>
            <a:srgbClr val="1E5A8A"/>
          </a:solidFill>
          <a:ln w="12700">
            <a:solidFill>
              <a:srgbClr val="1E5A8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109728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🤝 </a:t>
            </a: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meeting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11480" y="1508760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Champs extraits :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411480" y="1719072"/>
            <a:ext cx="2468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title, date, participants,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action_items, summary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172968" y="1097280"/>
            <a:ext cx="2651760" cy="1664208"/>
          </a:xfrm>
          <a:prstGeom prst="rect">
            <a:avLst/>
          </a:prstGeom>
          <a:solidFill>
            <a:srgbClr val="F0FDF4"/>
          </a:solidFill>
          <a:ln w="19050">
            <a:solidFill>
              <a:srgbClr val="1A5C4A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172968" y="1097280"/>
            <a:ext cx="2651760" cy="365760"/>
          </a:xfrm>
          <a:prstGeom prst="rect">
            <a:avLst/>
          </a:prstGeom>
          <a:solidFill>
            <a:srgbClr val="1A5C4A"/>
          </a:solidFill>
          <a:ln w="12700">
            <a:solidFill>
              <a:srgbClr val="1A5C4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64408" y="109728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</a:t>
            </a: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264408" y="1508760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Champs extraits :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3264408" y="1719072"/>
            <a:ext cx="2468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title, tasks[ ]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priority, due_date, status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6025896" y="1097280"/>
            <a:ext cx="2651760" cy="1664208"/>
          </a:xfrm>
          <a:prstGeom prst="rect">
            <a:avLst/>
          </a:prstGeom>
          <a:solidFill>
            <a:srgbClr val="FFFBEB"/>
          </a:solidFill>
          <a:ln w="19050">
            <a:solidFill>
              <a:srgbClr val="5C4A1A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025896" y="1097280"/>
            <a:ext cx="2651760" cy="365760"/>
          </a:xfrm>
          <a:prstGeom prst="rect">
            <a:avLst/>
          </a:prstGeom>
          <a:solidFill>
            <a:srgbClr val="5C4A1A"/>
          </a:solidFill>
          <a:ln w="12700">
            <a:solidFill>
              <a:srgbClr val="5C4A1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117336" y="109728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</a:t>
            </a: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idea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117336" y="1508760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Champs extraits :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6117336" y="1719072"/>
            <a:ext cx="2468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title, description,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potential, next_steps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320040" y="2971800"/>
            <a:ext cx="2651760" cy="1664208"/>
          </a:xfrm>
          <a:prstGeom prst="rect">
            <a:avLst/>
          </a:prstGeom>
          <a:solidFill>
            <a:srgbClr val="FAF5FF"/>
          </a:solidFill>
          <a:ln w="19050">
            <a:solidFill>
              <a:srgbClr val="4A1A5C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20040" y="2971800"/>
            <a:ext cx="2651760" cy="365760"/>
          </a:xfrm>
          <a:prstGeom prst="rect">
            <a:avLst/>
          </a:prstGeom>
          <a:solidFill>
            <a:srgbClr val="4A1A5C"/>
          </a:solidFill>
          <a:ln w="12700">
            <a:solidFill>
              <a:srgbClr val="4A1A5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11480" y="297180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❓ </a:t>
            </a: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qa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11480" y="3383280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Champs extraits :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411480" y="3593592"/>
            <a:ext cx="2468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title, questions[ ]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question, answer, confidence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3172968" y="2971800"/>
            <a:ext cx="2651760" cy="1664208"/>
          </a:xfrm>
          <a:prstGeom prst="rect">
            <a:avLst/>
          </a:prstGeom>
          <a:solidFill>
            <a:srgbClr val="FFF1F2"/>
          </a:solidFill>
          <a:ln w="19050">
            <a:solidFill>
              <a:srgbClr val="5C1A2A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3172968" y="2971800"/>
            <a:ext cx="2651760" cy="365760"/>
          </a:xfrm>
          <a:prstGeom prst="rect">
            <a:avLst/>
          </a:prstGeom>
          <a:solidFill>
            <a:srgbClr val="5C1A2A"/>
          </a:solidFill>
          <a:ln w="12700">
            <a:solidFill>
              <a:srgbClr val="5C1A2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264408" y="297180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🔎 </a:t>
            </a: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question_only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3264408" y="3383280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Champs extraits :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3264408" y="3593592"/>
            <a:ext cx="2468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title, questions[ ]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question, context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6025896" y="2971800"/>
            <a:ext cx="2651760" cy="1664208"/>
          </a:xfrm>
          <a:prstGeom prst="rect">
            <a:avLst/>
          </a:prstGeom>
          <a:solidFill>
            <a:srgbClr val="F8FAFC"/>
          </a:solidFill>
          <a:ln w="19050">
            <a:solidFill>
              <a:srgbClr val="1A3A5C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6025896" y="2971800"/>
            <a:ext cx="2651760" cy="36576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117336" y="297180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📝 </a:t>
            </a: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6117336" y="3383280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Champs extraits :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6117336" y="3593592"/>
            <a:ext cx="2468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title, summary,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content_blocks, tags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320040" y="4754880"/>
            <a:ext cx="8503920" cy="274320"/>
          </a:xfrm>
          <a:prstGeom prst="rect">
            <a:avLst/>
          </a:prstGeom>
          <a:solidFill>
            <a:srgbClr val="FFF9C4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57200" y="4754880"/>
            <a:ext cx="8321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835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Chaque template est un fichier Python indépendant → ajouter un nouveau type = créer 1 fichier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B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0116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Étape 3 — Appel API &amp; Gestion d'Erreurs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896112"/>
            <a:ext cx="4160520" cy="3977640"/>
          </a:xfrm>
          <a:prstGeom prst="rect">
            <a:avLst/>
          </a:prstGeom>
          <a:solidFill>
            <a:srgbClr val="1E3A5F"/>
          </a:solidFill>
          <a:ln w="12700">
            <a:solidFill>
              <a:srgbClr val="00C9A7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48640" y="987552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🌐  Flux d'appel API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30352" y="1417320"/>
            <a:ext cx="292608" cy="292608"/>
          </a:xfrm>
          <a:prstGeom prst="ellipse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30352" y="141732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F1B2D"/>
                </a:solidFill>
              </a:rPr>
              <a:t>1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914400" y="1435608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construit avec le template JSON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676656" y="1709928"/>
            <a:ext cx="0" cy="237744"/>
          </a:xfrm>
          <a:prstGeom prst="line">
            <a:avLst/>
          </a:prstGeom>
          <a:noFill/>
          <a:ln w="12700">
            <a:solidFill>
              <a:srgbClr val="00C9A7"/>
            </a:solidFill>
            <a:prstDash val="dash"/>
          </a:ln>
        </p:spPr>
      </p:sp>
      <p:sp>
        <p:nvSpPr>
          <p:cNvPr id="10" name="Shape 8"/>
          <p:cNvSpPr/>
          <p:nvPr/>
        </p:nvSpPr>
        <p:spPr>
          <a:xfrm>
            <a:off x="530352" y="1929384"/>
            <a:ext cx="292608" cy="292608"/>
          </a:xfrm>
          <a:prstGeom prst="ellipse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30352" y="192938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F1B2D"/>
                </a:solidFill>
              </a:rPr>
              <a:t>2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914400" y="1947672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Appel client.chat.completions.create()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76656" y="2221992"/>
            <a:ext cx="0" cy="237744"/>
          </a:xfrm>
          <a:prstGeom prst="line">
            <a:avLst/>
          </a:prstGeom>
          <a:noFill/>
          <a:ln w="12700">
            <a:solidFill>
              <a:srgbClr val="00C9A7"/>
            </a:solidFill>
            <a:prstDash val="dash"/>
          </a:ln>
        </p:spPr>
      </p:sp>
      <p:sp>
        <p:nvSpPr>
          <p:cNvPr id="14" name="Shape 12"/>
          <p:cNvSpPr/>
          <p:nvPr/>
        </p:nvSpPr>
        <p:spPr>
          <a:xfrm>
            <a:off x="530352" y="2441448"/>
            <a:ext cx="292608" cy="292608"/>
          </a:xfrm>
          <a:prstGeom prst="ellipse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30352" y="244144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F1B2D"/>
                </a:solidFill>
              </a:rPr>
              <a:t>3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914400" y="2459736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Réponse reçue (text brut)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76656" y="2734056"/>
            <a:ext cx="0" cy="237744"/>
          </a:xfrm>
          <a:prstGeom prst="line">
            <a:avLst/>
          </a:prstGeom>
          <a:noFill/>
          <a:ln w="12700">
            <a:solidFill>
              <a:srgbClr val="00C9A7"/>
            </a:solidFill>
            <a:prstDash val="dash"/>
          </a:ln>
        </p:spPr>
      </p:sp>
      <p:sp>
        <p:nvSpPr>
          <p:cNvPr id="18" name="Shape 16"/>
          <p:cNvSpPr/>
          <p:nvPr/>
        </p:nvSpPr>
        <p:spPr>
          <a:xfrm>
            <a:off x="530352" y="2953512"/>
            <a:ext cx="292608" cy="292608"/>
          </a:xfrm>
          <a:prstGeom prst="ellipse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30352" y="295351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F1B2D"/>
                </a:solidFill>
              </a:rPr>
              <a:t>4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914400" y="2971800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Nettoyage fences markdown ``` json ```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676656" y="3246120"/>
            <a:ext cx="0" cy="237744"/>
          </a:xfrm>
          <a:prstGeom prst="line">
            <a:avLst/>
          </a:prstGeom>
          <a:noFill/>
          <a:ln w="12700">
            <a:solidFill>
              <a:srgbClr val="00C9A7"/>
            </a:solidFill>
            <a:prstDash val="dash"/>
          </a:ln>
        </p:spPr>
      </p:sp>
      <p:sp>
        <p:nvSpPr>
          <p:cNvPr id="22" name="Shape 20"/>
          <p:cNvSpPr/>
          <p:nvPr/>
        </p:nvSpPr>
        <p:spPr>
          <a:xfrm>
            <a:off x="530352" y="3465576"/>
            <a:ext cx="292608" cy="292608"/>
          </a:xfrm>
          <a:prstGeom prst="ellipse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30352" y="346557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F1B2D"/>
                </a:solidFill>
              </a:rPr>
              <a:t>5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914400" y="3483864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Parsing json.loads() → dict Python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676656" y="3758184"/>
            <a:ext cx="0" cy="237744"/>
          </a:xfrm>
          <a:prstGeom prst="line">
            <a:avLst/>
          </a:prstGeom>
          <a:noFill/>
          <a:ln w="12700">
            <a:solidFill>
              <a:srgbClr val="00C9A7"/>
            </a:solidFill>
            <a:prstDash val="dash"/>
          </a:ln>
        </p:spPr>
      </p:sp>
      <p:sp>
        <p:nvSpPr>
          <p:cNvPr id="26" name="Shape 24"/>
          <p:cNvSpPr/>
          <p:nvPr/>
        </p:nvSpPr>
        <p:spPr>
          <a:xfrm>
            <a:off x="530352" y="3977640"/>
            <a:ext cx="292608" cy="292608"/>
          </a:xfrm>
          <a:prstGeom prst="ellipse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30352" y="39776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F1B2D"/>
                </a:solidFill>
              </a:rPr>
              <a:t>6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914400" y="3995928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Passage au validateur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663440" y="896112"/>
            <a:ext cx="4160520" cy="3977640"/>
          </a:xfrm>
          <a:prstGeom prst="rect">
            <a:avLst/>
          </a:prstGeom>
          <a:solidFill>
            <a:srgbClr val="1E3A5F"/>
          </a:solidFill>
          <a:ln w="12700">
            <a:solidFill>
              <a:srgbClr val="F5A623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4828032" y="987552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🛡️  Gestion d'Erreurs &amp; Résilience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4754880" y="1426464"/>
            <a:ext cx="3931920" cy="493776"/>
          </a:xfrm>
          <a:prstGeom prst="rect">
            <a:avLst/>
          </a:prstGeom>
          <a:solidFill>
            <a:srgbClr val="0F1B2D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846320" y="1463040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E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ConnectionError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4846320" y="1673352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Retry ×3 avec sleep(2s) entre chaque tentative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4754880" y="2048256"/>
            <a:ext cx="3931920" cy="493776"/>
          </a:xfrm>
          <a:prstGeom prst="rect">
            <a:avLst/>
          </a:prstGeom>
          <a:solidFill>
            <a:srgbClr val="0F1B2D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846320" y="2084832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5A6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ValueError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4846320" y="2295144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Arrêt immédiat, retour None (pas de retry)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4754880" y="2670048"/>
            <a:ext cx="3931920" cy="493776"/>
          </a:xfrm>
          <a:prstGeom prst="rect">
            <a:avLst/>
          </a:prstGeom>
          <a:solidFill>
            <a:srgbClr val="0F1B2D"/>
          </a:solidFill>
          <a:ln w="12700">
            <a:solidFill>
              <a:srgbClr val="8EA8C3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846320" y="2706624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8EA8C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Exception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4846320" y="2916936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Re-raise → remonter à l'appelant pour diagnostic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4754880" y="3291840"/>
            <a:ext cx="3931920" cy="493776"/>
          </a:xfrm>
          <a:prstGeom prst="rect">
            <a:avLst/>
          </a:prstGeom>
          <a:solidFill>
            <a:srgbClr val="0F1B2D"/>
          </a:solidFill>
          <a:ln w="12700">
            <a:solidFill>
              <a:srgbClr val="5B9BD5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846320" y="3328416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5B9BD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JSON invalide</a:t>
            </a:r>
            <a:endParaRPr lang="en-US" sz="850" dirty="0"/>
          </a:p>
        </p:txBody>
      </p:sp>
      <p:sp>
        <p:nvSpPr>
          <p:cNvPr id="42" name="Text 40"/>
          <p:cNvSpPr/>
          <p:nvPr/>
        </p:nvSpPr>
        <p:spPr>
          <a:xfrm>
            <a:off x="4846320" y="3538728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Nettoyage fences markdown + second parsing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4754880" y="3913632"/>
            <a:ext cx="3931920" cy="493776"/>
          </a:xfrm>
          <a:prstGeom prst="rect">
            <a:avLst/>
          </a:prstGeom>
          <a:solidFill>
            <a:srgbClr val="0F1B2D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846320" y="3950208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0C9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Champs manquants</a:t>
            </a:r>
            <a:endParaRPr lang="en-US" sz="850" dirty="0"/>
          </a:p>
        </p:txBody>
      </p:sp>
      <p:sp>
        <p:nvSpPr>
          <p:cNvPr id="45" name="Text 43"/>
          <p:cNvSpPr/>
          <p:nvPr/>
        </p:nvSpPr>
        <p:spPr>
          <a:xfrm>
            <a:off x="4846320" y="4160520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Valeurs par défaut injectées par le validateur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F1B2D"/>
          </a:solidFill>
          <a:ln w="12700">
            <a:solidFill>
              <a:srgbClr val="0F1B2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96112"/>
            <a:ext cx="9144000" cy="50292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146304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Étape 4 — Rendu Document Word (.docx)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20040" y="1097280"/>
            <a:ext cx="4160520" cy="1691640"/>
          </a:xfrm>
          <a:prstGeom prst="rect">
            <a:avLst/>
          </a:prstGeom>
          <a:solidFill>
            <a:srgbClr val="EFF6FF"/>
          </a:solidFill>
          <a:ln w="19050">
            <a:solidFill>
              <a:srgbClr val="1E5A8A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097280"/>
            <a:ext cx="4160520" cy="365760"/>
          </a:xfrm>
          <a:prstGeom prst="rect">
            <a:avLst/>
          </a:prstGeom>
          <a:solidFill>
            <a:srgbClr val="1E5A8A"/>
          </a:solidFill>
          <a:ln w="12700">
            <a:solidFill>
              <a:srgbClr val="1E5A8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29768" y="109728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🎨  Mise en forme professionnelle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448056" y="1508760"/>
            <a:ext cx="3886200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Titres centrés avec styles Heading 1/2</a:t>
            </a:r>
            <a:endParaRPr lang="en-US" sz="9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Listes à puces formatées</a:t>
            </a:r>
            <a:endParaRPr lang="en-US" sz="9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Codes couleur par priorité (rouge/orange/vert)</a:t>
            </a:r>
            <a:endParaRPr lang="en-US" sz="9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Badges de confiance pour Q&amp;A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4727448" y="1097280"/>
            <a:ext cx="4160520" cy="1691640"/>
          </a:xfrm>
          <a:prstGeom prst="rect">
            <a:avLst/>
          </a:prstGeom>
          <a:solidFill>
            <a:srgbClr val="F0FDF4"/>
          </a:solidFill>
          <a:ln w="19050">
            <a:solidFill>
              <a:srgbClr val="1A5C4A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27448" y="1097280"/>
            <a:ext cx="4160520" cy="365760"/>
          </a:xfrm>
          <a:prstGeom prst="rect">
            <a:avLst/>
          </a:prstGeom>
          <a:solidFill>
            <a:srgbClr val="1A5C4A"/>
          </a:solidFill>
          <a:ln w="12700">
            <a:solidFill>
              <a:srgbClr val="1A5C4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37176" y="109728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Tableaux colorés (Todo)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4855464" y="1508760"/>
            <a:ext cx="3886200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En-têtes colorés en bleu marine</a:t>
            </a:r>
            <a:endParaRPr lang="en-US" sz="9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Colonnes : Tâche / Priorité / Date / Statut</a:t>
            </a:r>
            <a:endParaRPr lang="en-US" sz="9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Couleurs conditionnelles par priorité</a:t>
            </a:r>
            <a:endParaRPr lang="en-US" sz="9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Alternance ligne claire/foncée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320040" y="2971800"/>
            <a:ext cx="4160520" cy="1691640"/>
          </a:xfrm>
          <a:prstGeom prst="rect">
            <a:avLst/>
          </a:prstGeom>
          <a:solidFill>
            <a:srgbClr val="FAF5FF"/>
          </a:solidFill>
          <a:ln w="19050">
            <a:solidFill>
              <a:srgbClr val="4A1A5C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20040" y="2971800"/>
            <a:ext cx="4160520" cy="365760"/>
          </a:xfrm>
          <a:prstGeom prst="rect">
            <a:avLst/>
          </a:prstGeom>
          <a:solidFill>
            <a:srgbClr val="4A1A5C"/>
          </a:solidFill>
          <a:ln w="12700">
            <a:solidFill>
              <a:srgbClr val="4A1A5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29768" y="297180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⚙️  Moteur modulaire python-docx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448056" y="3383280"/>
            <a:ext cx="3886200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renderer dédié par type de note</a:t>
            </a:r>
            <a:endParaRPr lang="en-US" sz="9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Styles réutilisables entre templates</a:t>
            </a:r>
            <a:endParaRPr lang="en-US" sz="9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Ajout facile de nouvelles mises en forme</a:t>
            </a:r>
            <a:endParaRPr lang="en-US" sz="9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Génération 100% Python natif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727448" y="2971800"/>
            <a:ext cx="4160520" cy="1691640"/>
          </a:xfrm>
          <a:prstGeom prst="rect">
            <a:avLst/>
          </a:prstGeom>
          <a:solidFill>
            <a:srgbClr val="FFFBEB"/>
          </a:solidFill>
          <a:ln w="19050">
            <a:solidFill>
              <a:srgbClr val="5C4A1A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727448" y="2971800"/>
            <a:ext cx="4160520" cy="365760"/>
          </a:xfrm>
          <a:prstGeom prst="rect">
            <a:avLst/>
          </a:prstGeom>
          <a:solidFill>
            <a:srgbClr val="5C4A1A"/>
          </a:solidFill>
          <a:ln w="12700">
            <a:solidFill>
              <a:srgbClr val="5C4A1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37176" y="297180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📤  Résultat immédiatement utilisable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4855464" y="3383280"/>
            <a:ext cx="3886200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Compatible Word, LibreOffice, Google Docs</a:t>
            </a:r>
            <a:endParaRPr lang="en-US" sz="9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 sémantique (pas juste du texte)</a:t>
            </a:r>
            <a:endParaRPr lang="en-US" sz="9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 de fichier automatique depuis le titre</a:t>
            </a:r>
            <a:endParaRPr lang="en-US" sz="9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Dossier output/ organisé et lisible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320040" y="4754880"/>
            <a:ext cx="8503920" cy="274320"/>
          </a:xfrm>
          <a:prstGeom prst="rect">
            <a:avLst/>
          </a:prstGeom>
          <a:solidFill>
            <a:srgbClr val="0F1B2D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7200" y="4754880"/>
            <a:ext cx="8321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📦  Librairie : python-docx  |  Aucune dépendance Microsoft Office requise  |  100% open source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B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6459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Démonstration &amp; Résultats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74320" y="868680"/>
            <a:ext cx="3886200" cy="3977640"/>
          </a:xfrm>
          <a:prstGeom prst="rect">
            <a:avLst/>
          </a:prstGeom>
          <a:solidFill>
            <a:srgbClr val="1A0A0A"/>
          </a:solidFill>
          <a:ln w="19050">
            <a:solidFill>
              <a:srgbClr val="EF4444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868680"/>
            <a:ext cx="3886200" cy="347472"/>
          </a:xfrm>
          <a:prstGeom prst="rect">
            <a:avLst/>
          </a:prstGeom>
          <a:solidFill>
            <a:srgbClr val="EF4444">
              <a:alpha val="80000"/>
            </a:srgbClr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868680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 AVANT — Note brute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11480" y="1298448"/>
            <a:ext cx="3621024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FCA5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jan 15 meet w alice bob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FCA5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q1 goals + fix auth bug!!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FCA5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deploy next week??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FCA5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alice: check the logs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FCA5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bob: update readme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FCA5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dont forget standup tmrw 9am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FCA5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also budget review pending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FCA5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ask mgr about Q2 roadmap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4251960" y="2560320"/>
            <a:ext cx="640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00C9A7"/>
                </a:solidFill>
              </a:rPr>
              <a:t>→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4206240" y="3182112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Groq</a:t>
            </a:r>
            <a:endParaRPr lang="en-US" sz="750" dirty="0"/>
          </a:p>
          <a:p>
            <a:pPr marL="0" indent="0" algn="ctr">
              <a:buNone/>
            </a:pPr>
            <a:r>
              <a:rPr lang="en-US" sz="750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Llama 3.1</a:t>
            </a:r>
            <a:endParaRPr lang="en-US" sz="750" dirty="0"/>
          </a:p>
        </p:txBody>
      </p:sp>
      <p:sp>
        <p:nvSpPr>
          <p:cNvPr id="10" name="Shape 8"/>
          <p:cNvSpPr/>
          <p:nvPr/>
        </p:nvSpPr>
        <p:spPr>
          <a:xfrm>
            <a:off x="4983480" y="868680"/>
            <a:ext cx="3886200" cy="3977640"/>
          </a:xfrm>
          <a:prstGeom prst="rect">
            <a:avLst/>
          </a:prstGeom>
          <a:solidFill>
            <a:srgbClr val="071A12"/>
          </a:solidFill>
          <a:ln w="19050">
            <a:solidFill>
              <a:srgbClr val="00C9A7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983480" y="868680"/>
            <a:ext cx="3886200" cy="347472"/>
          </a:xfrm>
          <a:prstGeom prst="rect">
            <a:avLst/>
          </a:prstGeom>
          <a:solidFill>
            <a:srgbClr val="00C9A7">
              <a:alpha val="80000"/>
            </a:srgbClr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120640" y="868680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APRÈS — Document .docx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120640" y="1298448"/>
            <a:ext cx="3621024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Compte-Rendu de Réunion</a:t>
            </a:r>
            <a:endParaRPr lang="en-US" sz="1200" dirty="0"/>
          </a:p>
          <a:p>
            <a:pPr marL="0" indent="0">
              <a:buNone/>
            </a:pPr>
            <a:r>
              <a:rPr lang="en-US" sz="900" dirty="0">
                <a:solidFill>
                  <a:srgbClr val="8EA8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Janvier 2024
</a:t>
            </a:r>
            <a:endParaRPr lang="en-US" sz="1200" dirty="0"/>
          </a:p>
          <a:p>
            <a:pPr marL="0" indent="0">
              <a:buNone/>
            </a:pPr>
            <a:r>
              <a:rPr lang="en-US" sz="950" b="1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Participants : </a:t>
            </a: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Alice, Bob
</a:t>
            </a:r>
            <a:endParaRPr lang="en-US" sz="1200" dirty="0"/>
          </a:p>
          <a:p>
            <a:pPr marL="0" indent="0">
              <a:buNone/>
            </a:pPr>
            <a:r>
              <a:rPr lang="en-US" sz="10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Résumé
</a:t>
            </a:r>
            <a:endParaRPr lang="en-US" sz="1200" dirty="0"/>
          </a:p>
          <a:p>
            <a:pPr marL="0" indent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Revue des objectifs Q1 et
identification des blocages.
</a:t>
            </a:r>
            <a:endParaRPr lang="en-US" sz="1200" dirty="0"/>
          </a:p>
          <a:p>
            <a:pPr marL="0" indent="0">
              <a:buNone/>
            </a:pPr>
            <a:r>
              <a:rPr lang="en-US" sz="10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Actions à mener
</a:t>
            </a:r>
            <a:endParaRPr lang="en-US" sz="1200" dirty="0"/>
          </a:p>
          <a:p>
            <a:pPr marL="0" indent="0">
              <a:buNone/>
            </a:pPr>
            <a:r>
              <a:rPr lang="en-US" sz="900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Corriger le bug d'authentification</a:t>
            </a:r>
            <a:endParaRPr lang="en-US" sz="1200" dirty="0"/>
          </a:p>
          <a:p>
            <a:pPr marL="0" indent="0">
              <a:buNone/>
            </a:pPr>
            <a:r>
              <a:rPr lang="en-US" sz="900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Déployer en semaine prochaine</a:t>
            </a:r>
            <a:endParaRPr lang="en-US" sz="1200" dirty="0"/>
          </a:p>
          <a:p>
            <a:pPr marL="0" indent="0">
              <a:buNone/>
            </a:pPr>
            <a:r>
              <a:rPr lang="en-US" sz="900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Vérifier les logs (Alice)</a:t>
            </a:r>
            <a:endParaRPr lang="en-US" sz="1200" dirty="0"/>
          </a:p>
          <a:p>
            <a:pPr marL="0" indent="0">
              <a:buNone/>
            </a:pPr>
            <a:r>
              <a:rPr lang="en-US" sz="900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Mettre à jour le README (Bob)</a:t>
            </a:r>
            <a:endParaRPr lang="en-US" sz="1200" dirty="0"/>
          </a:p>
          <a:p>
            <a:pPr marL="0" indent="0">
              <a:buNone/>
            </a:pPr>
            <a:r>
              <a:rPr lang="en-US" sz="900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Budget Q2 : planifier revue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F1B2D"/>
          </a:solidFill>
          <a:ln w="12700">
            <a:solidFill>
              <a:srgbClr val="0F1B2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96112"/>
            <a:ext cx="9144000" cy="50292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146304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Outils, Technologies &amp; Apprentissages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20040" y="1078992"/>
            <a:ext cx="4069080" cy="1719072"/>
          </a:xfrm>
          <a:prstGeom prst="rect">
            <a:avLst/>
          </a:prstGeom>
          <a:solidFill>
            <a:srgbClr val="EFF6FF"/>
          </a:solidFill>
          <a:ln w="19050">
            <a:solidFill>
              <a:srgbClr val="1E5A8A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078992"/>
            <a:ext cx="4069080" cy="347472"/>
          </a:xfrm>
          <a:prstGeom prst="rect">
            <a:avLst/>
          </a:prstGeom>
          <a:solidFill>
            <a:srgbClr val="1E5A8A"/>
          </a:solidFill>
          <a:ln w="12700">
            <a:solidFill>
              <a:srgbClr val="1E5A8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29768" y="1078992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🛠️  Technologies utilisées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448056" y="1481328"/>
            <a:ext cx="3822192" cy="1243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3.11 — langage principal</a:t>
            </a:r>
            <a:endParaRPr lang="en-US" sz="9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Groq API (Llama 3.1) — moteur IA</a:t>
            </a:r>
            <a:endParaRPr lang="en-US" sz="9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python-docx — génération Word native</a:t>
            </a:r>
            <a:endParaRPr lang="en-US" sz="9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python-dotenv — gestion des clés API</a:t>
            </a:r>
            <a:endParaRPr lang="en-US" sz="9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— contrôle de version &amp; collaboration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4709160" y="1078992"/>
            <a:ext cx="4069080" cy="1719072"/>
          </a:xfrm>
          <a:prstGeom prst="rect">
            <a:avLst/>
          </a:prstGeom>
          <a:solidFill>
            <a:srgbClr val="F0FDF4"/>
          </a:solidFill>
          <a:ln w="19050">
            <a:solidFill>
              <a:srgbClr val="1A5C4A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09160" y="1078992"/>
            <a:ext cx="4069080" cy="347472"/>
          </a:xfrm>
          <a:prstGeom prst="rect">
            <a:avLst/>
          </a:prstGeom>
          <a:solidFill>
            <a:srgbClr val="1A5C4A"/>
          </a:solidFill>
          <a:ln w="12700">
            <a:solidFill>
              <a:srgbClr val="1A5C4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18888" y="1078992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🧠  Concepts maîtrisés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4837176" y="1481328"/>
            <a:ext cx="3822192" cy="1243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engineering &amp; structuration JSON</a:t>
            </a:r>
            <a:endParaRPr lang="en-US" sz="9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modulaire &amp; séparation concerns</a:t>
            </a:r>
            <a:endParaRPr lang="en-US" sz="9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Gestion d'API avec retry logic</a:t>
            </a:r>
            <a:endParaRPr lang="en-US" sz="9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Parsing JSON + validation de schéma</a:t>
            </a:r>
            <a:endParaRPr lang="en-US" sz="9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 de texte (heuristique + IA)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320040" y="2926080"/>
            <a:ext cx="4069080" cy="1719072"/>
          </a:xfrm>
          <a:prstGeom prst="rect">
            <a:avLst/>
          </a:prstGeom>
          <a:solidFill>
            <a:srgbClr val="FFFBEB"/>
          </a:solidFill>
          <a:ln w="19050">
            <a:solidFill>
              <a:srgbClr val="5C4A1A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20040" y="2926080"/>
            <a:ext cx="4069080" cy="347472"/>
          </a:xfrm>
          <a:prstGeom prst="rect">
            <a:avLst/>
          </a:prstGeom>
          <a:solidFill>
            <a:srgbClr val="5C4A1A"/>
          </a:solidFill>
          <a:ln w="12700">
            <a:solidFill>
              <a:srgbClr val="5C4A1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29768" y="2926080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🔄  Méthodologie de développement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448056" y="3328416"/>
            <a:ext cx="3822192" cy="1243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 : pipeline core (1 type)</a:t>
            </a:r>
            <a:endParaRPr lang="en-US" sz="9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 : extension multi-types</a:t>
            </a:r>
            <a:endParaRPr lang="en-US" sz="9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Travail en équipe avec branches Git</a:t>
            </a:r>
            <a:endParaRPr lang="en-US" sz="9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Virtual environments (venv)</a:t>
            </a:r>
            <a:endParaRPr lang="en-US" sz="9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 manuels sur notes réelles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709160" y="2926080"/>
            <a:ext cx="4069080" cy="1719072"/>
          </a:xfrm>
          <a:prstGeom prst="rect">
            <a:avLst/>
          </a:prstGeom>
          <a:solidFill>
            <a:srgbClr val="FAF5FF"/>
          </a:solidFill>
          <a:ln w="19050">
            <a:solidFill>
              <a:srgbClr val="4A1A5C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709160" y="2926080"/>
            <a:ext cx="4069080" cy="347472"/>
          </a:xfrm>
          <a:prstGeom prst="rect">
            <a:avLst/>
          </a:prstGeom>
          <a:solidFill>
            <a:srgbClr val="4A1A5C"/>
          </a:solidFill>
          <a:ln w="12700">
            <a:solidFill>
              <a:srgbClr val="4A1A5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18888" y="2926080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🌱  Compétences transversales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4837176" y="3328416"/>
            <a:ext cx="3822192" cy="1243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Gestion sécurisée des clés API (.env)</a:t>
            </a:r>
            <a:endParaRPr lang="en-US" sz="9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Séparation contenu / présentation</a:t>
            </a:r>
            <a:endParaRPr lang="en-US" sz="9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Documentation et README</a:t>
            </a:r>
            <a:endParaRPr lang="en-US" sz="9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Revue de code entre membres</a:t>
            </a:r>
            <a:endParaRPr lang="en-US" sz="9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Économie de tokens (routage API)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1B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828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 &amp; Perspectives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65760" y="877824"/>
            <a:ext cx="8412480" cy="1024128"/>
          </a:xfrm>
          <a:prstGeom prst="rect">
            <a:avLst/>
          </a:prstGeom>
          <a:solidFill>
            <a:srgbClr val="1E3A5F"/>
          </a:solidFill>
          <a:ln w="19050">
            <a:solidFill>
              <a:srgbClr val="00C9A7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48640" y="9326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Bilan — Ce que nous avons livré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48640" y="1207008"/>
            <a:ext cx="80467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fonctionnel de bout en bout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types de notes supportés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modulaire extensible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propre, commenté, versionné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365760" y="2048256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🚀  Prochaines étapes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65760" y="2423160"/>
            <a:ext cx="2011680" cy="2468880"/>
          </a:xfrm>
          <a:prstGeom prst="rect">
            <a:avLst/>
          </a:prstGeom>
          <a:solidFill>
            <a:srgbClr val="1E3A5F"/>
          </a:solidFill>
          <a:ln w="12700">
            <a:solidFill>
              <a:srgbClr val="F5A623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65760" y="2423160"/>
            <a:ext cx="2011680" cy="320040"/>
          </a:xfrm>
          <a:prstGeom prst="rect">
            <a:avLst/>
          </a:prstGeom>
          <a:solidFill>
            <a:srgbClr val="2A1A00"/>
          </a:solidFill>
          <a:ln w="12700">
            <a:solidFill>
              <a:srgbClr val="2A1A0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874520" y="2423160"/>
            <a:ext cx="4754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5A623"/>
                </a:solidFill>
              </a:rPr>
              <a:t>V2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365760" y="2816352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🌐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438912" y="3246120"/>
            <a:ext cx="18653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Interface Web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438912" y="3547872"/>
            <a:ext cx="1865376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8EA8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API REST + frontend navigateur pour usage sans terminal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2514600" y="2423160"/>
            <a:ext cx="2011680" cy="2468880"/>
          </a:xfrm>
          <a:prstGeom prst="rect">
            <a:avLst/>
          </a:prstGeom>
          <a:solidFill>
            <a:srgbClr val="1E3A5F"/>
          </a:solidFill>
          <a:ln w="12700">
            <a:solidFill>
              <a:srgbClr val="F5A623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2514600" y="2423160"/>
            <a:ext cx="2011680" cy="320040"/>
          </a:xfrm>
          <a:prstGeom prst="rect">
            <a:avLst/>
          </a:prstGeom>
          <a:solidFill>
            <a:srgbClr val="2A1A00"/>
          </a:solidFill>
          <a:ln w="12700">
            <a:solidFill>
              <a:srgbClr val="2A1A0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023360" y="2423160"/>
            <a:ext cx="4754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5A623"/>
                </a:solidFill>
              </a:rPr>
              <a:t>V2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2514600" y="2816352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🔀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2587752" y="3246120"/>
            <a:ext cx="18653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Multi-API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2587752" y="3547872"/>
            <a:ext cx="1865376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8EA8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Réintégration Gemini Flash pour routage intelligent et économie de tokens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4663440" y="2423160"/>
            <a:ext cx="2011680" cy="2468880"/>
          </a:xfrm>
          <a:prstGeom prst="rect">
            <a:avLst/>
          </a:prstGeom>
          <a:solidFill>
            <a:srgbClr val="1E3A5F"/>
          </a:solidFill>
          <a:ln w="12700">
            <a:solidFill>
              <a:srgbClr val="F5A623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663440" y="2423160"/>
            <a:ext cx="2011680" cy="320040"/>
          </a:xfrm>
          <a:prstGeom prst="rect">
            <a:avLst/>
          </a:prstGeom>
          <a:solidFill>
            <a:srgbClr val="2A1A00"/>
          </a:solidFill>
          <a:ln w="12700">
            <a:solidFill>
              <a:srgbClr val="2A1A0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172200" y="2423160"/>
            <a:ext cx="4754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5A623"/>
                </a:solidFill>
              </a:rPr>
              <a:t>V3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4663440" y="2816352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📸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4736592" y="3246120"/>
            <a:ext cx="18653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OCR &amp; Images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4736592" y="3547872"/>
            <a:ext cx="1865376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8EA8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 des notes manuscrites et photos via reconnaissance optique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6812280" y="2423160"/>
            <a:ext cx="2011680" cy="2468880"/>
          </a:xfrm>
          <a:prstGeom prst="rect">
            <a:avLst/>
          </a:prstGeom>
          <a:solidFill>
            <a:srgbClr val="1E3A5F"/>
          </a:solidFill>
          <a:ln w="12700">
            <a:solidFill>
              <a:srgbClr val="F5A623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6812280" y="2423160"/>
            <a:ext cx="2011680" cy="320040"/>
          </a:xfrm>
          <a:prstGeom prst="rect">
            <a:avLst/>
          </a:prstGeom>
          <a:solidFill>
            <a:srgbClr val="2A1A00"/>
          </a:solidFill>
          <a:ln w="12700">
            <a:solidFill>
              <a:srgbClr val="2A1A0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321040" y="2423160"/>
            <a:ext cx="4754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5A623"/>
                </a:solidFill>
              </a:rPr>
              <a:t>V3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6812280" y="2816352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🗄️</a:t>
            </a:r>
            <a:endParaRPr lang="en-US" sz="2000" dirty="0"/>
          </a:p>
        </p:txBody>
      </p:sp>
      <p:sp>
        <p:nvSpPr>
          <p:cNvPr id="30" name="Text 28"/>
          <p:cNvSpPr/>
          <p:nvPr/>
        </p:nvSpPr>
        <p:spPr>
          <a:xfrm>
            <a:off x="6885432" y="3246120"/>
            <a:ext cx="18653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Historique &amp; BDD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6885432" y="3547872"/>
            <a:ext cx="1865376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8EA8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Stockage des notes structurées, recherche et export en lot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365760" y="4681728"/>
            <a:ext cx="8412480" cy="320040"/>
          </a:xfrm>
          <a:prstGeom prst="rect">
            <a:avLst/>
          </a:prstGeom>
          <a:solidFill>
            <a:srgbClr val="00C9A7">
              <a:alpha val="80000"/>
            </a:srgbClr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02920" y="468172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Vision : évoluer vers un assistant de productivité complet, accessible via navigateur, utilisable par tous.</a:t>
            </a:r>
            <a:endParaRPr lang="en-US" sz="9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1B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-914400"/>
            <a:ext cx="4572000" cy="4572000"/>
          </a:xfrm>
          <a:prstGeom prst="ellipse">
            <a:avLst/>
          </a:prstGeom>
          <a:solidFill>
            <a:srgbClr val="00C9A7">
              <a:alpha val="10000"/>
            </a:srgbClr>
          </a:solidFill>
          <a:ln w="12700">
            <a:solidFill>
              <a:srgbClr val="00C9A7">
                <a:alpha val="3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0" y="2286000"/>
            <a:ext cx="3657600" cy="3657600"/>
          </a:xfrm>
          <a:prstGeom prst="ellipse">
            <a:avLst/>
          </a:prstGeom>
          <a:solidFill>
            <a:srgbClr val="00C9A7">
              <a:alpha val="15000"/>
            </a:srgbClr>
          </a:solidFill>
          <a:ln w="12700">
            <a:solidFill>
              <a:srgbClr val="00C9A7">
                <a:alpha val="35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14400" y="822960"/>
            <a:ext cx="7315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Merci de votre attention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2926080" y="1664208"/>
            <a:ext cx="3291840" cy="50292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1783080"/>
            <a:ext cx="7315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8EA8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Note Agent — Projet de Fin de Semestre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429000" y="2331720"/>
            <a:ext cx="2286000" cy="2286000"/>
          </a:xfrm>
          <a:prstGeom prst="ellipse">
            <a:avLst/>
          </a:prstGeom>
          <a:solidFill>
            <a:srgbClr val="1E3A5F"/>
          </a:solidFill>
          <a:ln w="25400">
            <a:solidFill>
              <a:srgbClr val="00C9A7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429000" y="2331720"/>
            <a:ext cx="2286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</a:t>
            </a:r>
            <a:endParaRPr lang="en-US" sz="8000" dirty="0"/>
          </a:p>
        </p:txBody>
      </p:sp>
      <p:sp>
        <p:nvSpPr>
          <p:cNvPr id="9" name="Text 7"/>
          <p:cNvSpPr/>
          <p:nvPr/>
        </p:nvSpPr>
        <p:spPr>
          <a:xfrm>
            <a:off x="2926080" y="466344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457200" y="2926080"/>
            <a:ext cx="91440" cy="91440"/>
          </a:xfrm>
          <a:prstGeom prst="ellipse">
            <a:avLst/>
          </a:prstGeom>
          <a:solidFill>
            <a:srgbClr val="00C9A7">
              <a:alpha val="45000"/>
            </a:srgbClr>
          </a:solidFill>
          <a:ln w="12700">
            <a:solidFill>
              <a:srgbClr val="00C9A7">
                <a:alpha val="45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132320" y="914400"/>
            <a:ext cx="91440" cy="91440"/>
          </a:xfrm>
          <a:prstGeom prst="ellipse">
            <a:avLst/>
          </a:prstGeom>
          <a:solidFill>
            <a:srgbClr val="00C9A7">
              <a:alpha val="45000"/>
            </a:srgbClr>
          </a:solidFill>
          <a:ln w="12700">
            <a:solidFill>
              <a:srgbClr val="00C9A7">
                <a:alpha val="45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57200" y="3246120"/>
            <a:ext cx="91440" cy="91440"/>
          </a:xfrm>
          <a:prstGeom prst="ellipse">
            <a:avLst/>
          </a:prstGeom>
          <a:solidFill>
            <a:srgbClr val="00C9A7">
              <a:alpha val="45000"/>
            </a:srgbClr>
          </a:solidFill>
          <a:ln w="12700">
            <a:solidFill>
              <a:srgbClr val="00C9A7">
                <a:alpha val="45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132320" y="1234440"/>
            <a:ext cx="91440" cy="91440"/>
          </a:xfrm>
          <a:prstGeom prst="ellipse">
            <a:avLst/>
          </a:prstGeom>
          <a:solidFill>
            <a:srgbClr val="00C9A7">
              <a:alpha val="45000"/>
            </a:srgbClr>
          </a:solidFill>
          <a:ln w="12700">
            <a:solidFill>
              <a:srgbClr val="00C9A7">
                <a:alpha val="45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57200" y="3566160"/>
            <a:ext cx="91440" cy="91440"/>
          </a:xfrm>
          <a:prstGeom prst="ellipse">
            <a:avLst/>
          </a:prstGeom>
          <a:solidFill>
            <a:srgbClr val="00C9A7">
              <a:alpha val="45000"/>
            </a:srgbClr>
          </a:solidFill>
          <a:ln w="12700">
            <a:solidFill>
              <a:srgbClr val="00C9A7">
                <a:alpha val="45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132320" y="1554480"/>
            <a:ext cx="91440" cy="91440"/>
          </a:xfrm>
          <a:prstGeom prst="ellipse">
            <a:avLst/>
          </a:prstGeom>
          <a:solidFill>
            <a:srgbClr val="00C9A7">
              <a:alpha val="45000"/>
            </a:srgbClr>
          </a:solidFill>
          <a:ln w="12700">
            <a:solidFill>
              <a:srgbClr val="00C9A7">
                <a:alpha val="45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77240" y="2926080"/>
            <a:ext cx="91440" cy="91440"/>
          </a:xfrm>
          <a:prstGeom prst="ellipse">
            <a:avLst/>
          </a:prstGeom>
          <a:solidFill>
            <a:srgbClr val="00C9A7">
              <a:alpha val="45000"/>
            </a:srgbClr>
          </a:solidFill>
          <a:ln w="12700">
            <a:solidFill>
              <a:srgbClr val="00C9A7">
                <a:alpha val="45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452360" y="914400"/>
            <a:ext cx="91440" cy="91440"/>
          </a:xfrm>
          <a:prstGeom prst="ellipse">
            <a:avLst/>
          </a:prstGeom>
          <a:solidFill>
            <a:srgbClr val="00C9A7">
              <a:alpha val="45000"/>
            </a:srgbClr>
          </a:solidFill>
          <a:ln w="12700">
            <a:solidFill>
              <a:srgbClr val="00C9A7">
                <a:alpha val="45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77240" y="3246120"/>
            <a:ext cx="91440" cy="91440"/>
          </a:xfrm>
          <a:prstGeom prst="ellipse">
            <a:avLst/>
          </a:prstGeom>
          <a:solidFill>
            <a:srgbClr val="00C9A7">
              <a:alpha val="45000"/>
            </a:srgbClr>
          </a:solidFill>
          <a:ln w="12700">
            <a:solidFill>
              <a:srgbClr val="00C9A7">
                <a:alpha val="45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452360" y="1234440"/>
            <a:ext cx="91440" cy="91440"/>
          </a:xfrm>
          <a:prstGeom prst="ellipse">
            <a:avLst/>
          </a:prstGeom>
          <a:solidFill>
            <a:srgbClr val="00C9A7">
              <a:alpha val="45000"/>
            </a:srgbClr>
          </a:solidFill>
          <a:ln w="12700">
            <a:solidFill>
              <a:srgbClr val="00C9A7">
                <a:alpha val="45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77240" y="3566160"/>
            <a:ext cx="91440" cy="91440"/>
          </a:xfrm>
          <a:prstGeom prst="ellipse">
            <a:avLst/>
          </a:prstGeom>
          <a:solidFill>
            <a:srgbClr val="00C9A7">
              <a:alpha val="45000"/>
            </a:srgbClr>
          </a:solidFill>
          <a:ln w="12700">
            <a:solidFill>
              <a:srgbClr val="00C9A7">
                <a:alpha val="45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452360" y="1554480"/>
            <a:ext cx="91440" cy="91440"/>
          </a:xfrm>
          <a:prstGeom prst="ellipse">
            <a:avLst/>
          </a:prstGeom>
          <a:solidFill>
            <a:srgbClr val="00C9A7">
              <a:alpha val="45000"/>
            </a:srgbClr>
          </a:solidFill>
          <a:ln w="12700">
            <a:solidFill>
              <a:srgbClr val="00C9A7">
                <a:alpha val="45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097280" y="2926080"/>
            <a:ext cx="91440" cy="91440"/>
          </a:xfrm>
          <a:prstGeom prst="ellipse">
            <a:avLst/>
          </a:prstGeom>
          <a:solidFill>
            <a:srgbClr val="00C9A7">
              <a:alpha val="45000"/>
            </a:srgbClr>
          </a:solidFill>
          <a:ln w="12700">
            <a:solidFill>
              <a:srgbClr val="00C9A7">
                <a:alpha val="45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772400" y="914400"/>
            <a:ext cx="91440" cy="91440"/>
          </a:xfrm>
          <a:prstGeom prst="ellipse">
            <a:avLst/>
          </a:prstGeom>
          <a:solidFill>
            <a:srgbClr val="00C9A7">
              <a:alpha val="45000"/>
            </a:srgbClr>
          </a:solidFill>
          <a:ln w="12700">
            <a:solidFill>
              <a:srgbClr val="00C9A7">
                <a:alpha val="45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097280" y="3246120"/>
            <a:ext cx="91440" cy="91440"/>
          </a:xfrm>
          <a:prstGeom prst="ellipse">
            <a:avLst/>
          </a:prstGeom>
          <a:solidFill>
            <a:srgbClr val="00C9A7">
              <a:alpha val="45000"/>
            </a:srgbClr>
          </a:solidFill>
          <a:ln w="12700">
            <a:solidFill>
              <a:srgbClr val="00C9A7">
                <a:alpha val="45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772400" y="1234440"/>
            <a:ext cx="91440" cy="91440"/>
          </a:xfrm>
          <a:prstGeom prst="ellipse">
            <a:avLst/>
          </a:prstGeom>
          <a:solidFill>
            <a:srgbClr val="00C9A7">
              <a:alpha val="45000"/>
            </a:srgbClr>
          </a:solidFill>
          <a:ln w="12700">
            <a:solidFill>
              <a:srgbClr val="00C9A7">
                <a:alpha val="45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097280" y="3566160"/>
            <a:ext cx="91440" cy="91440"/>
          </a:xfrm>
          <a:prstGeom prst="ellipse">
            <a:avLst/>
          </a:prstGeom>
          <a:solidFill>
            <a:srgbClr val="00C9A7">
              <a:alpha val="45000"/>
            </a:srgbClr>
          </a:solidFill>
          <a:ln w="12700">
            <a:solidFill>
              <a:srgbClr val="00C9A7">
                <a:alpha val="45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772400" y="1554480"/>
            <a:ext cx="91440" cy="91440"/>
          </a:xfrm>
          <a:prstGeom prst="ellipse">
            <a:avLst/>
          </a:prstGeom>
          <a:solidFill>
            <a:srgbClr val="00C9A7">
              <a:alpha val="45000"/>
            </a:srgbClr>
          </a:solidFill>
          <a:ln w="12700">
            <a:solidFill>
              <a:srgbClr val="00C9A7">
                <a:alpha val="45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417320" y="2926080"/>
            <a:ext cx="91440" cy="91440"/>
          </a:xfrm>
          <a:prstGeom prst="ellipse">
            <a:avLst/>
          </a:prstGeom>
          <a:solidFill>
            <a:srgbClr val="00C9A7">
              <a:alpha val="45000"/>
            </a:srgbClr>
          </a:solidFill>
          <a:ln w="12700">
            <a:solidFill>
              <a:srgbClr val="00C9A7">
                <a:alpha val="45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8092440" y="914400"/>
            <a:ext cx="91440" cy="91440"/>
          </a:xfrm>
          <a:prstGeom prst="ellipse">
            <a:avLst/>
          </a:prstGeom>
          <a:solidFill>
            <a:srgbClr val="00C9A7">
              <a:alpha val="45000"/>
            </a:srgbClr>
          </a:solidFill>
          <a:ln w="12700">
            <a:solidFill>
              <a:srgbClr val="00C9A7">
                <a:alpha val="45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417320" y="3246120"/>
            <a:ext cx="91440" cy="91440"/>
          </a:xfrm>
          <a:prstGeom prst="ellipse">
            <a:avLst/>
          </a:prstGeom>
          <a:solidFill>
            <a:srgbClr val="00C9A7">
              <a:alpha val="45000"/>
            </a:srgbClr>
          </a:solidFill>
          <a:ln w="12700">
            <a:solidFill>
              <a:srgbClr val="00C9A7">
                <a:alpha val="45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8092440" y="1234440"/>
            <a:ext cx="91440" cy="91440"/>
          </a:xfrm>
          <a:prstGeom prst="ellipse">
            <a:avLst/>
          </a:prstGeom>
          <a:solidFill>
            <a:srgbClr val="00C9A7">
              <a:alpha val="45000"/>
            </a:srgbClr>
          </a:solidFill>
          <a:ln w="12700">
            <a:solidFill>
              <a:srgbClr val="00C9A7">
                <a:alpha val="4500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1417320" y="3566160"/>
            <a:ext cx="91440" cy="91440"/>
          </a:xfrm>
          <a:prstGeom prst="ellipse">
            <a:avLst/>
          </a:prstGeom>
          <a:solidFill>
            <a:srgbClr val="00C9A7">
              <a:alpha val="45000"/>
            </a:srgbClr>
          </a:solidFill>
          <a:ln w="12700">
            <a:solidFill>
              <a:srgbClr val="00C9A7">
                <a:alpha val="4500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8092440" y="1554480"/>
            <a:ext cx="91440" cy="91440"/>
          </a:xfrm>
          <a:prstGeom prst="ellipse">
            <a:avLst/>
          </a:prstGeom>
          <a:solidFill>
            <a:srgbClr val="00C9A7">
              <a:alpha val="45000"/>
            </a:srgbClr>
          </a:solidFill>
          <a:ln w="12700">
            <a:solidFill>
              <a:srgbClr val="00C9A7">
                <a:alpha val="4500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1737360" y="2926080"/>
            <a:ext cx="91440" cy="91440"/>
          </a:xfrm>
          <a:prstGeom prst="ellipse">
            <a:avLst/>
          </a:prstGeom>
          <a:solidFill>
            <a:srgbClr val="00C9A7">
              <a:alpha val="45000"/>
            </a:srgbClr>
          </a:solidFill>
          <a:ln w="12700">
            <a:solidFill>
              <a:srgbClr val="00C9A7">
                <a:alpha val="4500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8412480" y="914400"/>
            <a:ext cx="91440" cy="91440"/>
          </a:xfrm>
          <a:prstGeom prst="ellipse">
            <a:avLst/>
          </a:prstGeom>
          <a:solidFill>
            <a:srgbClr val="00C9A7">
              <a:alpha val="45000"/>
            </a:srgbClr>
          </a:solidFill>
          <a:ln w="12700">
            <a:solidFill>
              <a:srgbClr val="00C9A7">
                <a:alpha val="4500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1737360" y="3246120"/>
            <a:ext cx="91440" cy="91440"/>
          </a:xfrm>
          <a:prstGeom prst="ellipse">
            <a:avLst/>
          </a:prstGeom>
          <a:solidFill>
            <a:srgbClr val="00C9A7">
              <a:alpha val="45000"/>
            </a:srgbClr>
          </a:solidFill>
          <a:ln w="12700">
            <a:solidFill>
              <a:srgbClr val="00C9A7">
                <a:alpha val="45000"/>
              </a:srgbClr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8412480" y="1234440"/>
            <a:ext cx="91440" cy="91440"/>
          </a:xfrm>
          <a:prstGeom prst="ellipse">
            <a:avLst/>
          </a:prstGeom>
          <a:solidFill>
            <a:srgbClr val="00C9A7">
              <a:alpha val="45000"/>
            </a:srgbClr>
          </a:solidFill>
          <a:ln w="12700">
            <a:solidFill>
              <a:srgbClr val="00C9A7">
                <a:alpha val="45000"/>
              </a:srgbClr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1737360" y="3566160"/>
            <a:ext cx="91440" cy="91440"/>
          </a:xfrm>
          <a:prstGeom prst="ellipse">
            <a:avLst/>
          </a:prstGeom>
          <a:solidFill>
            <a:srgbClr val="00C9A7">
              <a:alpha val="45000"/>
            </a:srgbClr>
          </a:solidFill>
          <a:ln w="12700">
            <a:solidFill>
              <a:srgbClr val="00C9A7">
                <a:alpha val="45000"/>
              </a:srgbClr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8412480" y="1554480"/>
            <a:ext cx="91440" cy="91440"/>
          </a:xfrm>
          <a:prstGeom prst="ellipse">
            <a:avLst/>
          </a:prstGeom>
          <a:solidFill>
            <a:srgbClr val="00C9A7">
              <a:alpha val="45000"/>
            </a:srgbClr>
          </a:solidFill>
          <a:ln w="12700">
            <a:solidFill>
              <a:srgbClr val="00C9A7">
                <a:alpha val="45000"/>
              </a:srgbClr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58</TotalTime>
  <Words>1244</Words>
  <Application>Microsoft Office PowerPoint</Application>
  <PresentationFormat>On-screen Show (16:9)</PresentationFormat>
  <Paragraphs>276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8" baseType="lpstr">
      <vt:lpstr>Arial</vt:lpstr>
      <vt:lpstr>Calibri</vt:lpstr>
      <vt:lpstr>Consolas</vt:lpstr>
      <vt:lpstr>Courier New</vt:lpstr>
      <vt:lpstr>Montserrat 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Note Agent</dc:title>
  <dc:subject>PptxGenJS Presentation</dc:subject>
  <dc:creator>Équipe AI Note Agent</dc:creator>
  <cp:lastModifiedBy>saad elouakate</cp:lastModifiedBy>
  <cp:revision>7</cp:revision>
  <dcterms:created xsi:type="dcterms:W3CDTF">2026-04-27T21:58:12Z</dcterms:created>
  <dcterms:modified xsi:type="dcterms:W3CDTF">2026-04-28T21:44:35Z</dcterms:modified>
</cp:coreProperties>
</file>