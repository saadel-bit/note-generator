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ura LATIFI" initials="NL" lastIdx="1" clrIdx="0">
    <p:extLst>
      <p:ext uri="{19B8F6BF-5375-455C-9EA6-DF929625EA0E}">
        <p15:presenceInfo xmlns:p15="http://schemas.microsoft.com/office/powerpoint/2012/main" userId="6c1b537e848a26c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1D2C"/>
    <a:srgbClr val="4D1717"/>
    <a:srgbClr val="A78295"/>
    <a:srgbClr val="FFF5F5"/>
    <a:srgbClr val="559D97"/>
    <a:srgbClr val="37353E"/>
    <a:srgbClr val="EFE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9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9898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98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00C9A7">
              <a:alpha val="22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56616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388620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420624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356616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388620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420624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356616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388620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420624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58200" y="356616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388620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0" y="420624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57200"/>
            <a:ext cx="2560320" cy="292608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457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PROJET FIN DE SEMESTRE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9601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Note Agent</a:t>
            </a:r>
            <a:endParaRPr lang="en-US" sz="4600" dirty="0"/>
          </a:p>
        </p:txBody>
      </p:sp>
      <p:sp>
        <p:nvSpPr>
          <p:cNvPr id="20" name="Shape 18"/>
          <p:cNvSpPr/>
          <p:nvPr/>
        </p:nvSpPr>
        <p:spPr>
          <a:xfrm>
            <a:off x="457200" y="2029968"/>
            <a:ext cx="5303520" cy="41148"/>
          </a:xfrm>
          <a:prstGeom prst="rect">
            <a:avLst/>
          </a:prstGeom>
          <a:solidFill>
            <a:srgbClr val="8EA8C3">
              <a:alpha val="60000"/>
            </a:srgbClr>
          </a:solidFill>
          <a:ln w="12700">
            <a:solidFill>
              <a:srgbClr val="8EA8C3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029968"/>
            <a:ext cx="17373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note brute au document professionnel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25420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intelligent de structuration automatique de notes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154680"/>
            <a:ext cx="5120640" cy="15087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" y="331012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X — Filière Informatique &amp; IA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" y="369417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[Nom de l'encadrant]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40782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 2 — 2024 / 2025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554480"/>
            <a:ext cx="2148840" cy="27432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29400" y="1737360"/>
            <a:ext cx="1554480" cy="91440"/>
          </a:xfrm>
          <a:prstGeom prst="rect">
            <a:avLst/>
          </a:prstGeom>
          <a:solidFill>
            <a:srgbClr val="8EA8C3">
              <a:alpha val="70000"/>
            </a:srgbClr>
          </a:solidFill>
          <a:ln w="12700">
            <a:solidFill>
              <a:srgbClr val="8EA8C3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1993392"/>
            <a:ext cx="1097280" cy="91440"/>
          </a:xfrm>
          <a:prstGeom prst="rect">
            <a:avLst/>
          </a:prstGeom>
          <a:solidFill>
            <a:srgbClr val="8EA8C3">
              <a:alpha val="70000"/>
            </a:srgbClr>
          </a:solidFill>
          <a:ln w="12700">
            <a:solidFill>
              <a:srgbClr val="8EA8C3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29400" y="2249424"/>
            <a:ext cx="1371600" cy="91440"/>
          </a:xfrm>
          <a:prstGeom prst="rect">
            <a:avLst/>
          </a:prstGeom>
          <a:solidFill>
            <a:srgbClr val="8EA8C3">
              <a:alpha val="70000"/>
            </a:srgbClr>
          </a:solidFill>
          <a:ln w="12700">
            <a:solidFill>
              <a:srgbClr val="8EA8C3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29400" y="2505456"/>
            <a:ext cx="822960" cy="91440"/>
          </a:xfrm>
          <a:prstGeom prst="rect">
            <a:avLst/>
          </a:prstGeom>
          <a:solidFill>
            <a:srgbClr val="8EA8C3">
              <a:alpha val="70000"/>
            </a:srgbClr>
          </a:solidFill>
          <a:ln w="12700">
            <a:solidFill>
              <a:srgbClr val="8EA8C3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29400" y="2761488"/>
            <a:ext cx="1188720" cy="91440"/>
          </a:xfrm>
          <a:prstGeom prst="rect">
            <a:avLst/>
          </a:prstGeom>
          <a:solidFill>
            <a:srgbClr val="8EA8C3">
              <a:alpha val="70000"/>
            </a:srgbClr>
          </a:solidFill>
          <a:ln w="12700">
            <a:solidFill>
              <a:srgbClr val="8EA8C3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23760" y="3063240"/>
            <a:ext cx="0" cy="45720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6600" y="34930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9A7"/>
                </a:solidFill>
              </a:rPr>
              <a:t>▼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8368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📄 .docx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31D2C"/>
          </a:solidFill>
          <a:ln w="12700">
            <a:solidFill>
              <a:srgbClr val="331D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FE1D1"/>
          </a:solidFill>
          <a:ln w="12700">
            <a:solidFill>
              <a:srgbClr val="EFE1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984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Problématique &amp; Introduction</a:t>
            </a:r>
            <a:endParaRPr lang="en-US" sz="2400" dirty="0">
              <a:latin typeface="Montserrat Bold" panose="000008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14800" cy="3520440"/>
          </a:xfrm>
          <a:prstGeom prst="rect">
            <a:avLst/>
          </a:prstGeom>
          <a:solidFill>
            <a:srgbClr val="FFF5F5"/>
          </a:solidFill>
          <a:ln w="12700">
            <a:solidFill>
              <a:srgbClr val="EFE1D1"/>
            </a:solidFill>
            <a:prstDash val="soli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114800" cy="347472"/>
          </a:xfrm>
          <a:prstGeom prst="rect">
            <a:avLst/>
          </a:prstGeom>
          <a:solidFill>
            <a:srgbClr val="A78295"/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anose="00000800000000000000" pitchFamily="2" charset="0"/>
              </a:rPr>
              <a:t>  Le Problème</a:t>
            </a:r>
            <a:endParaRPr lang="en-US" sz="1200" dirty="0">
              <a:latin typeface="Montserrat Bold" panose="000008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Les notes prises à la volée sont désorganisées (abréviations, dates informelles, texte libre)</a:t>
            </a:r>
            <a:endParaRPr lang="en-US" sz="1400" dirty="0"/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Des heures perdues chaque semaine à reformater manuellement</a:t>
            </a:r>
            <a:endParaRPr lang="en-US" sz="1400" dirty="0"/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Perte d'informations importantes lors du recopiage</a:t>
            </a:r>
            <a:endParaRPr lang="en-US" sz="1400" dirty="0"/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Difficulté de partage et de relecture pour les équipes</a:t>
            </a:r>
            <a:endParaRPr lang="en-US" sz="1400" dirty="0"/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Aucune cohérence de format entre les membres d'un projet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1170432"/>
            <a:ext cx="4114800" cy="3520440"/>
          </a:xfrm>
          <a:prstGeom prst="rect">
            <a:avLst/>
          </a:prstGeom>
          <a:solidFill>
            <a:srgbClr val="FFF5F5"/>
          </a:solidFill>
          <a:ln w="12700">
            <a:solidFill>
              <a:srgbClr val="EFE1D1"/>
            </a:solidFill>
            <a:prstDash val="soli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4114800" cy="347472"/>
          </a:xfrm>
          <a:prstGeom prst="rect">
            <a:avLst/>
          </a:prstGeom>
          <a:solidFill>
            <a:srgbClr val="A78295"/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anose="00000800000000000000" pitchFamily="2" charset="0"/>
              </a:rPr>
              <a:t>Notre Solution</a:t>
            </a:r>
            <a:endParaRPr lang="en-US" sz="1200" dirty="0">
              <a:latin typeface="Montserrat Bold" panose="000008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46320" y="1627632"/>
            <a:ext cx="3886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Un agent IA autonome qui lit, comprend et classifie chaque note </a:t>
            </a:r>
            <a:r>
              <a:rPr lang="en-US" sz="1400" dirty="0" err="1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automatiquement</a:t>
            </a: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Détection intelligente du type : réunion, idée, todo, Q&amp;A, question, </a:t>
            </a:r>
            <a:r>
              <a:rPr lang="en-US" sz="1400" dirty="0" err="1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défaut</a:t>
            </a: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Structuration </a:t>
            </a:r>
            <a:r>
              <a:rPr lang="en-US" sz="1400" dirty="0" err="1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intelligente</a:t>
            </a: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 pour </a:t>
            </a:r>
            <a:r>
              <a:rPr lang="en-US" sz="1400" dirty="0" err="1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chaque</a:t>
            </a: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 type.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Export immédiat en document Word “.docx” formaté, coloré, professionnel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Meilleur structuration des notes.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31D2C"/>
          </a:solidFill>
          <a:ln w="12700">
            <a:solidFill>
              <a:srgbClr val="4D171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71600" y="4764405"/>
            <a:ext cx="1920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Du Agent</a:t>
            </a:r>
            <a:endParaRPr lang="en-US" sz="1300" dirty="0">
              <a:solidFill>
                <a:srgbClr val="EFE1D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480560" y="4828032"/>
            <a:ext cx="0" cy="228600"/>
          </a:xfrm>
          <a:prstGeom prst="line">
            <a:avLst/>
          </a:prstGeom>
          <a:ln>
            <a:solidFill>
              <a:srgbClr val="EFE1D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sp>
        <p:nvSpPr>
          <p:cNvPr id="18" name="Text 16"/>
          <p:cNvSpPr/>
          <p:nvPr/>
        </p:nvSpPr>
        <p:spPr>
          <a:xfrm>
            <a:off x="5852160" y="4745355"/>
            <a:ext cx="1920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28 Avril 2026</a:t>
            </a:r>
            <a:endParaRPr lang="en-US" sz="1300" dirty="0">
              <a:solidFill>
                <a:srgbClr val="EFE1D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E1D1"/>
          </a:solidFill>
          <a:ln w="12700">
            <a:noFill/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D1717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Architecture</a:t>
            </a:r>
            <a:r>
              <a:rPr lang="en-US" sz="2400" b="1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4D1717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Système</a:t>
            </a:r>
            <a:endParaRPr lang="en-US" sz="2400" b="1" dirty="0">
              <a:solidFill>
                <a:srgbClr val="4D1717"/>
              </a:solidFill>
              <a:latin typeface="Montserrat Bold" panose="00000800000000000000" pitchFamily="2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 — 6 couches indépendantes et extensibles</a:t>
            </a:r>
            <a:endParaRPr lang="en-US" sz="1400" dirty="0">
              <a:solidFill>
                <a:srgbClr val="3F2E3E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069080" cy="109728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4D1717"/>
            </a:solidFill>
            <a:prstDash val="solid"/>
          </a:ln>
          <a:effectLst/>
        </p:spPr>
        <p:txBody>
          <a:bodyPr/>
          <a:lstStyle/>
          <a:p>
            <a:endParaRPr lang="fr-MA" dirty="0"/>
          </a:p>
        </p:txBody>
      </p:sp>
      <p:sp>
        <p:nvSpPr>
          <p:cNvPr id="6" name="Shape 4"/>
          <p:cNvSpPr/>
          <p:nvPr/>
        </p:nvSpPr>
        <p:spPr>
          <a:xfrm>
            <a:off x="384048" y="1316736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384048" y="13167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8" name="Text 6"/>
          <p:cNvSpPr/>
          <p:nvPr/>
        </p:nvSpPr>
        <p:spPr>
          <a:xfrm>
            <a:off x="1078992" y="11704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2E3E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ENTRÉE</a:t>
            </a:r>
          </a:p>
        </p:txBody>
      </p:sp>
      <p:sp>
        <p:nvSpPr>
          <p:cNvPr id="9" name="Text 7"/>
          <p:cNvSpPr/>
          <p:nvPr/>
        </p:nvSpPr>
        <p:spPr>
          <a:xfrm>
            <a:off x="1060704" y="14538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Fichiers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 .txt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bruts</a:t>
            </a: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8992" y="16733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brutes </a:t>
            </a:r>
            <a:r>
              <a:rPr lang="en-US" sz="1100" dirty="0" err="1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déposées</a:t>
            </a:r>
            <a:r>
              <a:rPr lang="en-US" sz="11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notes/</a:t>
            </a:r>
            <a:endParaRPr lang="en-US" sz="1100" dirty="0">
              <a:solidFill>
                <a:srgbClr val="3F2E3E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057400" y="21762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78992"/>
            <a:ext cx="4069080" cy="109728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4D1717"/>
            </a:solidFill>
            <a:prstDash val="solid"/>
          </a:ln>
          <a:effectLst/>
        </p:spPr>
      </p:sp>
      <p:sp>
        <p:nvSpPr>
          <p:cNvPr id="13" name="Shape 11"/>
          <p:cNvSpPr/>
          <p:nvPr/>
        </p:nvSpPr>
        <p:spPr>
          <a:xfrm>
            <a:off x="4818888" y="1316736"/>
            <a:ext cx="566928" cy="566928"/>
          </a:xfrm>
          <a:prstGeom prst="ellipse">
            <a:avLst/>
          </a:prstGeom>
          <a:solidFill>
            <a:srgbClr val="A78295"/>
          </a:solidFill>
          <a:ln w="12700">
            <a:noFill/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316736"/>
            <a:ext cx="566928" cy="566928"/>
          </a:xfrm>
          <a:prstGeom prst="ellipse">
            <a:avLst/>
          </a:prstGeom>
          <a:solidFill>
            <a:srgbClr val="3F2E3E"/>
          </a:solidFill>
          <a:ln/>
          <a:effectLst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5" name="Text 13"/>
          <p:cNvSpPr/>
          <p:nvPr/>
        </p:nvSpPr>
        <p:spPr>
          <a:xfrm>
            <a:off x="5513832" y="11704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2E3E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CLASSIFICATION</a:t>
            </a:r>
          </a:p>
        </p:txBody>
      </p:sp>
      <p:sp>
        <p:nvSpPr>
          <p:cNvPr id="16" name="Text 14"/>
          <p:cNvSpPr/>
          <p:nvPr/>
        </p:nvSpPr>
        <p:spPr>
          <a:xfrm>
            <a:off x="5513832" y="13807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Classifier Heuristique + API</a:t>
            </a:r>
          </a:p>
        </p:txBody>
      </p:sp>
      <p:sp>
        <p:nvSpPr>
          <p:cNvPr id="17" name="Text 15"/>
          <p:cNvSpPr/>
          <p:nvPr/>
        </p:nvSpPr>
        <p:spPr>
          <a:xfrm>
            <a:off x="5513832" y="16733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Mots-clés → type détecté (+ fallback </a:t>
            </a:r>
            <a:r>
              <a:rPr lang="en-US" sz="1100" dirty="0" err="1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r>
              <a:rPr lang="en-US" sz="11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</p:txBody>
      </p:sp>
      <p:sp>
        <p:nvSpPr>
          <p:cNvPr id="18" name="Text 16"/>
          <p:cNvSpPr/>
          <p:nvPr/>
        </p:nvSpPr>
        <p:spPr>
          <a:xfrm>
            <a:off x="6492240" y="21762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340864"/>
            <a:ext cx="4069080" cy="109728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4D1717"/>
            </a:solidFill>
            <a:prstDash val="solid"/>
          </a:ln>
          <a:effectLst/>
        </p:spPr>
      </p:sp>
      <p:sp>
        <p:nvSpPr>
          <p:cNvPr id="20" name="Shape 18"/>
          <p:cNvSpPr/>
          <p:nvPr/>
        </p:nvSpPr>
        <p:spPr>
          <a:xfrm>
            <a:off x="384048" y="2578608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solidFill>
              <a:srgbClr val="5C4A1A"/>
            </a:solidFill>
            <a:prstDash val="solid"/>
          </a:ln>
          <a:effectLst/>
        </p:spPr>
      </p:sp>
      <p:sp>
        <p:nvSpPr>
          <p:cNvPr id="21" name="Text 19"/>
          <p:cNvSpPr/>
          <p:nvPr/>
        </p:nvSpPr>
        <p:spPr>
          <a:xfrm>
            <a:off x="384048" y="2578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22" name="Text 20"/>
          <p:cNvSpPr/>
          <p:nvPr/>
        </p:nvSpPr>
        <p:spPr>
          <a:xfrm>
            <a:off x="1078992" y="24323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2E3E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EXTRACTION</a:t>
            </a:r>
          </a:p>
        </p:txBody>
      </p:sp>
      <p:sp>
        <p:nvSpPr>
          <p:cNvPr id="23" name="Text 21"/>
          <p:cNvSpPr/>
          <p:nvPr/>
        </p:nvSpPr>
        <p:spPr>
          <a:xfrm>
            <a:off x="1078992" y="26426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Templates JSON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dynamiques</a:t>
            </a: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78992" y="293522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templates : meeting, idea, todo, qa, question, default</a:t>
            </a:r>
          </a:p>
        </p:txBody>
      </p:sp>
      <p:sp>
        <p:nvSpPr>
          <p:cNvPr id="25" name="Text 23"/>
          <p:cNvSpPr/>
          <p:nvPr/>
        </p:nvSpPr>
        <p:spPr>
          <a:xfrm>
            <a:off x="2057400" y="343814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340864"/>
            <a:ext cx="4069080" cy="109728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4D1717"/>
            </a:solidFill>
            <a:prstDash val="solid"/>
          </a:ln>
          <a:effectLst/>
        </p:spPr>
      </p:sp>
      <p:sp>
        <p:nvSpPr>
          <p:cNvPr id="27" name="Shape 25"/>
          <p:cNvSpPr/>
          <p:nvPr/>
        </p:nvSpPr>
        <p:spPr>
          <a:xfrm>
            <a:off x="4818888" y="2578608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solidFill>
              <a:srgbClr val="4A1A5C"/>
            </a:solidFill>
            <a:prstDash val="solid"/>
          </a:ln>
          <a:effectLst/>
        </p:spPr>
      </p:sp>
      <p:sp>
        <p:nvSpPr>
          <p:cNvPr id="28" name="Text 26"/>
          <p:cNvSpPr/>
          <p:nvPr/>
        </p:nvSpPr>
        <p:spPr>
          <a:xfrm>
            <a:off x="4818888" y="2578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9" name="Text 27"/>
          <p:cNvSpPr/>
          <p:nvPr/>
        </p:nvSpPr>
        <p:spPr>
          <a:xfrm>
            <a:off x="5513832" y="24323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2E3E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000" b="1" kern="0" spc="150" dirty="0">
                <a:solidFill>
                  <a:srgbClr val="3F2E3E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3F2E3E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LAYER</a:t>
            </a:r>
          </a:p>
        </p:txBody>
      </p:sp>
      <p:sp>
        <p:nvSpPr>
          <p:cNvPr id="30" name="Text 28"/>
          <p:cNvSpPr/>
          <p:nvPr/>
        </p:nvSpPr>
        <p:spPr>
          <a:xfrm>
            <a:off x="5513832" y="26426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Appel Groq (Llama 3.1)</a:t>
            </a:r>
          </a:p>
        </p:txBody>
      </p:sp>
      <p:sp>
        <p:nvSpPr>
          <p:cNvPr id="31" name="Text 29"/>
          <p:cNvSpPr/>
          <p:nvPr/>
        </p:nvSpPr>
        <p:spPr>
          <a:xfrm>
            <a:off x="5513832" y="293522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 + nettoyage markdown fences</a:t>
            </a:r>
          </a:p>
        </p:txBody>
      </p:sp>
      <p:sp>
        <p:nvSpPr>
          <p:cNvPr id="32" name="Text 30"/>
          <p:cNvSpPr/>
          <p:nvPr/>
        </p:nvSpPr>
        <p:spPr>
          <a:xfrm>
            <a:off x="6492240" y="343814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602736"/>
            <a:ext cx="4069080" cy="1014984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4D1717"/>
            </a:solidFill>
            <a:prstDash val="solid"/>
          </a:ln>
          <a:effectLst/>
        </p:spPr>
        <p:txBody>
          <a:bodyPr/>
          <a:lstStyle/>
          <a:p>
            <a:endParaRPr lang="fr-MA" dirty="0"/>
          </a:p>
        </p:txBody>
      </p:sp>
      <p:sp>
        <p:nvSpPr>
          <p:cNvPr id="34" name="Shape 32"/>
          <p:cNvSpPr/>
          <p:nvPr/>
        </p:nvSpPr>
        <p:spPr>
          <a:xfrm>
            <a:off x="384048" y="3840480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solidFill>
              <a:srgbClr val="1A3A5C"/>
            </a:solidFill>
            <a:prstDash val="solid"/>
          </a:ln>
          <a:effectLst/>
        </p:spPr>
      </p:sp>
      <p:sp>
        <p:nvSpPr>
          <p:cNvPr id="35" name="Text 33"/>
          <p:cNvSpPr/>
          <p:nvPr/>
        </p:nvSpPr>
        <p:spPr>
          <a:xfrm>
            <a:off x="384048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36" name="Text 34"/>
          <p:cNvSpPr/>
          <p:nvPr/>
        </p:nvSpPr>
        <p:spPr>
          <a:xfrm>
            <a:off x="1078992" y="369417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2E3E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VALIDATION</a:t>
            </a:r>
          </a:p>
        </p:txBody>
      </p:sp>
      <p:sp>
        <p:nvSpPr>
          <p:cNvPr id="37" name="Text 35"/>
          <p:cNvSpPr/>
          <p:nvPr/>
        </p:nvSpPr>
        <p:spPr>
          <a:xfrm>
            <a:off x="1078992" y="39044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Vérification &amp;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nettoyage</a:t>
            </a: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78992" y="41970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requis + valeurs par </a:t>
            </a:r>
            <a:r>
              <a:rPr lang="en-US" sz="1100" dirty="0" err="1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</a:t>
            </a:r>
            <a:endParaRPr lang="en-US" sz="1100" dirty="0">
              <a:solidFill>
                <a:srgbClr val="3F2E3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709160" y="3602736"/>
            <a:ext cx="4069080" cy="1014984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4D1717"/>
            </a:solidFill>
            <a:prstDash val="solid"/>
          </a:ln>
          <a:effectLst/>
        </p:spPr>
      </p:sp>
      <p:sp>
        <p:nvSpPr>
          <p:cNvPr id="40" name="Shape 38"/>
          <p:cNvSpPr/>
          <p:nvPr/>
        </p:nvSpPr>
        <p:spPr>
          <a:xfrm>
            <a:off x="4818888" y="3840480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solidFill>
              <a:srgbClr val="5C1A2A"/>
            </a:solidFill>
            <a:prstDash val="solid"/>
          </a:ln>
          <a:effectLst/>
        </p:spPr>
      </p:sp>
      <p:sp>
        <p:nvSpPr>
          <p:cNvPr id="41" name="Text 39"/>
          <p:cNvSpPr/>
          <p:nvPr/>
        </p:nvSpPr>
        <p:spPr>
          <a:xfrm>
            <a:off x="4818888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sp>
        <p:nvSpPr>
          <p:cNvPr id="42" name="Text 40"/>
          <p:cNvSpPr/>
          <p:nvPr/>
        </p:nvSpPr>
        <p:spPr>
          <a:xfrm>
            <a:off x="5513832" y="369417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2E3E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RENDU</a:t>
            </a:r>
          </a:p>
        </p:txBody>
      </p:sp>
      <p:sp>
        <p:nvSpPr>
          <p:cNvPr id="43" name="Text 41"/>
          <p:cNvSpPr/>
          <p:nvPr/>
        </p:nvSpPr>
        <p:spPr>
          <a:xfrm>
            <a:off x="5513832" y="39044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Générateur .docx</a:t>
            </a:r>
          </a:p>
        </p:txBody>
      </p:sp>
      <p:sp>
        <p:nvSpPr>
          <p:cNvPr id="44" name="Text 42"/>
          <p:cNvSpPr/>
          <p:nvPr/>
        </p:nvSpPr>
        <p:spPr>
          <a:xfrm>
            <a:off x="5513832" y="41970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: styles, couleurs, tableaux</a:t>
            </a:r>
          </a:p>
        </p:txBody>
      </p:sp>
      <p:sp>
        <p:nvSpPr>
          <p:cNvPr id="45" name="Shape 43"/>
          <p:cNvSpPr/>
          <p:nvPr/>
        </p:nvSpPr>
        <p:spPr>
          <a:xfrm>
            <a:off x="3063240" y="4690491"/>
            <a:ext cx="3108960" cy="320040"/>
          </a:xfrm>
          <a:prstGeom prst="roundRect">
            <a:avLst/>
          </a:prstGeom>
          <a:solidFill>
            <a:srgbClr val="3F2E3E"/>
          </a:solidFill>
          <a:ln w="19050">
            <a:noFill/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0" y="4665599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: documents .docx structurés </a:t>
            </a:r>
            <a:r>
              <a:rPr lang="en-US" sz="1100" i="1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output</a:t>
            </a:r>
            <a:endParaRPr lang="en-US" sz="1100" i="1" dirty="0">
              <a:solidFill>
                <a:srgbClr val="FFF5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5607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4631"/>
            <a:ext cx="9144000" cy="914400"/>
          </a:xfrm>
          <a:prstGeom prst="rect">
            <a:avLst/>
          </a:prstGeom>
          <a:solidFill>
            <a:srgbClr val="331D2C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Global de l'Agent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1133856" cy="320040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56032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6032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Lecture</a:t>
            </a:r>
          </a:p>
        </p:txBody>
      </p:sp>
      <p:sp>
        <p:nvSpPr>
          <p:cNvPr id="10" name="Text 8"/>
          <p:cNvSpPr/>
          <p:nvPr/>
        </p:nvSpPr>
        <p:spPr>
          <a:xfrm>
            <a:off x="310896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Fichier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 .txt brut chargé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depuis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 notes/</a:t>
            </a:r>
          </a:p>
        </p:txBody>
      </p:sp>
      <p:sp>
        <p:nvSpPr>
          <p:cNvPr id="11" name="Text 9"/>
          <p:cNvSpPr/>
          <p:nvPr/>
        </p:nvSpPr>
        <p:spPr>
          <a:xfrm>
            <a:off x="1353312" y="2697480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499616" y="1188720"/>
            <a:ext cx="1133856" cy="320040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2880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99616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99616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Classification</a:t>
            </a:r>
          </a:p>
        </p:txBody>
      </p:sp>
      <p:sp>
        <p:nvSpPr>
          <p:cNvPr id="17" name="Text 15"/>
          <p:cNvSpPr/>
          <p:nvPr/>
        </p:nvSpPr>
        <p:spPr>
          <a:xfrm>
            <a:off x="1554480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Détection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automatique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 du type de note</a:t>
            </a:r>
          </a:p>
        </p:txBody>
      </p:sp>
      <p:sp>
        <p:nvSpPr>
          <p:cNvPr id="18" name="Text 16"/>
          <p:cNvSpPr/>
          <p:nvPr/>
        </p:nvSpPr>
        <p:spPr>
          <a:xfrm>
            <a:off x="2596896" y="2697480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0" y="1188720"/>
            <a:ext cx="1133856" cy="320040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072384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743200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743200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Template</a:t>
            </a:r>
          </a:p>
        </p:txBody>
      </p:sp>
      <p:sp>
        <p:nvSpPr>
          <p:cNvPr id="24" name="Text 22"/>
          <p:cNvSpPr/>
          <p:nvPr/>
        </p:nvSpPr>
        <p:spPr>
          <a:xfrm>
            <a:off x="2798064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Chargement du prompt adapté au type</a:t>
            </a:r>
          </a:p>
        </p:txBody>
      </p:sp>
      <p:sp>
        <p:nvSpPr>
          <p:cNvPr id="25" name="Text 23"/>
          <p:cNvSpPr/>
          <p:nvPr/>
        </p:nvSpPr>
        <p:spPr>
          <a:xfrm>
            <a:off x="3840480" y="2697480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986784" y="1188720"/>
            <a:ext cx="1133856" cy="320040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 dirty="0"/>
          </a:p>
        </p:txBody>
      </p:sp>
      <p:sp>
        <p:nvSpPr>
          <p:cNvPr id="28" name="Text 26"/>
          <p:cNvSpPr/>
          <p:nvPr/>
        </p:nvSpPr>
        <p:spPr>
          <a:xfrm>
            <a:off x="4315968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986784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986784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200" dirty="0">
              <a:solidFill>
                <a:srgbClr val="374151"/>
              </a:solidFill>
              <a:latin typeface="Montserrat Bold" panose="00000800000000000000" pitchFamily="2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041648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Structuration en JSON via Llama 3.1</a:t>
            </a:r>
          </a:p>
        </p:txBody>
      </p:sp>
      <p:sp>
        <p:nvSpPr>
          <p:cNvPr id="32" name="Text 30"/>
          <p:cNvSpPr/>
          <p:nvPr/>
        </p:nvSpPr>
        <p:spPr>
          <a:xfrm>
            <a:off x="5084064" y="2697480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230368" y="1188720"/>
            <a:ext cx="1133856" cy="320040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559552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230368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230368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Validation</a:t>
            </a:r>
          </a:p>
        </p:txBody>
      </p:sp>
      <p:sp>
        <p:nvSpPr>
          <p:cNvPr id="38" name="Text 36"/>
          <p:cNvSpPr/>
          <p:nvPr/>
        </p:nvSpPr>
        <p:spPr>
          <a:xfrm>
            <a:off x="5285232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Nettoyage et vérification des champs</a:t>
            </a:r>
          </a:p>
        </p:txBody>
      </p:sp>
      <p:sp>
        <p:nvSpPr>
          <p:cNvPr id="39" name="Text 37"/>
          <p:cNvSpPr/>
          <p:nvPr/>
        </p:nvSpPr>
        <p:spPr>
          <a:xfrm>
            <a:off x="6327648" y="2697480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→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73952" y="1188720"/>
            <a:ext cx="1133856" cy="320040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803136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473952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473952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Rendu</a:t>
            </a:r>
            <a:endParaRPr lang="en-US" sz="1200" dirty="0">
              <a:solidFill>
                <a:srgbClr val="374151"/>
              </a:solidFill>
              <a:latin typeface="Montserrat Bold" panose="00000800000000000000" pitchFamily="2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528816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Génération du document Word mis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forme</a:t>
            </a: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571232" y="2697480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→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717536" y="1188720"/>
            <a:ext cx="1133856" cy="320040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04672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717536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7717536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Export</a:t>
            </a:r>
          </a:p>
        </p:txBody>
      </p:sp>
      <p:sp>
        <p:nvSpPr>
          <p:cNvPr id="52" name="Text 50"/>
          <p:cNvSpPr/>
          <p:nvPr/>
        </p:nvSpPr>
        <p:spPr>
          <a:xfrm>
            <a:off x="7772400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Fichier .docx sauvegardé dans output/</a:t>
            </a:r>
          </a:p>
        </p:txBody>
      </p:sp>
      <p:sp>
        <p:nvSpPr>
          <p:cNvPr id="53" name="Shape 51"/>
          <p:cNvSpPr/>
          <p:nvPr/>
        </p:nvSpPr>
        <p:spPr>
          <a:xfrm>
            <a:off x="256032" y="4526280"/>
            <a:ext cx="1133856" cy="274320"/>
          </a:xfrm>
          <a:prstGeom prst="roundRect">
            <a:avLst/>
          </a:prstGeom>
          <a:solidFill>
            <a:srgbClr val="331D2C"/>
          </a:solidFill>
          <a:ln w="12700">
            <a:noFill/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" y="452628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</a:p>
        </p:txBody>
      </p:sp>
      <p:sp>
        <p:nvSpPr>
          <p:cNvPr id="55" name="Shape 53"/>
          <p:cNvSpPr/>
          <p:nvPr/>
        </p:nvSpPr>
        <p:spPr>
          <a:xfrm>
            <a:off x="7936992" y="4526280"/>
            <a:ext cx="1133856" cy="274320"/>
          </a:xfrm>
          <a:prstGeom prst="roundRect">
            <a:avLst/>
          </a:prstGeom>
          <a:solidFill>
            <a:srgbClr val="331D2C"/>
          </a:solidFill>
          <a:ln w="12700">
            <a:noFill/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36992" y="452628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9AF06073-61CD-4C51-BA22-8F965C0007E2}"/>
              </a:ext>
            </a:extLst>
          </p:cNvPr>
          <p:cNvSpPr/>
          <p:nvPr/>
        </p:nvSpPr>
        <p:spPr>
          <a:xfrm>
            <a:off x="539496" y="1332738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 1</a:t>
            </a:r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F7654BB1-4136-4FEF-819E-60A89D73F25E}"/>
              </a:ext>
            </a:extLst>
          </p:cNvPr>
          <p:cNvSpPr/>
          <p:nvPr/>
        </p:nvSpPr>
        <p:spPr>
          <a:xfrm>
            <a:off x="1790395" y="1332738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r>
              <a:rPr lang="en-US" dirty="0"/>
              <a:t> </a:t>
            </a:r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2</a:t>
            </a:r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0" name="Shape 4">
            <a:extLst>
              <a:ext uri="{FF2B5EF4-FFF2-40B4-BE49-F238E27FC236}">
                <a16:creationId xmlns:a16="http://schemas.microsoft.com/office/drawing/2014/main" id="{5A1BF956-227B-486F-B479-F1FA8421F055}"/>
              </a:ext>
            </a:extLst>
          </p:cNvPr>
          <p:cNvSpPr/>
          <p:nvPr/>
        </p:nvSpPr>
        <p:spPr>
          <a:xfrm>
            <a:off x="3026664" y="1332738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r>
              <a:rPr lang="en-US" dirty="0"/>
              <a:t> </a:t>
            </a:r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3</a:t>
            </a:r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1" name="Shape 4">
            <a:extLst>
              <a:ext uri="{FF2B5EF4-FFF2-40B4-BE49-F238E27FC236}">
                <a16:creationId xmlns:a16="http://schemas.microsoft.com/office/drawing/2014/main" id="{DFD148F7-3399-49D8-8B98-7DC451D597D4}"/>
              </a:ext>
            </a:extLst>
          </p:cNvPr>
          <p:cNvSpPr/>
          <p:nvPr/>
        </p:nvSpPr>
        <p:spPr>
          <a:xfrm>
            <a:off x="4316882" y="1332738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r>
              <a:rPr lang="en-US" dirty="0"/>
              <a:t> </a:t>
            </a:r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4</a:t>
            </a:r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2" name="Shape 4">
            <a:extLst>
              <a:ext uri="{FF2B5EF4-FFF2-40B4-BE49-F238E27FC236}">
                <a16:creationId xmlns:a16="http://schemas.microsoft.com/office/drawing/2014/main" id="{6814862B-CB7E-45F0-91AF-C98D59F6BD67}"/>
              </a:ext>
            </a:extLst>
          </p:cNvPr>
          <p:cNvSpPr/>
          <p:nvPr/>
        </p:nvSpPr>
        <p:spPr>
          <a:xfrm>
            <a:off x="5525719" y="1332738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r>
              <a:rPr lang="en-US" dirty="0"/>
              <a:t> </a:t>
            </a:r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5</a:t>
            </a:r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3" name="Shape 4">
            <a:extLst>
              <a:ext uri="{FF2B5EF4-FFF2-40B4-BE49-F238E27FC236}">
                <a16:creationId xmlns:a16="http://schemas.microsoft.com/office/drawing/2014/main" id="{6B99AE98-6279-43BF-B8EA-BF92B00AFDBA}"/>
              </a:ext>
            </a:extLst>
          </p:cNvPr>
          <p:cNvSpPr/>
          <p:nvPr/>
        </p:nvSpPr>
        <p:spPr>
          <a:xfrm>
            <a:off x="6748272" y="1332738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r>
              <a:rPr lang="en-US" dirty="0"/>
              <a:t> </a:t>
            </a:r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6</a:t>
            </a:r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4" name="Shape 4">
            <a:extLst>
              <a:ext uri="{FF2B5EF4-FFF2-40B4-BE49-F238E27FC236}">
                <a16:creationId xmlns:a16="http://schemas.microsoft.com/office/drawing/2014/main" id="{437BBB6F-EFF0-48BB-BE24-042956B73E0B}"/>
              </a:ext>
            </a:extLst>
          </p:cNvPr>
          <p:cNvSpPr/>
          <p:nvPr/>
        </p:nvSpPr>
        <p:spPr>
          <a:xfrm>
            <a:off x="8050378" y="1330909"/>
            <a:ext cx="566928" cy="566928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r>
              <a:rPr lang="en-US" dirty="0"/>
              <a:t> </a:t>
            </a:r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7</a:t>
            </a:r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5" name="Shape 1">
            <a:extLst>
              <a:ext uri="{FF2B5EF4-FFF2-40B4-BE49-F238E27FC236}">
                <a16:creationId xmlns:a16="http://schemas.microsoft.com/office/drawing/2014/main" id="{7A5B76AE-3A4C-4208-9780-B64222B405B7}"/>
              </a:ext>
            </a:extLst>
          </p:cNvPr>
          <p:cNvSpPr/>
          <p:nvPr/>
        </p:nvSpPr>
        <p:spPr>
          <a:xfrm>
            <a:off x="0" y="811073"/>
            <a:ext cx="9144000" cy="54864"/>
          </a:xfrm>
          <a:prstGeom prst="rect">
            <a:avLst/>
          </a:prstGeom>
          <a:solidFill>
            <a:srgbClr val="EFE1D1"/>
          </a:solidFill>
          <a:ln w="12700">
            <a:solidFill>
              <a:srgbClr val="EFE1D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D1717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Étape 1 — Classification </a:t>
            </a:r>
            <a:r>
              <a:rPr lang="en-US" sz="2400" b="1" dirty="0" err="1">
                <a:solidFill>
                  <a:srgbClr val="4D1717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Intelligente</a:t>
            </a:r>
            <a:endParaRPr lang="en-US" sz="2400" b="1" dirty="0">
              <a:solidFill>
                <a:srgbClr val="4D1717"/>
              </a:solidFill>
              <a:latin typeface="Montserrat Bold" panose="00000800000000000000" pitchFamily="2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stratégie : économie de tokens + </a:t>
            </a:r>
            <a:r>
              <a:rPr lang="en-US" sz="1400" dirty="0" err="1">
                <a:solidFill>
                  <a:srgbClr val="3F2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</a:t>
            </a:r>
            <a:endParaRPr lang="en-US" sz="1400" dirty="0">
              <a:solidFill>
                <a:srgbClr val="3F2E3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069080" cy="3063240"/>
          </a:xfrm>
          <a:prstGeom prst="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069080" cy="384048"/>
          </a:xfrm>
          <a:prstGeom prst="rect">
            <a:avLst/>
          </a:prstGeom>
          <a:solidFill>
            <a:srgbClr val="331D2C"/>
          </a:solidFill>
          <a:ln w="12700">
            <a:solidFill>
              <a:srgbClr val="1A5C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Heuristique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18688" y="1161288"/>
            <a:ext cx="1024128" cy="219456"/>
          </a:xfrm>
          <a:prstGeom prst="roundRect">
            <a:avLst/>
          </a:prstGeom>
          <a:solidFill>
            <a:srgbClr val="FFF5F5"/>
          </a:solidFill>
          <a:ln w="12700">
            <a:noFill/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18688" y="11612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0F1B2D"/>
                </a:solidFill>
              </a:rPr>
              <a:t>PRIORITAIRE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30352" y="155448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Analyse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 de mots-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clés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 dans le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texte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 brut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meet,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réunion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 → meeting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todo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tâche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, urgent →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todo</a:t>
            </a: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how,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pourquoi</a:t>
            </a: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question_only</a:t>
            </a: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 err="1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Coût</a:t>
            </a:r>
            <a:r>
              <a:rPr lang="en-US" sz="1200" dirty="0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 : 0 token — </a:t>
            </a:r>
            <a:r>
              <a:rPr lang="en-US" sz="1200" dirty="0" err="1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instantané</a:t>
            </a:r>
            <a:endParaRPr lang="en-US" sz="1200" dirty="0">
              <a:solidFill>
                <a:srgbClr val="374151"/>
              </a:solidFill>
              <a:latin typeface="Montserrat Bold" panose="00000800000000000000" pitchFamily="2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00600" y="1078992"/>
            <a:ext cx="4069080" cy="3063240"/>
          </a:xfrm>
          <a:prstGeom prst="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78992"/>
            <a:ext cx="4069080" cy="384048"/>
          </a:xfrm>
          <a:prstGeom prst="rect">
            <a:avLst/>
          </a:prstGeom>
          <a:solidFill>
            <a:srgbClr val="331D2C"/>
          </a:solidFill>
          <a:ln w="12700">
            <a:solidFill>
              <a:srgbClr val="4A2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789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API (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53528" y="1161288"/>
            <a:ext cx="1024128" cy="219456"/>
          </a:xfrm>
          <a:prstGeom prst="roundRect">
            <a:avLst/>
          </a:prstGeom>
          <a:solidFill>
            <a:srgbClr val="FFF5F5"/>
          </a:solidFill>
          <a:ln w="12700">
            <a:noFill/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53528" y="11612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0F1B2D"/>
                </a:solidFill>
              </a:rPr>
              <a:t>FALLBACK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965192" y="155448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Activé si confiance heuristique &lt;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seuil</a:t>
            </a: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Envoi du texte à Llama 3.1 pour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analyse</a:t>
            </a: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Retourne le type JSON + niveau de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confiance</a:t>
            </a: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Utilisé pour les notes ambiguës / </a:t>
            </a:r>
            <a:r>
              <a:rPr lang="en-US" sz="1400" dirty="0" err="1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mixtes</a:t>
            </a:r>
            <a:endParaRPr lang="en-US" sz="1400" dirty="0">
              <a:solidFill>
                <a:srgbClr val="374151"/>
              </a:solidFill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 err="1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Coût</a:t>
            </a:r>
            <a:r>
              <a:rPr lang="en-US" sz="1200" dirty="0">
                <a:solidFill>
                  <a:srgbClr val="374151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 : ~50 tokens par classification</a:t>
            </a:r>
          </a:p>
        </p:txBody>
      </p:sp>
      <p:sp>
        <p:nvSpPr>
          <p:cNvPr id="17" name="Shape 15"/>
          <p:cNvSpPr/>
          <p:nvPr/>
        </p:nvSpPr>
        <p:spPr>
          <a:xfrm>
            <a:off x="365760" y="4279392"/>
            <a:ext cx="8412480" cy="621792"/>
          </a:xfrm>
          <a:prstGeom prst="rect">
            <a:avLst/>
          </a:prstGeom>
          <a:solidFill>
            <a:srgbClr val="331D2C"/>
          </a:solidFill>
          <a:ln w="12700">
            <a:noFill/>
            <a:prstDash val="solid"/>
          </a:ln>
        </p:spPr>
        <p:txBody>
          <a:bodyPr/>
          <a:lstStyle/>
          <a:p>
            <a:endParaRPr lang="fr-MA" dirty="0"/>
          </a:p>
        </p:txBody>
      </p:sp>
      <p:sp>
        <p:nvSpPr>
          <p:cNvPr id="18" name="Text 16"/>
          <p:cNvSpPr/>
          <p:nvPr/>
        </p:nvSpPr>
        <p:spPr>
          <a:xfrm>
            <a:off x="548640" y="43159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  <p:sp>
        <p:nvSpPr>
          <p:cNvPr id="19" name="Text 17"/>
          <p:cNvSpPr/>
          <p:nvPr/>
        </p:nvSpPr>
        <p:spPr>
          <a:xfrm>
            <a:off x="1481328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"meet w </a:t>
            </a:r>
            <a:r>
              <a:rPr lang="en-US" sz="900" b="1" dirty="0" err="1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r>
              <a:rPr lang="en-US" sz="900" b="1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bob"  → meeting</a:t>
            </a:r>
          </a:p>
        </p:txBody>
      </p:sp>
      <p:sp>
        <p:nvSpPr>
          <p:cNvPr id="20" name="Text 18"/>
          <p:cNvSpPr/>
          <p:nvPr/>
        </p:nvSpPr>
        <p:spPr>
          <a:xfrm>
            <a:off x="3264408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fix..."  → </a:t>
            </a:r>
            <a:r>
              <a:rPr lang="en-US" sz="900" b="1" dirty="0" err="1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question_only</a:t>
            </a:r>
            <a:endParaRPr lang="en-US" sz="900" b="1" dirty="0">
              <a:solidFill>
                <a:srgbClr val="FFF5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47488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"buy milk, call bob"  → </a:t>
            </a:r>
            <a:r>
              <a:rPr lang="en-US" sz="900" b="1" dirty="0" err="1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900" b="1" dirty="0">
              <a:solidFill>
                <a:srgbClr val="FFF5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830568" y="4315968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900" b="1" dirty="0" err="1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</a:t>
            </a:r>
            <a:r>
              <a:rPr lang="en-US" sz="900" b="1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mixte</a:t>
            </a:r>
            <a:r>
              <a:rPr lang="en-US" sz="900" b="1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 → default</a:t>
            </a:r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BE1819FB-45C0-49E9-8C7B-6947A76F8DCD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E1D1"/>
          </a:solidFill>
          <a:ln w="12700">
            <a:solidFill>
              <a:srgbClr val="EFE1D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2572"/>
            <a:ext cx="9144000" cy="914400"/>
          </a:xfrm>
          <a:prstGeom prst="rect">
            <a:avLst/>
          </a:prstGeom>
          <a:solidFill>
            <a:srgbClr val="331D2C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MA" dirty="0"/>
          </a:p>
        </p:txBody>
      </p:sp>
      <p:sp>
        <p:nvSpPr>
          <p:cNvPr id="4" name="Text 2"/>
          <p:cNvSpPr/>
          <p:nvPr/>
        </p:nvSpPr>
        <p:spPr>
          <a:xfrm>
            <a:off x="411480" y="14630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— Templates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Dynamiques</a:t>
            </a:r>
            <a:endParaRPr lang="en-US" sz="2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51760" cy="1664208"/>
          </a:xfrm>
          <a:prstGeom prst="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51760" cy="365760"/>
          </a:xfrm>
          <a:prstGeom prst="rect">
            <a:avLst/>
          </a:prstGeom>
          <a:solidFill>
            <a:srgbClr val="331D2C"/>
          </a:solidFill>
          <a:ln w="12700">
            <a:noFill/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date, participants,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action_items, summary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1097280"/>
            <a:ext cx="2651760" cy="1664208"/>
          </a:xfrm>
          <a:prstGeom prst="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097280"/>
            <a:ext cx="2651760" cy="365760"/>
          </a:xfrm>
          <a:prstGeom prst="rect">
            <a:avLst/>
          </a:prstGeom>
          <a:solidFill>
            <a:srgbClr val="331D2C"/>
          </a:solidFill>
          <a:ln w="12700">
            <a:solidFill>
              <a:srgbClr val="1A5C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64408" y="171907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tasks[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priority, due_date, status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25896" y="1097280"/>
            <a:ext cx="2651760" cy="1664208"/>
          </a:xfrm>
          <a:prstGeom prst="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25896" y="1097280"/>
            <a:ext cx="2651760" cy="365760"/>
          </a:xfrm>
          <a:prstGeom prst="rect">
            <a:avLst/>
          </a:prstGeom>
          <a:solidFill>
            <a:srgbClr val="331D2C"/>
          </a:solidFill>
          <a:ln w="12700">
            <a:noFill/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17336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17336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17336" y="171907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description,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potential, next_steps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971800"/>
            <a:ext cx="2651760" cy="1664208"/>
          </a:xfrm>
          <a:prstGeom prst="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71800"/>
            <a:ext cx="2651760" cy="365760"/>
          </a:xfrm>
          <a:prstGeom prst="rect">
            <a:avLst/>
          </a:prstGeom>
          <a:solidFill>
            <a:srgbClr val="331D2C"/>
          </a:solidFill>
          <a:ln w="12700">
            <a:noFill/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383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359359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questions[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question, answer, confidence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72968" y="2971800"/>
            <a:ext cx="2651760" cy="1664208"/>
          </a:xfrm>
          <a:prstGeom prst="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72968" y="2971800"/>
            <a:ext cx="2651760" cy="365760"/>
          </a:xfrm>
          <a:prstGeom prst="rect">
            <a:avLst/>
          </a:prstGeom>
          <a:solidFill>
            <a:srgbClr val="331D2C"/>
          </a:solidFill>
          <a:ln w="12700">
            <a:noFill/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question_only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64408" y="3383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64408" y="359359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questions[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question, context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25896" y="2971800"/>
            <a:ext cx="2651760" cy="1664208"/>
          </a:xfrm>
          <a:prstGeom prst="rect">
            <a:avLst/>
          </a:prstGeom>
          <a:solidFill>
            <a:srgbClr val="FFF5F5"/>
          </a:solidFill>
          <a:ln w="19050">
            <a:solidFill>
              <a:srgbClr val="331D2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25896" y="2971800"/>
            <a:ext cx="2651760" cy="365760"/>
          </a:xfrm>
          <a:prstGeom prst="rect">
            <a:avLst/>
          </a:prstGeom>
          <a:solidFill>
            <a:srgbClr val="331D2C"/>
          </a:solidFill>
          <a:ln w="12700">
            <a:noFill/>
            <a:prstDash val="solid"/>
          </a:ln>
        </p:spPr>
        <p:txBody>
          <a:bodyPr/>
          <a:lstStyle/>
          <a:p>
            <a:endParaRPr lang="fr-MA" dirty="0"/>
          </a:p>
        </p:txBody>
      </p:sp>
      <p:sp>
        <p:nvSpPr>
          <p:cNvPr id="32" name="Text 30"/>
          <p:cNvSpPr/>
          <p:nvPr/>
        </p:nvSpPr>
        <p:spPr>
          <a:xfrm>
            <a:off x="6117336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17336" y="3383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17336" y="359359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summary,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content_blocks, tags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331D2C"/>
          </a:solidFill>
          <a:ln w="12700">
            <a:noFill/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b="1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template est un fichier Python indépendant → ajouter un nouveau type = créer 1 </a:t>
            </a:r>
            <a:r>
              <a:rPr lang="en-US" sz="900" b="1" dirty="0" err="1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</a:t>
            </a:r>
            <a:endParaRPr lang="en-US" sz="900" b="1" dirty="0">
              <a:solidFill>
                <a:srgbClr val="FFF5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7" name="Shape 1">
            <a:extLst>
              <a:ext uri="{FF2B5EF4-FFF2-40B4-BE49-F238E27FC236}">
                <a16:creationId xmlns:a16="http://schemas.microsoft.com/office/drawing/2014/main" id="{43324E0B-A58F-4CEF-A5EE-568157569FA8}"/>
              </a:ext>
            </a:extLst>
          </p:cNvPr>
          <p:cNvSpPr/>
          <p:nvPr/>
        </p:nvSpPr>
        <p:spPr>
          <a:xfrm>
            <a:off x="0" y="811073"/>
            <a:ext cx="9144000" cy="54864"/>
          </a:xfrm>
          <a:prstGeom prst="rect">
            <a:avLst/>
          </a:prstGeom>
          <a:solidFill>
            <a:srgbClr val="EFE1D1"/>
          </a:solidFill>
          <a:ln w="12700">
            <a:solidFill>
              <a:srgbClr val="EFE1D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31D2C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63353"/>
            <a:ext cx="4160520" cy="3977640"/>
          </a:xfrm>
          <a:prstGeom prst="rect">
            <a:avLst/>
          </a:prstGeom>
          <a:solidFill>
            <a:srgbClr val="FFF5F5"/>
          </a:solidFill>
          <a:ln w="12700">
            <a:solidFill>
              <a:srgbClr val="A782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dirty="0">
              <a:solidFill>
                <a:srgbClr val="FFF5F5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25667" y="173853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Prompt construit avec le template </a:t>
            </a: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6656" y="1709928"/>
            <a:ext cx="0" cy="237744"/>
          </a:xfrm>
          <a:prstGeom prst="line">
            <a:avLst/>
          </a:prstGeom>
          <a:noFill/>
          <a:ln w="12700">
            <a:solidFill>
              <a:srgbClr val="00C9A7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936934" y="2229485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Appel </a:t>
            </a:r>
            <a:r>
              <a:rPr lang="en-US" sz="950" dirty="0" err="1">
                <a:solidFill>
                  <a:srgbClr val="1F2937"/>
                </a:solidFill>
                <a:latin typeface="Consolas" pitchFamily="34" charset="0"/>
              </a:rPr>
              <a:t>client.chat.completions.create</a:t>
            </a:r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()</a:t>
            </a:r>
          </a:p>
        </p:txBody>
      </p:sp>
      <p:sp>
        <p:nvSpPr>
          <p:cNvPr id="16" name="Text 14"/>
          <p:cNvSpPr/>
          <p:nvPr/>
        </p:nvSpPr>
        <p:spPr>
          <a:xfrm>
            <a:off x="912440" y="27157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1F2937"/>
                </a:solidFill>
                <a:latin typeface="Consolas" pitchFamily="34" charset="0"/>
              </a:rPr>
              <a:t>Réponse</a:t>
            </a:r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 reçue (text brut)</a:t>
            </a:r>
          </a:p>
        </p:txBody>
      </p:sp>
      <p:sp>
        <p:nvSpPr>
          <p:cNvPr id="17" name="Shape 15"/>
          <p:cNvSpPr/>
          <p:nvPr/>
        </p:nvSpPr>
        <p:spPr>
          <a:xfrm>
            <a:off x="676656" y="2734056"/>
            <a:ext cx="0" cy="237744"/>
          </a:xfrm>
          <a:prstGeom prst="line">
            <a:avLst/>
          </a:prstGeom>
          <a:noFill/>
          <a:ln w="12700">
            <a:solidFill>
              <a:srgbClr val="00C9A7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936934" y="3206117"/>
            <a:ext cx="3474720" cy="309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Nettoyage fences markdown ``` json ```</a:t>
            </a:r>
          </a:p>
        </p:txBody>
      </p:sp>
      <p:sp>
        <p:nvSpPr>
          <p:cNvPr id="24" name="Text 22"/>
          <p:cNvSpPr/>
          <p:nvPr/>
        </p:nvSpPr>
        <p:spPr>
          <a:xfrm>
            <a:off x="936934" y="37199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Parsing json.loads() → </a:t>
            </a:r>
            <a:r>
              <a:rPr lang="en-US" sz="950" dirty="0" err="1">
                <a:solidFill>
                  <a:srgbClr val="1F2937"/>
                </a:solidFill>
                <a:latin typeface="Consolas" pitchFamily="34" charset="0"/>
              </a:rPr>
              <a:t>dict</a:t>
            </a:r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 Python</a:t>
            </a:r>
          </a:p>
        </p:txBody>
      </p:sp>
      <p:sp>
        <p:nvSpPr>
          <p:cNvPr id="28" name="Text 26"/>
          <p:cNvSpPr/>
          <p:nvPr/>
        </p:nvSpPr>
        <p:spPr>
          <a:xfrm>
            <a:off x="936934" y="4238883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Passage au </a:t>
            </a:r>
            <a:r>
              <a:rPr lang="en-US" sz="950" dirty="0" err="1">
                <a:solidFill>
                  <a:srgbClr val="1F2937"/>
                </a:solidFill>
                <a:latin typeface="Consolas" pitchFamily="34" charset="0"/>
              </a:rPr>
              <a:t>validateur</a:t>
            </a:r>
            <a:endParaRPr lang="en-US" sz="950" dirty="0">
              <a:solidFill>
                <a:srgbClr val="1F2937"/>
              </a:solidFill>
              <a:latin typeface="Consolas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40580" y="1063135"/>
            <a:ext cx="4160520" cy="3977640"/>
          </a:xfrm>
          <a:prstGeom prst="rect">
            <a:avLst/>
          </a:prstGeom>
          <a:solidFill>
            <a:srgbClr val="FFF5F5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31" name="Shape 29"/>
          <p:cNvSpPr/>
          <p:nvPr/>
        </p:nvSpPr>
        <p:spPr>
          <a:xfrm>
            <a:off x="4724616" y="1555472"/>
            <a:ext cx="3931920" cy="493776"/>
          </a:xfrm>
          <a:prstGeom prst="rect">
            <a:avLst/>
          </a:prstGeom>
          <a:solidFill>
            <a:srgbClr val="A7829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5992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ConnectionError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16056" y="17739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Retry ×3 avec sleep(2s) entre </a:t>
            </a:r>
            <a:r>
              <a:rPr lang="en-US" sz="950" dirty="0" err="1">
                <a:solidFill>
                  <a:srgbClr val="1F2937"/>
                </a:solidFill>
                <a:latin typeface="Consolas" pitchFamily="34" charset="0"/>
              </a:rPr>
              <a:t>chaque</a:t>
            </a:r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 tentative</a:t>
            </a:r>
          </a:p>
        </p:txBody>
      </p:sp>
      <p:sp>
        <p:nvSpPr>
          <p:cNvPr id="34" name="Shape 32"/>
          <p:cNvSpPr/>
          <p:nvPr/>
        </p:nvSpPr>
        <p:spPr>
          <a:xfrm>
            <a:off x="4739640" y="2208049"/>
            <a:ext cx="3931920" cy="493776"/>
          </a:xfrm>
          <a:prstGeom prst="rect">
            <a:avLst/>
          </a:prstGeom>
          <a:solidFill>
            <a:srgbClr val="A7829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243557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93851" y="240962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Arrêt immédiat, retour None (pas de retry)</a:t>
            </a:r>
          </a:p>
        </p:txBody>
      </p:sp>
      <p:sp>
        <p:nvSpPr>
          <p:cNvPr id="37" name="Shape 35"/>
          <p:cNvSpPr/>
          <p:nvPr/>
        </p:nvSpPr>
        <p:spPr>
          <a:xfrm>
            <a:off x="4739640" y="2835798"/>
            <a:ext cx="3931920" cy="493776"/>
          </a:xfrm>
          <a:prstGeom prst="rect">
            <a:avLst/>
          </a:prstGeom>
          <a:solidFill>
            <a:srgbClr val="A78295"/>
          </a:solidFill>
          <a:ln w="12700">
            <a:solidFill>
              <a:srgbClr val="8EA8C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35870" y="2903397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E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46320" y="3055435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Re-raise → remonter à l'appelant pour diagnostic</a:t>
            </a:r>
          </a:p>
        </p:txBody>
      </p:sp>
      <p:sp>
        <p:nvSpPr>
          <p:cNvPr id="40" name="Shape 38"/>
          <p:cNvSpPr/>
          <p:nvPr/>
        </p:nvSpPr>
        <p:spPr>
          <a:xfrm>
            <a:off x="4733615" y="3500968"/>
            <a:ext cx="3931920" cy="493776"/>
          </a:xfrm>
          <a:prstGeom prst="rect">
            <a:avLst/>
          </a:prstGeom>
          <a:solidFill>
            <a:srgbClr val="A7829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480347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9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invalide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46320" y="368595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Nettoyage fences markdown + second parsing</a:t>
            </a:r>
          </a:p>
        </p:txBody>
      </p:sp>
      <p:sp>
        <p:nvSpPr>
          <p:cNvPr id="43" name="Shape 41"/>
          <p:cNvSpPr/>
          <p:nvPr/>
        </p:nvSpPr>
        <p:spPr>
          <a:xfrm>
            <a:off x="4759307" y="4128070"/>
            <a:ext cx="3931920" cy="493776"/>
          </a:xfrm>
          <a:prstGeom prst="rect">
            <a:avLst/>
          </a:prstGeom>
          <a:solidFill>
            <a:srgbClr val="A7829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41839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Champs manquants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35870" y="4355193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</a:rPr>
              <a:t>Valeurs par défaut injectées par le </a:t>
            </a:r>
            <a:r>
              <a:rPr lang="en-US" sz="950" dirty="0" err="1">
                <a:solidFill>
                  <a:srgbClr val="1F2937"/>
                </a:solidFill>
                <a:latin typeface="Consolas" pitchFamily="34" charset="0"/>
              </a:rPr>
              <a:t>validateur</a:t>
            </a:r>
            <a:endParaRPr lang="en-US" sz="950" dirty="0">
              <a:solidFill>
                <a:srgbClr val="1F2937"/>
              </a:solidFill>
              <a:latin typeface="Consolas" pitchFamily="34" charset="0"/>
            </a:endParaRPr>
          </a:p>
        </p:txBody>
      </p:sp>
      <p:sp>
        <p:nvSpPr>
          <p:cNvPr id="46" name="Shape 0">
            <a:extLst>
              <a:ext uri="{FF2B5EF4-FFF2-40B4-BE49-F238E27FC236}">
                <a16:creationId xmlns:a16="http://schemas.microsoft.com/office/drawing/2014/main" id="{A0B2DBDA-DDF8-4CF9-9171-9528400B38EC}"/>
              </a:ext>
            </a:extLst>
          </p:cNvPr>
          <p:cNvSpPr/>
          <p:nvPr/>
        </p:nvSpPr>
        <p:spPr>
          <a:xfrm>
            <a:off x="54864" y="12047"/>
            <a:ext cx="9144000" cy="914400"/>
          </a:xfrm>
          <a:prstGeom prst="rect">
            <a:avLst/>
          </a:prstGeom>
          <a:solidFill>
            <a:srgbClr val="331D2C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MA" dirty="0"/>
          </a:p>
        </p:txBody>
      </p:sp>
      <p:sp>
        <p:nvSpPr>
          <p:cNvPr id="3" name="Text 1"/>
          <p:cNvSpPr/>
          <p:nvPr/>
        </p:nvSpPr>
        <p:spPr>
          <a:xfrm>
            <a:off x="274320" y="2468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— Appel API &amp; Gestion d'Erreurs</a:t>
            </a:r>
            <a:endParaRPr lang="en-US" sz="2200" dirty="0"/>
          </a:p>
        </p:txBody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6F7BA25E-4EA0-4918-8A07-99899FEB78AD}"/>
              </a:ext>
            </a:extLst>
          </p:cNvPr>
          <p:cNvSpPr/>
          <p:nvPr/>
        </p:nvSpPr>
        <p:spPr>
          <a:xfrm>
            <a:off x="228600" y="1069340"/>
            <a:ext cx="4160520" cy="365760"/>
          </a:xfrm>
          <a:prstGeom prst="rect">
            <a:avLst/>
          </a:prstGeom>
          <a:solidFill>
            <a:srgbClr val="331D2C"/>
          </a:solidFill>
          <a:ln w="12700">
            <a:noFill/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3741" y="110210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🌐  Flux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d'appel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API</a:t>
            </a:r>
          </a:p>
        </p:txBody>
      </p:sp>
      <p:sp>
        <p:nvSpPr>
          <p:cNvPr id="48" name="Shape 4">
            <a:extLst>
              <a:ext uri="{FF2B5EF4-FFF2-40B4-BE49-F238E27FC236}">
                <a16:creationId xmlns:a16="http://schemas.microsoft.com/office/drawing/2014/main" id="{35F6703E-7B33-4662-9485-895D99AD7337}"/>
              </a:ext>
            </a:extLst>
          </p:cNvPr>
          <p:cNvSpPr/>
          <p:nvPr/>
        </p:nvSpPr>
        <p:spPr>
          <a:xfrm>
            <a:off x="4640580" y="1056386"/>
            <a:ext cx="4160520" cy="365760"/>
          </a:xfrm>
          <a:prstGeom prst="rect">
            <a:avLst/>
          </a:prstGeom>
          <a:solidFill>
            <a:srgbClr val="331D2C"/>
          </a:solidFill>
          <a:ln w="12700">
            <a:noFill/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9307" y="106150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Gestion d'Erreurs &amp; Résilience</a:t>
            </a:r>
            <a:endParaRPr lang="en-US" sz="1200" dirty="0"/>
          </a:p>
        </p:txBody>
      </p:sp>
      <p:sp>
        <p:nvSpPr>
          <p:cNvPr id="56" name="Shape 4">
            <a:extLst>
              <a:ext uri="{FF2B5EF4-FFF2-40B4-BE49-F238E27FC236}">
                <a16:creationId xmlns:a16="http://schemas.microsoft.com/office/drawing/2014/main" id="{F9CA293D-3D9A-46D5-BA16-F75CC95A6AF7}"/>
              </a:ext>
            </a:extLst>
          </p:cNvPr>
          <p:cNvSpPr/>
          <p:nvPr/>
        </p:nvSpPr>
        <p:spPr>
          <a:xfrm>
            <a:off x="494013" y="4202031"/>
            <a:ext cx="353566" cy="354330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 1</a:t>
            </a:r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7" name="Shape 4">
            <a:extLst>
              <a:ext uri="{FF2B5EF4-FFF2-40B4-BE49-F238E27FC236}">
                <a16:creationId xmlns:a16="http://schemas.microsoft.com/office/drawing/2014/main" id="{C900AEC1-B568-490F-8520-91F517E1BADA}"/>
              </a:ext>
            </a:extLst>
          </p:cNvPr>
          <p:cNvSpPr/>
          <p:nvPr/>
        </p:nvSpPr>
        <p:spPr>
          <a:xfrm>
            <a:off x="467434" y="2685778"/>
            <a:ext cx="353566" cy="354330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 1</a:t>
            </a:r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5B22CF25-4D13-4B71-A893-39F671CA0903}"/>
              </a:ext>
            </a:extLst>
          </p:cNvPr>
          <p:cNvSpPr/>
          <p:nvPr/>
        </p:nvSpPr>
        <p:spPr>
          <a:xfrm>
            <a:off x="478465" y="3696462"/>
            <a:ext cx="353566" cy="354330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0352" y="3465575"/>
            <a:ext cx="247540" cy="789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5F5"/>
                </a:solidFill>
              </a:rPr>
              <a:t>5</a:t>
            </a:r>
            <a:endParaRPr lang="en-US" sz="900" dirty="0">
              <a:solidFill>
                <a:srgbClr val="FFF5F5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94014" y="3966318"/>
            <a:ext cx="338036" cy="81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5F5"/>
                </a:solidFill>
              </a:rPr>
              <a:t>6</a:t>
            </a:r>
            <a:endParaRPr lang="en-US" sz="900" dirty="0">
              <a:solidFill>
                <a:srgbClr val="FFF5F5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0351" y="2725438"/>
            <a:ext cx="3197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5F5"/>
                </a:solidFill>
              </a:rPr>
              <a:t>3</a:t>
            </a:r>
            <a:endParaRPr lang="en-US" sz="900" dirty="0">
              <a:solidFill>
                <a:srgbClr val="FFF5F5"/>
              </a:solidFill>
            </a:endParaRPr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ECE69165-66C5-463D-A44B-733B7F8A865A}"/>
              </a:ext>
            </a:extLst>
          </p:cNvPr>
          <p:cNvSpPr/>
          <p:nvPr/>
        </p:nvSpPr>
        <p:spPr>
          <a:xfrm>
            <a:off x="478484" y="2186676"/>
            <a:ext cx="353566" cy="354330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3210" y="1929383"/>
            <a:ext cx="319749" cy="893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5F5"/>
                </a:solidFill>
              </a:rPr>
              <a:t>2</a:t>
            </a:r>
            <a:endParaRPr lang="en-US" sz="900" dirty="0">
              <a:solidFill>
                <a:srgbClr val="FFF5F5"/>
              </a:solidFill>
            </a:endParaRPr>
          </a:p>
        </p:txBody>
      </p:sp>
      <p:sp>
        <p:nvSpPr>
          <p:cNvPr id="60" name="Shape 4">
            <a:extLst>
              <a:ext uri="{FF2B5EF4-FFF2-40B4-BE49-F238E27FC236}">
                <a16:creationId xmlns:a16="http://schemas.microsoft.com/office/drawing/2014/main" id="{80138965-2100-4914-A35B-D506AB46203D}"/>
              </a:ext>
            </a:extLst>
          </p:cNvPr>
          <p:cNvSpPr/>
          <p:nvPr/>
        </p:nvSpPr>
        <p:spPr>
          <a:xfrm>
            <a:off x="478465" y="3191892"/>
            <a:ext cx="353566" cy="354330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7433" y="3200654"/>
            <a:ext cx="3801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5F5"/>
                </a:solidFill>
              </a:rPr>
              <a:t>4</a:t>
            </a:r>
            <a:endParaRPr lang="en-US" sz="900" dirty="0">
              <a:solidFill>
                <a:srgbClr val="FFF5F5"/>
              </a:solidFill>
            </a:endParaRPr>
          </a:p>
        </p:txBody>
      </p:sp>
      <p:sp>
        <p:nvSpPr>
          <p:cNvPr id="62" name="Shape 4">
            <a:extLst>
              <a:ext uri="{FF2B5EF4-FFF2-40B4-BE49-F238E27FC236}">
                <a16:creationId xmlns:a16="http://schemas.microsoft.com/office/drawing/2014/main" id="{D4718565-B90E-4C9A-B6B7-959E964E520E}"/>
              </a:ext>
            </a:extLst>
          </p:cNvPr>
          <p:cNvSpPr/>
          <p:nvPr/>
        </p:nvSpPr>
        <p:spPr>
          <a:xfrm>
            <a:off x="470790" y="1686895"/>
            <a:ext cx="353566" cy="354330"/>
          </a:xfrm>
          <a:prstGeom prst="ellipse">
            <a:avLst/>
          </a:prstGeom>
          <a:solidFill>
            <a:srgbClr val="3F2E3E"/>
          </a:solidFill>
          <a:ln w="12700">
            <a:noFill/>
            <a:prstDash val="solid"/>
          </a:ln>
          <a:effectLst/>
        </p:spPr>
        <p:txBody>
          <a:bodyPr/>
          <a:lstStyle/>
          <a:p>
            <a:r>
              <a:rPr lang="en-US" sz="2000" b="1" dirty="0">
                <a:solidFill>
                  <a:srgbClr val="FFF5F5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fr-MA" sz="2000" b="1" dirty="0">
              <a:solidFill>
                <a:srgbClr val="FFF5F5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0352" y="1417320"/>
            <a:ext cx="2475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5F5"/>
                </a:solidFill>
              </a:rPr>
              <a:t>1</a:t>
            </a:r>
            <a:endParaRPr lang="en-US" sz="900" dirty="0">
              <a:solidFill>
                <a:srgbClr val="FFF5F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3543"/>
            <a:ext cx="9144000" cy="914400"/>
          </a:xfrm>
          <a:prstGeom prst="rect">
            <a:avLst/>
          </a:prstGeom>
          <a:solidFill>
            <a:srgbClr val="331D2C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25141"/>
            <a:ext cx="9144000" cy="50292"/>
          </a:xfrm>
          <a:prstGeom prst="rect">
            <a:avLst/>
          </a:prstGeom>
          <a:solidFill>
            <a:srgbClr val="A78295"/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— Rendu Document Word (.docx)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60520" cy="1691640"/>
          </a:xfrm>
          <a:prstGeom prst="rect">
            <a:avLst/>
          </a:prstGeom>
          <a:solidFill>
            <a:srgbClr val="FFF5F5"/>
          </a:solidFill>
          <a:ln w="19050">
            <a:solidFill>
              <a:srgbClr val="A782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4160520" cy="365760"/>
          </a:xfrm>
          <a:prstGeom prst="rect">
            <a:avLst/>
          </a:prstGeom>
          <a:solidFill>
            <a:srgbClr val="A78295"/>
          </a:solidFill>
          <a:ln w="12700">
            <a:solidFill>
              <a:srgbClr val="1E5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Mise en forme professionnelle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48056" y="1508760"/>
            <a:ext cx="3886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centrés avec styles Heading 1/2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à puces formatées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couleur par priorité (rouge/orange/vert)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de confiance pour Q&amp;A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27448" y="1097280"/>
            <a:ext cx="4160520" cy="1691640"/>
          </a:xfrm>
          <a:prstGeom prst="rect">
            <a:avLst/>
          </a:prstGeom>
          <a:solidFill>
            <a:srgbClr val="EFE1D1"/>
          </a:solidFill>
          <a:ln w="19050">
            <a:solidFill>
              <a:srgbClr val="A782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1097280"/>
            <a:ext cx="4160520" cy="365760"/>
          </a:xfrm>
          <a:prstGeom prst="rect">
            <a:avLst/>
          </a:prstGeom>
          <a:solidFill>
            <a:srgbClr val="A78295"/>
          </a:solidFill>
          <a:ln w="12700">
            <a:solidFill>
              <a:srgbClr val="1A5C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7176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Tableaux colorés (Todo)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55464" y="1508760"/>
            <a:ext cx="3886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En-têtes colorés en bleu marine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: Tâche / Priorité / Date / Statut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Couleurs conditionnelles par priorité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Alternance ligne claire/foncée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971800"/>
            <a:ext cx="4160520" cy="1691640"/>
          </a:xfrm>
          <a:prstGeom prst="rect">
            <a:avLst/>
          </a:prstGeom>
          <a:solidFill>
            <a:srgbClr val="EFE1D1"/>
          </a:solidFill>
          <a:ln w="19050">
            <a:solidFill>
              <a:srgbClr val="A782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71800"/>
            <a:ext cx="4160520" cy="365760"/>
          </a:xfrm>
          <a:prstGeom prst="rect">
            <a:avLst/>
          </a:prstGeom>
          <a:solidFill>
            <a:srgbClr val="A78295"/>
          </a:solidFill>
          <a:ln w="12700">
            <a:solidFill>
              <a:srgbClr val="4A1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Moteur modulaire python-docx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8056" y="3383280"/>
            <a:ext cx="3886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renderer dédié par type de note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réutilisables entre templates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facile de nouvelles mises en forme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100% Python natif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27448" y="2971800"/>
            <a:ext cx="4160520" cy="1691640"/>
          </a:xfrm>
          <a:prstGeom prst="rect">
            <a:avLst/>
          </a:prstGeom>
          <a:solidFill>
            <a:srgbClr val="FFF5F5"/>
          </a:solidFill>
          <a:ln w="19050">
            <a:solidFill>
              <a:srgbClr val="5C4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27448" y="2971800"/>
            <a:ext cx="4160520" cy="365760"/>
          </a:xfrm>
          <a:prstGeom prst="rect">
            <a:avLst/>
          </a:prstGeom>
          <a:solidFill>
            <a:srgbClr val="A78295"/>
          </a:solidFill>
          <a:ln w="12700">
            <a:solidFill>
              <a:srgbClr val="5C4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Résultat immédiatement utilisable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55464" y="3383280"/>
            <a:ext cx="3886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Word, LibreOffice, Google Docs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sémantique (pas juste du texte)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de fichier automatique depuis le titre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output/ organisé et lisible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331D2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Librairie : python-docx  |  Aucune dépendance Microsoft Office requise  |  100% open source</a:t>
            </a:r>
            <a:endParaRPr lang="en-US" sz="950" dirty="0">
              <a:solidFill>
                <a:srgbClr val="FFF5F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3543"/>
            <a:ext cx="9144000" cy="54864"/>
          </a:xfrm>
          <a:prstGeom prst="rect">
            <a:avLst/>
          </a:prstGeom>
          <a:solidFill>
            <a:srgbClr val="A7829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1321"/>
            <a:ext cx="9144000" cy="656191"/>
          </a:xfrm>
          <a:prstGeom prst="rect">
            <a:avLst/>
          </a:prstGeom>
          <a:solidFill>
            <a:srgbClr val="331D2C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	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Résultats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886200" cy="3977640"/>
          </a:xfrm>
          <a:prstGeom prst="rect">
            <a:avLst/>
          </a:prstGeom>
          <a:solidFill>
            <a:srgbClr val="FFF5F5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3886200" cy="34747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AVANT — Note brute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36210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15 meet w alice bob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goals + fix auth bug!!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 next week??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alice: check the logs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bob: update readme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dont forget standup tmrw 9am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also budget review pending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mgr about Q2 roadmap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251960" y="2560320"/>
            <a:ext cx="640080" cy="5943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D1717"/>
                </a:solidFill>
              </a:rPr>
              <a:t>→</a:t>
            </a:r>
            <a:endParaRPr lang="en-US" sz="3200" dirty="0">
              <a:solidFill>
                <a:srgbClr val="4D1717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206240" y="31821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750" dirty="0">
              <a:solidFill>
                <a:srgbClr val="331D2C"/>
              </a:solidFill>
            </a:endParaRPr>
          </a:p>
          <a:p>
            <a:pPr marL="0" indent="0" algn="ctr">
              <a:buNone/>
            </a:pPr>
            <a:r>
              <a:rPr lang="en-US" sz="750" dirty="0">
                <a:solidFill>
                  <a:srgbClr val="33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</a:t>
            </a:r>
            <a:endParaRPr lang="en-US" sz="750" dirty="0">
              <a:solidFill>
                <a:srgbClr val="331D2C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983480" y="868680"/>
            <a:ext cx="3886200" cy="3977640"/>
          </a:xfrm>
          <a:prstGeom prst="rect">
            <a:avLst/>
          </a:prstGeom>
          <a:solidFill>
            <a:srgbClr val="A78295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868680"/>
            <a:ext cx="3886200" cy="347472"/>
          </a:xfrm>
          <a:prstGeom prst="rect">
            <a:avLst/>
          </a:prstGeom>
          <a:solidFill>
            <a:srgbClr val="4D171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868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APRÈS — Document .docx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1298448"/>
            <a:ext cx="36210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Compte-Rendu de Réunion</a:t>
            </a:r>
            <a:endParaRPr lang="en-US" sz="1200" dirty="0">
              <a:solidFill>
                <a:srgbClr val="4D1717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Janvier 2024</a:t>
            </a:r>
            <a:r>
              <a:rPr lang="en-US" sz="900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>
              <a:solidFill>
                <a:srgbClr val="4D1717"/>
              </a:solidFill>
            </a:endParaRPr>
          </a:p>
          <a:p>
            <a:pPr marL="0" indent="0">
              <a:buNone/>
            </a:pPr>
            <a:r>
              <a:rPr lang="en-US" sz="950" b="1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</a:t>
            </a:r>
            <a:r>
              <a:rPr lang="en-US" sz="9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Alice, Bob</a:t>
            </a:r>
            <a:r>
              <a:rPr lang="en-US" sz="950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>
              <a:solidFill>
                <a:srgbClr val="4D1717"/>
              </a:solidFill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
</a:t>
            </a:r>
            <a:endParaRPr lang="en-US" sz="1200" dirty="0">
              <a:solidFill>
                <a:srgbClr val="4D1717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des objectifs Q1 et
identification des blocages.</a:t>
            </a:r>
            <a:r>
              <a:rPr lang="en-US" sz="900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>
              <a:solidFill>
                <a:srgbClr val="4D1717"/>
              </a:solidFill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à mener
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Corriger le bug d'authentification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Déployer en semaine prochaine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Vérifier les logs (Alice)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Mettre à jour le README (Bob)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Q2 : planifier revue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1D2C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0292"/>
          </a:xfrm>
          <a:prstGeom prst="rect">
            <a:avLst/>
          </a:prstGeom>
          <a:solidFill>
            <a:srgbClr val="A78295"/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Outils, Technologies &amp; Apprentissages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069080" cy="1719072"/>
          </a:xfrm>
          <a:prstGeom prst="rect">
            <a:avLst/>
          </a:prstGeom>
          <a:solidFill>
            <a:srgbClr val="FFF5F5"/>
          </a:solidFill>
          <a:ln w="19050">
            <a:solidFill>
              <a:srgbClr val="A782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4069080" cy="347472"/>
          </a:xfrm>
          <a:prstGeom prst="rect">
            <a:avLst/>
          </a:prstGeom>
          <a:solidFill>
            <a:srgbClr val="4D1717"/>
          </a:solidFill>
          <a:ln w="12700">
            <a:solidFill>
              <a:srgbClr val="1E5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Technologies utilisées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48056" y="1481328"/>
            <a:ext cx="38221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— langage principal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(Llama 3.1) — moteur IA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— génération Word native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— gestion des clés API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contrôle de version &amp; collaboration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078992"/>
            <a:ext cx="4069080" cy="1719072"/>
          </a:xfrm>
          <a:prstGeom prst="rect">
            <a:avLst/>
          </a:prstGeom>
          <a:solidFill>
            <a:srgbClr val="FFF5F5"/>
          </a:solidFill>
          <a:ln w="19050">
            <a:solidFill>
              <a:srgbClr val="A782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78992"/>
            <a:ext cx="4069080" cy="347472"/>
          </a:xfrm>
          <a:prstGeom prst="rect">
            <a:avLst/>
          </a:prstGeom>
          <a:solidFill>
            <a:srgbClr val="37353E"/>
          </a:solidFill>
          <a:ln w="12700">
            <a:solidFill>
              <a:srgbClr val="1A5C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Concepts maîtrisés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37176" y="1481328"/>
            <a:ext cx="38221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structuration JSON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 &amp; séparation concerns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d'API avec retry logic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JSON + validation de schéma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de texte (heuristique + IA)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4069080" cy="1719072"/>
          </a:xfrm>
          <a:prstGeom prst="rect">
            <a:avLst/>
          </a:prstGeom>
          <a:solidFill>
            <a:srgbClr val="FFF5F5"/>
          </a:solidFill>
          <a:ln w="19050">
            <a:solidFill>
              <a:srgbClr val="A782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26080"/>
            <a:ext cx="4069080" cy="347472"/>
          </a:xfrm>
          <a:prstGeom prst="rect">
            <a:avLst/>
          </a:prstGeom>
          <a:solidFill>
            <a:srgbClr val="A78295"/>
          </a:solidFill>
          <a:ln w="12700">
            <a:solidFill>
              <a:srgbClr val="5C4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Méthodologie de développement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8056" y="3328416"/>
            <a:ext cx="38221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: pipeline core (1 type)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: extension multi-types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équipe avec branches Git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environments (venv)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manuels sur notes réelles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069080" cy="1719072"/>
          </a:xfrm>
          <a:prstGeom prst="rect">
            <a:avLst/>
          </a:prstGeom>
          <a:solidFill>
            <a:srgbClr val="FFF5F5"/>
          </a:solidFill>
          <a:ln w="19050">
            <a:solidFill>
              <a:srgbClr val="A782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26080"/>
            <a:ext cx="4069080" cy="347472"/>
          </a:xfrm>
          <a:prstGeom prst="rect">
            <a:avLst/>
          </a:prstGeom>
          <a:solidFill>
            <a:srgbClr val="EFE1D1"/>
          </a:solidFill>
          <a:ln w="12700">
            <a:solidFill>
              <a:srgbClr val="4A1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Compétences transversales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37176" y="3328416"/>
            <a:ext cx="38221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sécurisée des clés API (.env)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contenu / présentation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et README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de code entre membres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de tokens (routage API)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77824"/>
            <a:ext cx="8412480" cy="1024128"/>
          </a:xfrm>
          <a:prstGeom prst="rect">
            <a:avLst/>
          </a:prstGeom>
          <a:solidFill>
            <a:srgbClr val="A78295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Bilan — Ce que nous avons livré</a:t>
            </a:r>
            <a:endParaRPr lang="en-US" sz="1200" dirty="0">
              <a:solidFill>
                <a:srgbClr val="4D1717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fonctionnel de bout en bout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types de notes supportés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 extensible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propre, commenté, versionné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2048256"/>
            <a:ext cx="3657600" cy="292608"/>
          </a:xfrm>
          <a:prstGeom prst="rect">
            <a:avLst/>
          </a:prstGeom>
          <a:solidFill>
            <a:srgbClr val="331D2C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Prochaines étapes</a:t>
            </a:r>
            <a:endParaRPr lang="en-US" sz="1200" dirty="0">
              <a:solidFill>
                <a:srgbClr val="EFE1D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2011680" cy="2468880"/>
          </a:xfrm>
          <a:prstGeom prst="rect">
            <a:avLst/>
          </a:prstGeom>
          <a:solidFill>
            <a:srgbClr val="EFE1D1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423160"/>
            <a:ext cx="2011680" cy="320040"/>
          </a:xfrm>
          <a:prstGeom prst="rect">
            <a:avLst/>
          </a:prstGeom>
          <a:solidFill>
            <a:srgbClr val="4D1717"/>
          </a:solidFill>
          <a:ln w="12700">
            <a:solidFill>
              <a:srgbClr val="2A1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42316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A623"/>
                </a:solidFill>
              </a:rPr>
              <a:t>V2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2816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8912" y="32461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3547872"/>
            <a:ext cx="1865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REST + frontend navigateur pour usage sans terminal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14600" y="2423160"/>
            <a:ext cx="2011680" cy="2468880"/>
          </a:xfrm>
          <a:prstGeom prst="rect">
            <a:avLst/>
          </a:prstGeom>
          <a:solidFill>
            <a:srgbClr val="EFE1D1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2423160"/>
            <a:ext cx="2011680" cy="320040"/>
          </a:xfrm>
          <a:prstGeom prst="rect">
            <a:avLst/>
          </a:prstGeom>
          <a:solidFill>
            <a:srgbClr val="4D1717"/>
          </a:solidFill>
          <a:ln w="12700">
            <a:solidFill>
              <a:srgbClr val="2A1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242316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A623"/>
                </a:solidFill>
              </a:rPr>
              <a:t>V2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14600" y="2816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587752" y="32461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Multi-API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87752" y="3547872"/>
            <a:ext cx="1865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Réintégration Gemini Flash pour routage intelligent et économie de tokens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2423160"/>
            <a:ext cx="2011680" cy="2468880"/>
          </a:xfrm>
          <a:prstGeom prst="rect">
            <a:avLst/>
          </a:prstGeom>
          <a:solidFill>
            <a:srgbClr val="EFE1D1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423160"/>
            <a:ext cx="2011680" cy="320040"/>
          </a:xfrm>
          <a:prstGeom prst="rect">
            <a:avLst/>
          </a:prstGeom>
          <a:solidFill>
            <a:srgbClr val="4D1717"/>
          </a:solidFill>
          <a:ln w="12700">
            <a:solidFill>
              <a:srgbClr val="2A1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42316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A623"/>
                </a:solidFill>
              </a:rPr>
              <a:t>V3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63440" y="2816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📸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736592" y="32461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Images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36592" y="3547872"/>
            <a:ext cx="1865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des notes manuscrites et photos via reconnaissance optique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12280" y="2423160"/>
            <a:ext cx="2011680" cy="2468880"/>
          </a:xfrm>
          <a:prstGeom prst="rect">
            <a:avLst/>
          </a:prstGeom>
          <a:solidFill>
            <a:srgbClr val="EFE1D1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2423160"/>
            <a:ext cx="2011680" cy="320040"/>
          </a:xfrm>
          <a:prstGeom prst="rect">
            <a:avLst/>
          </a:prstGeom>
          <a:solidFill>
            <a:srgbClr val="4D1717"/>
          </a:solidFill>
          <a:ln w="12700">
            <a:solidFill>
              <a:srgbClr val="2A1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242316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A623"/>
                </a:solidFill>
              </a:rPr>
              <a:t>V3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12280" y="2816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885432" y="32461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&amp; BDD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85432" y="3547872"/>
            <a:ext cx="1865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des notes structurées, recherche et export en lot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22298" y="4923468"/>
            <a:ext cx="7714771" cy="197172"/>
          </a:xfrm>
          <a:prstGeom prst="rect">
            <a:avLst/>
          </a:prstGeom>
          <a:solidFill>
            <a:srgbClr val="331D2C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2" y="48411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: évoluer vers un assistant de productivité complet, accessible via navigateur, utilisable par tous.</a:t>
            </a:r>
            <a:endParaRPr lang="en-US" sz="950" dirty="0"/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2A98A2DE-7A0F-4E2A-B461-980B34D80511}"/>
              </a:ext>
            </a:extLst>
          </p:cNvPr>
          <p:cNvSpPr/>
          <p:nvPr/>
        </p:nvSpPr>
        <p:spPr>
          <a:xfrm>
            <a:off x="54864" y="-9144"/>
            <a:ext cx="9089136" cy="740664"/>
          </a:xfrm>
          <a:prstGeom prst="rect">
            <a:avLst/>
          </a:prstGeom>
          <a:solidFill>
            <a:srgbClr val="331D2C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MA" dirty="0"/>
          </a:p>
        </p:txBody>
      </p:sp>
      <p:sp>
        <p:nvSpPr>
          <p:cNvPr id="3" name="Text 1"/>
          <p:cNvSpPr/>
          <p:nvPr/>
        </p:nvSpPr>
        <p:spPr>
          <a:xfrm>
            <a:off x="484632" y="1143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A782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331D2C">
              <a:alpha val="10000"/>
            </a:srgbClr>
          </a:solidFill>
          <a:ln w="12700">
            <a:solidFill>
              <a:srgbClr val="A7829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4D1717">
              <a:alpha val="15000"/>
            </a:srgbClr>
          </a:solidFill>
          <a:ln w="12700">
            <a:solidFill>
              <a:srgbClr val="A78295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229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926080" y="1664208"/>
            <a:ext cx="3291840" cy="50292"/>
          </a:xfrm>
          <a:prstGeom prst="rect">
            <a:avLst/>
          </a:prstGeom>
          <a:solidFill>
            <a:srgbClr val="EFE1D1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D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Note Agent — Projet de Fin de Semestre</a:t>
            </a:r>
            <a:endParaRPr lang="en-US" sz="1300" dirty="0">
              <a:solidFill>
                <a:srgbClr val="4D1717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429000" y="2331720"/>
            <a:ext cx="2286000" cy="2286000"/>
          </a:xfrm>
          <a:prstGeom prst="ellipse">
            <a:avLst/>
          </a:prstGeom>
          <a:solidFill>
            <a:srgbClr val="331D2C"/>
          </a:solidFill>
          <a:ln w="25400">
            <a:solidFill>
              <a:srgbClr val="A7829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3317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EF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000" dirty="0">
              <a:solidFill>
                <a:srgbClr val="EFE1D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926080" y="4663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0" y="91440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123444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155448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91440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2360" y="123444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52360" y="155448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91440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0" y="123444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155448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92440" y="91440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2440" y="123444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92440" y="155448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0" y="91440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123444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12480" y="1554480"/>
            <a:ext cx="91440" cy="91440"/>
          </a:xfrm>
          <a:prstGeom prst="ellipse">
            <a:avLst/>
          </a:prstGeom>
          <a:solidFill>
            <a:srgbClr val="4D1717">
              <a:alpha val="45000"/>
            </a:srgbClr>
          </a:solidFill>
          <a:ln w="12700">
            <a:solidFill>
              <a:srgbClr val="A78295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1251</Words>
  <Application>Microsoft Office PowerPoint</Application>
  <PresentationFormat>Affichage à l'écran (16:9)</PresentationFormat>
  <Paragraphs>274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Consolas</vt:lpstr>
      <vt:lpstr>Courier New</vt:lpstr>
      <vt:lpstr>Montserrat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Note Agent</dc:title>
  <dc:subject>PptxGenJS Presentation</dc:subject>
  <dc:creator>Équipe AI Note Agent</dc:creator>
  <cp:lastModifiedBy>HEBA SADKE</cp:lastModifiedBy>
  <cp:revision>18</cp:revision>
  <dcterms:created xsi:type="dcterms:W3CDTF">2026-04-27T21:58:12Z</dcterms:created>
  <dcterms:modified xsi:type="dcterms:W3CDTF">2026-04-29T00:56:00Z</dcterms:modified>
</cp:coreProperties>
</file>