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ng37b5jgueyg/mnt/agents/output/ai_note_agent/images/1_AI_for_Note_Taking_The_Complete_Guide.png">    </p:cNvPr>
          <p:cNvPicPr>
            <a:picLocks noChangeAspect="1"/>
          </p:cNvPicPr>
          <p:nvPr/>
        </p:nvPicPr>
        <p:blipFill>
          <a:blip r:embed="rId1"/>
          <a:srcRect l="2137" r="213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5F"/>
              </a:gs>
              <a:gs pos="55000">
                <a:srgbClr val="1B3A5F">
                  <a:alpha val="90000"/>
                </a:srgbClr>
              </a:gs>
              <a:gs pos="100000">
                <a:srgbClr val="1B3A5F">
                  <a:alpha val="25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16000" y="2921000"/>
            <a:ext cx="1016000" cy="508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1750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Note Agent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 la note brute au document professionnel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16000" y="482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Système intelligent de structuration automatique de notes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16000" y="5461000"/>
            <a:ext cx="635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715000"/>
            <a:ext cx="762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Équipe 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[Noms des membres]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Filière 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Informatique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Encadrant 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[Nom de l'encadrant]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[Date de la soutenance]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Problématique &amp; Introduction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80962"/>
                </a:moveTo>
                <a:cubicBezTo>
                  <a:pt x="160318" y="80962"/>
                  <a:pt x="166688" y="87332"/>
                  <a:pt x="166688" y="95250"/>
                </a:cubicBezTo>
                <a:lnTo>
                  <a:pt x="166688" y="161925"/>
                </a:lnTo>
                <a:cubicBezTo>
                  <a:pt x="166688" y="169843"/>
                  <a:pt x="160318" y="176212"/>
                  <a:pt x="152400" y="176212"/>
                </a:cubicBezTo>
                <a:cubicBezTo>
                  <a:pt x="144482" y="176212"/>
                  <a:pt x="138113" y="169843"/>
                  <a:pt x="138113" y="161925"/>
                </a:cubicBezTo>
                <a:lnTo>
                  <a:pt x="138113" y="95250"/>
                </a:lnTo>
                <a:cubicBezTo>
                  <a:pt x="138113" y="87332"/>
                  <a:pt x="144482" y="80962"/>
                  <a:pt x="152400" y="80962"/>
                </a:cubicBezTo>
                <a:close/>
                <a:moveTo>
                  <a:pt x="136505" y="209550"/>
                </a:moveTo>
                <a:cubicBezTo>
                  <a:pt x="136144" y="203650"/>
                  <a:pt x="139086" y="198037"/>
                  <a:pt x="144144" y="194977"/>
                </a:cubicBezTo>
                <a:cubicBezTo>
                  <a:pt x="149201" y="191918"/>
                  <a:pt x="155539" y="191918"/>
                  <a:pt x="160597" y="194977"/>
                </a:cubicBezTo>
                <a:cubicBezTo>
                  <a:pt x="165655" y="198037"/>
                  <a:pt x="168597" y="203650"/>
                  <a:pt x="168235" y="209550"/>
                </a:cubicBezTo>
                <a:cubicBezTo>
                  <a:pt x="168597" y="215450"/>
                  <a:pt x="165655" y="221063"/>
                  <a:pt x="160597" y="224123"/>
                </a:cubicBezTo>
                <a:cubicBezTo>
                  <a:pt x="155539" y="227182"/>
                  <a:pt x="149201" y="227182"/>
                  <a:pt x="144144" y="224123"/>
                </a:cubicBezTo>
                <a:cubicBezTo>
                  <a:pt x="139086" y="221063"/>
                  <a:pt x="136144" y="215450"/>
                  <a:pt x="136505" y="209550"/>
                </a:cubicBezTo>
                <a:close/>
              </a:path>
            </a:pathLst>
          </a:custGeom>
          <a:solidFill>
            <a:srgbClr val="C9802F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" y="152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19558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Les étudiants et professionnels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perdent des heures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à reformater des notes désorganisées prises à la volée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Mélange de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texte libre, abréviations, dates informelles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sans structure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Coût en temps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perte d'informations, difficulté de partage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20100" y="1524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1B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8788400" y="152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1955800"/>
            <a:ext cx="7112000" cy="26670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2159000"/>
            <a:ext cx="6604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IA autonome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qui 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les notes brutes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Comprend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et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 contenu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 document formaté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Exporte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automatiquement en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.docx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482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257800"/>
            <a:ext cx="71120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5384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765800"/>
            <a:ext cx="6604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 w alice bob tomorrow 2pm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 project roadmap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items: alice prep slides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bob check budget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remind team about deadline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6350000"/>
            <a:ext cx="508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B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2000" y="5257800"/>
            <a:ext cx="71120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6000" y="53848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APRÈS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5765800"/>
            <a:ext cx="6604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Réunion : Project Roadmap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Demain, 14h00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Participants 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Alice, Bob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abordés 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Feuille de route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Alice — Préparer les slides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Bob — Vérifier le budget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Système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pic>
        <p:nvPicPr>
          <p:cNvPr id="10" name="Image 0" descr="https://kimi-img.moonshot.cn/pub/slides/okc/ung37b5jgueyg/mnt/agents/output/ai_note_agent/images/3_83_598_Abstract_Neural_Network_Royalty.png">    </p:cNvPr>
          <p:cNvPicPr>
            <a:picLocks noChangeAspect="1"/>
          </p:cNvPicPr>
          <p:nvPr/>
        </p:nvPicPr>
        <p:blipFill>
          <a:blip r:embed="rId1"/>
          <a:srcRect l="8276" r="8276" t="0" b="0"/>
          <a:stretch/>
        </p:blipFill>
        <p:spPr>
          <a:xfrm>
            <a:off x="8890000" y="1524000"/>
            <a:ext cx="6604000" cy="4445000"/>
          </a:xfrm>
          <a:prstGeom prst="roundRect">
            <a:avLst>
              <a:gd name="adj" fmla="val 8000"/>
            </a:avLst>
          </a:prstGeom>
        </p:spPr>
      </p:pic>
      <p:sp>
        <p:nvSpPr>
          <p:cNvPr id="11" name="Shape 8"/>
          <p:cNvSpPr/>
          <p:nvPr/>
        </p:nvSpPr>
        <p:spPr>
          <a:xfrm>
            <a:off x="762000" y="1524000"/>
            <a:ext cx="762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12" name="Text 9"/>
          <p:cNvSpPr/>
          <p:nvPr/>
        </p:nvSpPr>
        <p:spPr>
          <a:xfrm>
            <a:off x="965200" y="15240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Entrée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Fichiers .txt (notes brutes)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2209800"/>
            <a:ext cx="762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965200" y="22098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Heuristique + API Groq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2895600"/>
            <a:ext cx="762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965200" y="28956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Templates JSON par type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3581400"/>
            <a:ext cx="762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965200" y="35814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Appel Groq + retry logic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4267200"/>
            <a:ext cx="762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965200" y="42672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Vérification champs + défauts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4953000"/>
            <a:ext cx="76200" cy="5588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22" name="Text 19"/>
          <p:cNvSpPr/>
          <p:nvPr/>
        </p:nvSpPr>
        <p:spPr>
          <a:xfrm>
            <a:off x="965200" y="49530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Rendu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Générateurs docx (python-docx)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000" y="5638800"/>
            <a:ext cx="76200" cy="5588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24" name="Text 21"/>
          <p:cNvSpPr/>
          <p:nvPr/>
        </p:nvSpPr>
        <p:spPr>
          <a:xfrm>
            <a:off x="965200" y="5638800"/>
            <a:ext cx="762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Sortie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Documents .docx formatés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0100" y="2082800"/>
            <a:ext cx="0" cy="127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800100" y="2768600"/>
            <a:ext cx="0" cy="127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800100" y="3454400"/>
            <a:ext cx="0" cy="127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8" name="Shape 25"/>
          <p:cNvSpPr/>
          <p:nvPr/>
        </p:nvSpPr>
        <p:spPr>
          <a:xfrm>
            <a:off x="800100" y="4140200"/>
            <a:ext cx="0" cy="127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800100" y="4826000"/>
            <a:ext cx="0" cy="127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800100" y="5511800"/>
            <a:ext cx="0" cy="127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2" name="Text 29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Workflow Global de l'Agent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651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651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057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fichier .txt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94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302000" y="1651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302000" y="1651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02000" y="2057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type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42000" y="1651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842000" y="1651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42000" y="2057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Chargement template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74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382000" y="1651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C9802F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1651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2057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Appel API Groq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14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922000" y="1651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10922000" y="1651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2057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JSON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954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3462000" y="1651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13462000" y="1651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462000" y="2057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Rendu Word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75500" y="30480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C9802F"/>
          </a:solidFill>
          <a:ln/>
        </p:spPr>
      </p:sp>
      <p:sp>
        <p:nvSpPr>
          <p:cNvPr id="34" name="Text 32"/>
          <p:cNvSpPr/>
          <p:nvPr/>
        </p:nvSpPr>
        <p:spPr>
          <a:xfrm>
            <a:off x="7175500" y="3048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75500" y="3454400"/>
            <a:ext cx="190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output/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8000" y="2667000"/>
            <a:ext cx="0" cy="381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762000" y="444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Détail des étapes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4953000"/>
            <a:ext cx="1473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Lecture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 système lit le fichier .txt brut contenant les notes désorganisées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Classification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Détection automatique du type : réunion, idée, todo, Q&amp;A, question, ou défaut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Template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Chargement du prompt JSON adapté au type détecté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Structuration IA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Appel API Groq (Llama 3.1) pour extraire et structurer en JSON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Validation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Vérification des champs requis, nettoyage des fences markdown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 Rendu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Génération du document Word avec styles, couleurs et tableaux</a:t>
            </a:r>
            <a:endParaRPr lang="en-US" sz="18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9802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7. Export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Document final sauvegardé dans le dossier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output/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40" name="Text 38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Étape 1 : Classification Intelligente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98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stratégie de classification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006600"/>
            <a:ext cx="711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1B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215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Classifier Heuristique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6162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Analyse de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mots-clés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patterns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Coût nul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aucun appel API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Classification rapide en millisecondes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2006600"/>
            <a:ext cx="711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1550" y="2159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980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18600" y="215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Classifier API (Fallback)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26162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Appel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Groq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 confiance faible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Modèle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3.1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décision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Fallback robuste et tolérant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57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Exemples de classification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80000"/>
          <a:ext cx="14732000" cy="3048000"/>
        </p:xfrm>
        <a:graphic>
          <a:graphicData uri="http://schemas.openxmlformats.org/drawingml/2006/table">
            <a:tbl>
              <a:tblPr/>
              <a:tblGrid>
                <a:gridCol w="5156200"/>
                <a:gridCol w="3683000"/>
                <a:gridCol w="58928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 brute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détecté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Raison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"meet w alice bob tomorrow"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meeting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Mot-clé "meet" + noms de personnes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"how do I install Docker?"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question_only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Pattern interrogatif détecté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"buy milk, call mom, fix bug"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Liste d'actions sans contexte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"random thoughts about the project..."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02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Texte mixte, confiance faible → fallback API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2000" y="8331200"/>
            <a:ext cx="14732000" cy="3048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2" name="Text 19"/>
          <p:cNvSpPr/>
          <p:nvPr/>
        </p:nvSpPr>
        <p:spPr>
          <a:xfrm>
            <a:off x="1016000" y="83312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Avantage clé 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Rapidité maximale et économie de tokens grâce au classifier heuristique en première ligne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4" name="Text 21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Étape 2 : Templates Dynamiques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732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templates JSON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adaptés selon le type détecté — chacun définit le prompt, les champs et les obligations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2000"/>
          <a:ext cx="14732000" cy="4826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8102600"/>
              </a:tblGrid>
              <a:tr h="58114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Champs extraits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</a:tr>
              <a:tr h="7074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meeting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title, date, participants, action_items, summary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Réunions avec suivi d'actions et compte-rendu structuré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074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title, description, tags, related_concepts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Idées et concepts avec catégorisation par tags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7074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todo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tasks (priority, due_date, status)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Listes de tâches avec priorité et échéances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074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question, answer, confidence, sources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Questions avec réponses et niveau de confiance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7074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3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question_only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question, context, urgency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Questions sans réponse immédiate, marquées pour suivi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7074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802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title, content, category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F2937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Notes générales non classées, formatage minimal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7112000"/>
            <a:ext cx="76200" cy="10160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7112000"/>
            <a:ext cx="144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Flexibilité 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L'architecture modulaire permet d'ajouter un nouveau type de note en quelques minutes — il suffit de créer un template JSON et un renderer docx associé.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Étape 3 : Appel API &amp; Gestion d'Erreurs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11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8225" y="1701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C9802F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1701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Groq — Llama 3.1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1844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Modèle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Llama 3.1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API Groq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Structuration JSON fiable et rapide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Prompts optimisés par type de note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524000"/>
            <a:ext cx="711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36000" y="1701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1B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118600" y="1701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de Retry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21844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Backoff exponentiel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cas d'erreur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Gestion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ConnectionError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ValueError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tentatives avant fallback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3860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 &amp; Tolérance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368800"/>
            <a:ext cx="1473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Nettoyage automatique des fences markdown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L'API retourne parfois du JSON encapsulé dans des blocs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```json ... ```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Le validateur détecte et supprime automatiquement ces fences pour obtenir un JSON pur.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Fallback et valeurs par défaut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l'API échoue après les retries, le système applique des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valeurs par défaut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intelligentes basées sur le type de note détecté. Aucune note n'est perdue.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des clés API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Utilisation de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python-dotenv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sécuriser les clés API Groq dans un fichier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.env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jamais hardcodées dans le source.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Étape 4 : Rendu Document Word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73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Moteur de rendu dédié par type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19558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Renderer spécifique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chaque type de note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Librairie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python-docx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génération native .docx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Styles définis par programme : titres, paragraphes, tableaux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immédiatement utilisable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présentable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524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000" y="1701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Mise en forme professionnelle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2184400"/>
            <a:ext cx="6604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Titres </a:t>
            </a:r>
            <a:pPr>
              <a:lnSpc>
                <a:spcPct val="155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centrés</a:t>
            </a:r>
            <a:pPr>
              <a:lnSpc>
                <a:spcPct val="155000"/>
              </a:lnSpc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hiérarchisés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Listes à puces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structurées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Tableaux colorés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todos (codes priorité)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Badges de confiance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 Q&amp;A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Codes couleur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haute/moyenne/basse priorité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57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Aperçu du rendu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016500"/>
            <a:ext cx="14732000" cy="349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5207000"/>
            <a:ext cx="1422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Réunion : Lancement Projet AI Note Agent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:</a:t>
            </a:r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 avril 2025 | </a:t>
            </a:r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Participants :</a:t>
            </a:r>
            <a:pPr>
              <a:lnSpc>
                <a:spcPct val="150000"/>
              </a:lnSpc>
              <a:spcBef>
                <a:spcPts val="300"/>
              </a:spcBef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Alice, Bob, Charlie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Points abordés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Architecture modulaire du pipeline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Intégration API Groq et gestion des erreurs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5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à suivre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[Haute] Alice — Finaliser les templates JSON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[Moyenne] Bob — Implémenter le retry backoff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[Basse] Charlie — Tester les renderers docx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Démonstration / Résultats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1651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 — Note brute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20574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idea: AI agent for notes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groq api llama3.1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txt files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classifies into types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docx with colors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to add web version later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maybe OCR too?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2794000"/>
            <a:ext cx="508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B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1524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6000" y="165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APRÈS — Document Word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20574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Idée : AI Note Agent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 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Agent IA de structuration automatique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Technologies 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Groq API, Llama 3.1, python-docx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Fonctionnalités 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Lecture et classification de notes .txt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Génération de documents .docx formatés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Tags 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#NLP #Automation #Productivity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876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de notes supportés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384800"/>
            <a:ext cx="2286000" cy="10160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384800"/>
            <a:ext cx="228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Réunions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02000" y="5384800"/>
            <a:ext cx="2286000" cy="10160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302000" y="5384800"/>
            <a:ext cx="228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Idées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2000" y="5384800"/>
            <a:ext cx="2286000" cy="10160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842000" y="5384800"/>
            <a:ext cx="228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Tâches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5384800"/>
            <a:ext cx="2286000" cy="10160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0" y="5384800"/>
            <a:ext cx="228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Q&amp;A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 / question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22000" y="5384800"/>
            <a:ext cx="2286000" cy="10160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27" name="Text 25"/>
          <p:cNvSpPr/>
          <p:nvPr/>
        </p:nvSpPr>
        <p:spPr>
          <a:xfrm>
            <a:off x="10922000" y="5384800"/>
            <a:ext cx="228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Général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462000" y="5384800"/>
            <a:ext cx="2032000" cy="10160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29" name="Text 27"/>
          <p:cNvSpPr/>
          <p:nvPr/>
        </p:nvSpPr>
        <p:spPr>
          <a:xfrm>
            <a:off x="13462000" y="5384800"/>
            <a:ext cx="203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Nouveau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731000"/>
            <a:ext cx="14732000" cy="15240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6858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 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pipeline complet qui transforme n'importe quelle note brute en un document Word structuré, formaté et immédiatement exploitable — en quelques secondes et sans intervention manuelle.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3" name="Text 31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Outils, Technologies &amp; Apprentissages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473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19558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3.11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Langage principal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 API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Modèle Llama 3.1 pour structuration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python-docx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Génération native de documents Word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python-dotenv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Gestion sécurisée des clés API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Versioning et collaboration d'équipe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1473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 maîtrisés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19558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engineering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Optimisation des prompts par type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modulaire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Séparation des couches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d'API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Retry, backoff, gestion d'erreurs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Parsing JSON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Extraction et validation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de texte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Heuristique +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Méthodologie de développement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9276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Pipeline core : lecture → classification simple → rendu docx basique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Multi-types : ajout des 6 templates, classifier heuristique + API, validateurs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Travail d'équipe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Branches Git par fonctionnalité, code reviews, intégration continue manuelle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60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Compétences transversales acquises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70866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Gestion de clés API et environnements virtuels Python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Séparation stricte entre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contenu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(extraction IA) et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présentation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(rendu docx)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7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Documentation technique et structuration d'un projet Python professionnel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0" y="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6858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Perspectives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016000" cy="381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24000"/>
            <a:ext cx="76200" cy="12700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524000"/>
            <a:ext cx="1447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Bilan du projet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agent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fonctionnel, modulaire et extensible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qui démontre la faisabilité d'un pipeline complet de traitement de notes par IA — de la classification heuristique au document Word formaté, en passant par la structuration JSON via API Groq.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098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Prochaines étapes (Roadmap)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322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37592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191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Intégration Web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API + frontend pour usage via navigateur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45000" y="36322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9000" y="37592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9000" y="4191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Multi-API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Réintégration de Gemini pour routage intelligent multi-API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0" y="3632200"/>
            <a:ext cx="342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2000" y="37592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4191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OCR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Traitement d'images et notes manuscrites scannées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11000" y="3632200"/>
            <a:ext cx="3683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65000" y="37592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65000" y="4191000"/>
            <a:ext cx="317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Historique &amp; DB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d'historique et base de données pour persistence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045200"/>
            <a:ext cx="76200" cy="139700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045200"/>
            <a:ext cx="1447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800" b="1" dirty="0">
                <a:solidFill>
                  <a:srgbClr val="1B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Ouverture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Au-delà du prototype, l'agent pourrait évoluer vers un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de productivité complet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intégré aux outils de bureautique, aux messageries, et aux workflows professionnels. La structuration automatique de connaissances est un enjeu clé de l'IA appliquée.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88138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5A7A9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ng37b5jgueyg/mnt/agents/output/ai_note_agent/images/2_Workspace_Collaboration_Over_17_046.png">    </p:cNvPr>
          <p:cNvPicPr>
            <a:picLocks noChangeAspect="1"/>
          </p:cNvPicPr>
          <p:nvPr/>
        </p:nvPicPr>
        <p:blipFill>
          <a:blip r:embed="rId1"/>
          <a:srcRect l="0" r="0" t="2187" b="218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5F">
                  <a:alpha val="80000"/>
                </a:srgbClr>
              </a:gs>
              <a:gs pos="100000">
                <a:srgbClr val="1B3A5F">
                  <a:alpha val="90000"/>
                </a:srgbClr>
              </a:gs>
            </a:gsLst>
            <a:path path="circle"/>
          </a:gradFill>
          <a:ln/>
        </p:spPr>
      </p:sp>
      <p:sp>
        <p:nvSpPr>
          <p:cNvPr id="4" name="Shape 1"/>
          <p:cNvSpPr/>
          <p:nvPr/>
        </p:nvSpPr>
        <p:spPr>
          <a:xfrm>
            <a:off x="6858000" y="3556000"/>
            <a:ext cx="2540000" cy="50800"/>
          </a:xfrm>
          <a:prstGeom prst="rect">
            <a:avLst/>
          </a:prstGeom>
          <a:solidFill>
            <a:srgbClr val="C9802F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81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Merci de votre attention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18000" y="482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C9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88000" y="5715000"/>
            <a:ext cx="508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969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Note Agent — Projet de fin de semestre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Informatique — Équipe étudiante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Remerciements au jury et à l'encadrant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Note Agent : De la note brute au document professionnel</dc:title>
  <dc:subject>AI Note Agent : De la note brute au document professionnel</dc:subject>
  <dc:creator>Kimi</dc:creator>
  <cp:lastModifiedBy>Kimi</cp:lastModifiedBy>
  <cp:revision>1</cp:revision>
  <dcterms:created xsi:type="dcterms:W3CDTF">2026-04-27T21:46:01Z</dcterms:created>
  <dcterms:modified xsi:type="dcterms:W3CDTF">2026-04-27T21:46:01Z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Note Agent : De la note brute au document professionnel","ContentProducer":"001191110108MACG2KBH8F10000","ProduceID":"19dd0e68-a232-8fc2-8000-0000af1bafaf","ReservedCode1":"","ContentPropagator":"001191110108MACG2KBH8F20000","PropagateID":"19dd0e68-a232-8fc2-8000-0000af1bafaf","ReservedCode2":""}</vt:lpwstr>
  </property>
</Properties>
</file>