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72" r:id="rId2"/>
    <p:sldId id="271" r:id="rId3"/>
    <p:sldId id="257" r:id="rId4"/>
    <p:sldId id="269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Noura LATIFI" initials="NL" lastIdx="1" clrIdx="0">
    <p:extLst>
      <p:ext uri="{19B8F6BF-5375-455C-9EA6-DF929625EA0E}">
        <p15:presenceInfo xmlns:p15="http://schemas.microsoft.com/office/powerpoint/2012/main" userId="6c1b537e848a26cb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7A466A"/>
    <a:srgbClr val="A78295"/>
    <a:srgbClr val="FFF5F5"/>
    <a:srgbClr val="37353E"/>
    <a:srgbClr val="4D1717"/>
    <a:srgbClr val="331D2C"/>
    <a:srgbClr val="559D97"/>
    <a:srgbClr val="EFE1D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88" d="100"/>
          <a:sy n="88" d="100"/>
        </p:scale>
        <p:origin x="660" y="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commentAuthors" Target="commentAuthors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4989804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549830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svg"/><Relationship Id="rId5" Type="http://schemas.openxmlformats.org/officeDocument/2006/relationships/image" Target="../media/image4.png"/><Relationship Id="rId4" Type="http://schemas.openxmlformats.org/officeDocument/2006/relationships/image" Target="../media/image3.sv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svg"/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svg"/><Relationship Id="rId5" Type="http://schemas.openxmlformats.org/officeDocument/2006/relationships/image" Target="../media/image8.png"/><Relationship Id="rId10" Type="http://schemas.openxmlformats.org/officeDocument/2006/relationships/image" Target="../media/image13.svg"/><Relationship Id="rId4" Type="http://schemas.openxmlformats.org/officeDocument/2006/relationships/image" Target="../media/image7.svg"/><Relationship Id="rId9" Type="http://schemas.openxmlformats.org/officeDocument/2006/relationships/image" Target="../media/image1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7.svg"/><Relationship Id="rId5" Type="http://schemas.openxmlformats.org/officeDocument/2006/relationships/image" Target="../media/image16.png"/><Relationship Id="rId4" Type="http://schemas.openxmlformats.org/officeDocument/2006/relationships/image" Target="../media/image15.sv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svg"/><Relationship Id="rId3" Type="http://schemas.openxmlformats.org/officeDocument/2006/relationships/image" Target="../media/image18.png"/><Relationship Id="rId7" Type="http://schemas.openxmlformats.org/officeDocument/2006/relationships/image" Target="../media/image2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1.svg"/><Relationship Id="rId5" Type="http://schemas.openxmlformats.org/officeDocument/2006/relationships/image" Target="../media/image20.png"/><Relationship Id="rId10" Type="http://schemas.openxmlformats.org/officeDocument/2006/relationships/image" Target="../media/image25.svg"/><Relationship Id="rId4" Type="http://schemas.openxmlformats.org/officeDocument/2006/relationships/image" Target="../media/image19.svg"/><Relationship Id="rId9" Type="http://schemas.openxmlformats.org/officeDocument/2006/relationships/image" Target="../media/image24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.svg"/><Relationship Id="rId3" Type="http://schemas.openxmlformats.org/officeDocument/2006/relationships/image" Target="../media/image14.png"/><Relationship Id="rId7" Type="http://schemas.openxmlformats.org/officeDocument/2006/relationships/image" Target="../media/image28.png"/><Relationship Id="rId12" Type="http://schemas.openxmlformats.org/officeDocument/2006/relationships/image" Target="../media/image33.sv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7.svg"/><Relationship Id="rId11" Type="http://schemas.openxmlformats.org/officeDocument/2006/relationships/image" Target="../media/image32.png"/><Relationship Id="rId5" Type="http://schemas.openxmlformats.org/officeDocument/2006/relationships/image" Target="../media/image26.png"/><Relationship Id="rId10" Type="http://schemas.openxmlformats.org/officeDocument/2006/relationships/image" Target="../media/image31.svg"/><Relationship Id="rId4" Type="http://schemas.openxmlformats.org/officeDocument/2006/relationships/image" Target="../media/image15.svg"/><Relationship Id="rId9" Type="http://schemas.openxmlformats.org/officeDocument/2006/relationships/image" Target="../media/image30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ext 17"/>
          <p:cNvSpPr/>
          <p:nvPr/>
        </p:nvSpPr>
        <p:spPr>
          <a:xfrm>
            <a:off x="457200" y="960120"/>
            <a:ext cx="7772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600" b="1" dirty="0" err="1">
                <a:solidFill>
                  <a:srgbClr val="FF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DucaNova</a:t>
            </a:r>
            <a:r>
              <a:rPr lang="en-US" sz="4600" b="1" dirty="0">
                <a:solidFill>
                  <a:srgbClr val="FF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Agent</a:t>
            </a:r>
            <a:endParaRPr lang="en-US" sz="4600" dirty="0">
              <a:solidFill>
                <a:srgbClr val="FFF5F5"/>
              </a:solidFill>
            </a:endParaRPr>
          </a:p>
        </p:txBody>
      </p:sp>
      <p:sp>
        <p:nvSpPr>
          <p:cNvPr id="21" name="Shape 19"/>
          <p:cNvSpPr/>
          <p:nvPr/>
        </p:nvSpPr>
        <p:spPr>
          <a:xfrm flipV="1">
            <a:off x="457200" y="1984248"/>
            <a:ext cx="4114800" cy="45719"/>
          </a:xfrm>
          <a:prstGeom prst="rect">
            <a:avLst/>
          </a:prstGeom>
          <a:solidFill>
            <a:srgbClr val="AE445A"/>
          </a:solidFill>
          <a:ln w="12700">
            <a:solidFill>
              <a:srgbClr val="AE445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57200" y="214884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5F5"/>
                </a:solidFill>
                <a:latin typeface="Montserrat Bold" panose="00000800000000000000" pitchFamily="2" charset="0"/>
                <a:ea typeface="Calibri" pitchFamily="34" charset="-122"/>
                <a:cs typeface="Calibri" pitchFamily="34" charset="-120"/>
              </a:rPr>
              <a:t>De la note brute au document professionnel</a:t>
            </a:r>
            <a:endParaRPr lang="en-US" sz="1400" dirty="0">
              <a:solidFill>
                <a:srgbClr val="FFF5F5"/>
              </a:solidFill>
              <a:latin typeface="Montserrat Bold" panose="00000800000000000000" pitchFamily="2" charset="0"/>
            </a:endParaRPr>
          </a:p>
        </p:txBody>
      </p:sp>
      <p:sp>
        <p:nvSpPr>
          <p:cNvPr id="23" name="Text 21"/>
          <p:cNvSpPr/>
          <p:nvPr/>
        </p:nvSpPr>
        <p:spPr>
          <a:xfrm>
            <a:off x="457200" y="2542032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Système intelligent de structuration automatique de notes</a:t>
            </a:r>
            <a:endParaRPr lang="en-US" sz="1200" dirty="0">
              <a:solidFill>
                <a:srgbClr val="FFF5F5"/>
              </a:solidFill>
            </a:endParaRPr>
          </a:p>
        </p:txBody>
      </p:sp>
      <p:sp>
        <p:nvSpPr>
          <p:cNvPr id="24" name="Shape 22"/>
          <p:cNvSpPr/>
          <p:nvPr/>
        </p:nvSpPr>
        <p:spPr>
          <a:xfrm>
            <a:off x="457200" y="3154680"/>
            <a:ext cx="4114800" cy="1508760"/>
          </a:xfrm>
          <a:prstGeom prst="roundRect">
            <a:avLst/>
          </a:prstGeom>
          <a:solidFill>
            <a:srgbClr val="FFF5F5"/>
          </a:solidFill>
          <a:ln w="12700">
            <a:solidFill>
              <a:srgbClr val="FFF5F5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713232" y="3310128"/>
            <a:ext cx="3487293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 err="1">
                <a:solidFill>
                  <a:srgbClr val="4D17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Membre</a:t>
            </a:r>
            <a:r>
              <a:rPr lang="en-US" sz="1100" b="1" dirty="0">
                <a:solidFill>
                  <a:srgbClr val="4D17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00" b="1" dirty="0" err="1">
                <a:solidFill>
                  <a:srgbClr val="4D17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d’Équipe</a:t>
            </a:r>
            <a:r>
              <a:rPr lang="en-US" sz="1100" b="1" dirty="0">
                <a:solidFill>
                  <a:srgbClr val="4D17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:</a:t>
            </a:r>
            <a:endParaRPr lang="en-US" sz="1100" dirty="0">
              <a:solidFill>
                <a:srgbClr val="4D1717"/>
              </a:solidFill>
            </a:endParaRPr>
          </a:p>
        </p:txBody>
      </p:sp>
      <p:sp>
        <p:nvSpPr>
          <p:cNvPr id="26" name="Text 24"/>
          <p:cNvSpPr/>
          <p:nvPr/>
        </p:nvSpPr>
        <p:spPr>
          <a:xfrm>
            <a:off x="713232" y="4255363"/>
            <a:ext cx="4663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4D17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Encadrant : </a:t>
            </a:r>
            <a:r>
              <a:rPr lang="en-US" sz="1100" dirty="0">
                <a:solidFill>
                  <a:srgbClr val="4D17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Prof. </a:t>
            </a:r>
            <a:r>
              <a:rPr lang="en-US" sz="1100" dirty="0" err="1">
                <a:solidFill>
                  <a:srgbClr val="4D17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Ezeeti</a:t>
            </a:r>
            <a:endParaRPr lang="en-US" sz="1100" dirty="0">
              <a:solidFill>
                <a:srgbClr val="4D1717"/>
              </a:solidFill>
            </a:endParaRPr>
          </a:p>
        </p:txBody>
      </p:sp>
      <p:pic>
        <p:nvPicPr>
          <p:cNvPr id="38" name="Picture 37">
            <a:extLst>
              <a:ext uri="{FF2B5EF4-FFF2-40B4-BE49-F238E27FC236}">
                <a16:creationId xmlns:a16="http://schemas.microsoft.com/office/drawing/2014/main" id="{B6748F15-CF31-406C-BC99-9F0309C8788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55414" y="219403"/>
            <a:ext cx="4286250" cy="4286250"/>
          </a:xfrm>
          <a:prstGeom prst="rect">
            <a:avLst/>
          </a:prstGeom>
        </p:spPr>
      </p:pic>
      <p:sp>
        <p:nvSpPr>
          <p:cNvPr id="39" name="Rectangle 38">
            <a:extLst>
              <a:ext uri="{FF2B5EF4-FFF2-40B4-BE49-F238E27FC236}">
                <a16:creationId xmlns:a16="http://schemas.microsoft.com/office/drawing/2014/main" id="{5B10A231-76A6-4A7A-B2BF-044E2527F147}"/>
              </a:ext>
            </a:extLst>
          </p:cNvPr>
          <p:cNvSpPr/>
          <p:nvPr/>
        </p:nvSpPr>
        <p:spPr>
          <a:xfrm>
            <a:off x="8284464" y="4327451"/>
            <a:ext cx="804672" cy="816049"/>
          </a:xfrm>
          <a:prstGeom prst="rect">
            <a:avLst/>
          </a:prstGeom>
          <a:solidFill>
            <a:srgbClr val="331A26"/>
          </a:solidFill>
          <a:ln>
            <a:solidFill>
              <a:srgbClr val="2F1A2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Text 23">
            <a:extLst>
              <a:ext uri="{FF2B5EF4-FFF2-40B4-BE49-F238E27FC236}">
                <a16:creationId xmlns:a16="http://schemas.microsoft.com/office/drawing/2014/main" id="{E16BFFA7-5D13-4CDC-8E7D-13F27654F34C}"/>
              </a:ext>
            </a:extLst>
          </p:cNvPr>
          <p:cNvSpPr/>
          <p:nvPr/>
        </p:nvSpPr>
        <p:spPr>
          <a:xfrm>
            <a:off x="759237" y="3602735"/>
            <a:ext cx="3395281" cy="65262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100" dirty="0">
                <a:solidFill>
                  <a:srgbClr val="4D17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Elouakate Saad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100" dirty="0" err="1">
                <a:solidFill>
                  <a:srgbClr val="4D17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Sadki</a:t>
            </a:r>
            <a:r>
              <a:rPr lang="en-US" sz="1100" dirty="0">
                <a:solidFill>
                  <a:srgbClr val="4D17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Hiba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100" dirty="0" err="1">
                <a:solidFill>
                  <a:srgbClr val="4D17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Latifi</a:t>
            </a:r>
            <a:r>
              <a:rPr lang="en-US" sz="1100" dirty="0">
                <a:solidFill>
                  <a:srgbClr val="4D17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00" dirty="0" err="1">
                <a:solidFill>
                  <a:srgbClr val="4D17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Noura</a:t>
            </a:r>
            <a:endParaRPr lang="en-US" sz="1100" dirty="0">
              <a:solidFill>
                <a:srgbClr val="4D1717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ext 17"/>
          <p:cNvSpPr/>
          <p:nvPr/>
        </p:nvSpPr>
        <p:spPr>
          <a:xfrm>
            <a:off x="457200" y="960120"/>
            <a:ext cx="7772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600" b="1" dirty="0" err="1">
                <a:solidFill>
                  <a:srgbClr val="FF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DucaNova</a:t>
            </a:r>
            <a:r>
              <a:rPr lang="en-US" sz="4600" b="1" dirty="0">
                <a:solidFill>
                  <a:srgbClr val="FF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Agent</a:t>
            </a:r>
            <a:endParaRPr lang="en-US" sz="4600" dirty="0">
              <a:solidFill>
                <a:srgbClr val="FFF5F5"/>
              </a:solidFill>
            </a:endParaRPr>
          </a:p>
        </p:txBody>
      </p:sp>
      <p:sp>
        <p:nvSpPr>
          <p:cNvPr id="21" name="Shape 19"/>
          <p:cNvSpPr/>
          <p:nvPr/>
        </p:nvSpPr>
        <p:spPr>
          <a:xfrm flipV="1">
            <a:off x="457200" y="1984248"/>
            <a:ext cx="4114800" cy="45719"/>
          </a:xfrm>
          <a:prstGeom prst="rect">
            <a:avLst/>
          </a:prstGeom>
          <a:solidFill>
            <a:srgbClr val="AE445A"/>
          </a:solidFill>
          <a:ln w="12700">
            <a:solidFill>
              <a:srgbClr val="AE445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57200" y="214884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5F5"/>
                </a:solidFill>
                <a:latin typeface="Montserrat Bold" panose="00000800000000000000" pitchFamily="2" charset="0"/>
                <a:ea typeface="Calibri" pitchFamily="34" charset="-122"/>
                <a:cs typeface="Calibri" pitchFamily="34" charset="-120"/>
              </a:rPr>
              <a:t>De la note brute au document professionnel</a:t>
            </a:r>
            <a:endParaRPr lang="en-US" sz="1400" dirty="0">
              <a:solidFill>
                <a:srgbClr val="FFF5F5"/>
              </a:solidFill>
              <a:latin typeface="Montserrat Bold" panose="00000800000000000000" pitchFamily="2" charset="0"/>
            </a:endParaRPr>
          </a:p>
        </p:txBody>
      </p:sp>
      <p:sp>
        <p:nvSpPr>
          <p:cNvPr id="23" name="Text 21"/>
          <p:cNvSpPr/>
          <p:nvPr/>
        </p:nvSpPr>
        <p:spPr>
          <a:xfrm>
            <a:off x="457200" y="2542032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Système intelligent de structuration automatique de notes</a:t>
            </a:r>
            <a:endParaRPr lang="en-US" sz="1200" dirty="0">
              <a:solidFill>
                <a:srgbClr val="FFF5F5"/>
              </a:solidFill>
            </a:endParaRPr>
          </a:p>
        </p:txBody>
      </p:sp>
      <p:sp>
        <p:nvSpPr>
          <p:cNvPr id="24" name="Shape 22"/>
          <p:cNvSpPr/>
          <p:nvPr/>
        </p:nvSpPr>
        <p:spPr>
          <a:xfrm>
            <a:off x="457200" y="3154680"/>
            <a:ext cx="4114800" cy="1508760"/>
          </a:xfrm>
          <a:prstGeom prst="roundRect">
            <a:avLst/>
          </a:prstGeom>
          <a:solidFill>
            <a:srgbClr val="FFF5F5"/>
          </a:solidFill>
          <a:ln w="12700">
            <a:solidFill>
              <a:srgbClr val="FFF5F5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713232" y="3310128"/>
            <a:ext cx="3487293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 err="1">
                <a:solidFill>
                  <a:srgbClr val="4D17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Membre</a:t>
            </a:r>
            <a:r>
              <a:rPr lang="en-US" sz="1100" b="1" dirty="0">
                <a:solidFill>
                  <a:srgbClr val="4D17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00" b="1" dirty="0" err="1">
                <a:solidFill>
                  <a:srgbClr val="4D17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d’Équipe</a:t>
            </a:r>
            <a:r>
              <a:rPr lang="en-US" sz="1100" b="1" dirty="0">
                <a:solidFill>
                  <a:srgbClr val="4D17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:</a:t>
            </a:r>
            <a:endParaRPr lang="en-US" sz="1100" dirty="0">
              <a:solidFill>
                <a:srgbClr val="4D1717"/>
              </a:solidFill>
            </a:endParaRPr>
          </a:p>
        </p:txBody>
      </p:sp>
      <p:sp>
        <p:nvSpPr>
          <p:cNvPr id="26" name="Text 24"/>
          <p:cNvSpPr/>
          <p:nvPr/>
        </p:nvSpPr>
        <p:spPr>
          <a:xfrm>
            <a:off x="713232" y="4255363"/>
            <a:ext cx="4663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4D17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Encadrant : </a:t>
            </a:r>
            <a:r>
              <a:rPr lang="en-US" sz="1100" dirty="0">
                <a:solidFill>
                  <a:srgbClr val="4D17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Prof. </a:t>
            </a:r>
            <a:r>
              <a:rPr lang="en-US" sz="1100" dirty="0" err="1">
                <a:solidFill>
                  <a:srgbClr val="4D17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Ezeeti</a:t>
            </a:r>
            <a:endParaRPr lang="en-US" sz="1100" dirty="0">
              <a:solidFill>
                <a:srgbClr val="4D1717"/>
              </a:solidFill>
            </a:endParaRPr>
          </a:p>
        </p:txBody>
      </p:sp>
      <p:pic>
        <p:nvPicPr>
          <p:cNvPr id="38" name="Picture 37">
            <a:extLst>
              <a:ext uri="{FF2B5EF4-FFF2-40B4-BE49-F238E27FC236}">
                <a16:creationId xmlns:a16="http://schemas.microsoft.com/office/drawing/2014/main" id="{B6748F15-CF31-406C-BC99-9F0309C8788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55414" y="219403"/>
            <a:ext cx="4286250" cy="4286250"/>
          </a:xfrm>
          <a:prstGeom prst="rect">
            <a:avLst/>
          </a:prstGeom>
        </p:spPr>
      </p:pic>
      <p:sp>
        <p:nvSpPr>
          <p:cNvPr id="39" name="Rectangle 38">
            <a:extLst>
              <a:ext uri="{FF2B5EF4-FFF2-40B4-BE49-F238E27FC236}">
                <a16:creationId xmlns:a16="http://schemas.microsoft.com/office/drawing/2014/main" id="{5B10A231-76A6-4A7A-B2BF-044E2527F147}"/>
              </a:ext>
            </a:extLst>
          </p:cNvPr>
          <p:cNvSpPr/>
          <p:nvPr/>
        </p:nvSpPr>
        <p:spPr>
          <a:xfrm>
            <a:off x="8284464" y="4327451"/>
            <a:ext cx="804672" cy="816049"/>
          </a:xfrm>
          <a:prstGeom prst="rect">
            <a:avLst/>
          </a:prstGeom>
          <a:solidFill>
            <a:srgbClr val="331A26"/>
          </a:solidFill>
          <a:ln>
            <a:solidFill>
              <a:srgbClr val="2F1A2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Text 23">
            <a:extLst>
              <a:ext uri="{FF2B5EF4-FFF2-40B4-BE49-F238E27FC236}">
                <a16:creationId xmlns:a16="http://schemas.microsoft.com/office/drawing/2014/main" id="{E16BFFA7-5D13-4CDC-8E7D-13F27654F34C}"/>
              </a:ext>
            </a:extLst>
          </p:cNvPr>
          <p:cNvSpPr/>
          <p:nvPr/>
        </p:nvSpPr>
        <p:spPr>
          <a:xfrm>
            <a:off x="759237" y="3602735"/>
            <a:ext cx="3395281" cy="65262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100" dirty="0">
                <a:solidFill>
                  <a:srgbClr val="4D17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Elouakate Saad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100" dirty="0" err="1">
                <a:solidFill>
                  <a:srgbClr val="4D17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Sadki</a:t>
            </a:r>
            <a:r>
              <a:rPr lang="en-US" sz="1100" dirty="0">
                <a:solidFill>
                  <a:srgbClr val="4D17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Hiba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100" dirty="0" err="1">
                <a:solidFill>
                  <a:srgbClr val="4D17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Latifi</a:t>
            </a:r>
            <a:r>
              <a:rPr lang="en-US" sz="1100" dirty="0">
                <a:solidFill>
                  <a:srgbClr val="4D17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00" dirty="0" err="1">
                <a:solidFill>
                  <a:srgbClr val="4D17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Noura</a:t>
            </a:r>
            <a:endParaRPr lang="en-US" sz="1100" dirty="0">
              <a:solidFill>
                <a:srgbClr val="4D1717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331D2C"/>
          </a:solidFill>
          <a:ln w="12700">
            <a:solidFill>
              <a:srgbClr val="331D2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914400"/>
            <a:ext cx="9144000" cy="54864"/>
          </a:xfrm>
          <a:prstGeom prst="rect">
            <a:avLst/>
          </a:prstGeom>
          <a:solidFill>
            <a:srgbClr val="EFE1D1"/>
          </a:solidFill>
          <a:ln w="12700">
            <a:solidFill>
              <a:srgbClr val="EFE1D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25984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Montserrat Bold" panose="00000800000000000000" pitchFamily="2" charset="0"/>
                <a:ea typeface="Calibri" pitchFamily="34" charset="-122"/>
                <a:cs typeface="Calibri" pitchFamily="34" charset="-120"/>
              </a:rPr>
              <a:t>Problématique &amp; Introduction</a:t>
            </a:r>
            <a:endParaRPr lang="en-US" sz="2400" dirty="0">
              <a:latin typeface="Montserrat Bold" panose="00000800000000000000" pitchFamily="2" charset="0"/>
            </a:endParaRPr>
          </a:p>
        </p:txBody>
      </p:sp>
      <p:sp>
        <p:nvSpPr>
          <p:cNvPr id="5" name="Shape 3"/>
          <p:cNvSpPr/>
          <p:nvPr/>
        </p:nvSpPr>
        <p:spPr>
          <a:xfrm>
            <a:off x="320040" y="1170432"/>
            <a:ext cx="4114800" cy="3520440"/>
          </a:xfrm>
          <a:prstGeom prst="rect">
            <a:avLst/>
          </a:prstGeom>
          <a:solidFill>
            <a:srgbClr val="FFF5F5"/>
          </a:solidFill>
          <a:ln w="12700">
            <a:solidFill>
              <a:srgbClr val="EFE1D1"/>
            </a:solidFill>
            <a:prstDash val="solid"/>
          </a:ln>
          <a:effectLst/>
        </p:spPr>
        <p:txBody>
          <a:bodyPr/>
          <a:lstStyle/>
          <a:p>
            <a:endParaRPr lang="en-US" dirty="0"/>
          </a:p>
        </p:txBody>
      </p:sp>
      <p:sp>
        <p:nvSpPr>
          <p:cNvPr id="6" name="Shape 4"/>
          <p:cNvSpPr/>
          <p:nvPr/>
        </p:nvSpPr>
        <p:spPr>
          <a:xfrm>
            <a:off x="320040" y="1170432"/>
            <a:ext cx="4114800" cy="347472"/>
          </a:xfrm>
          <a:prstGeom prst="rect">
            <a:avLst/>
          </a:prstGeom>
          <a:solidFill>
            <a:srgbClr val="A78295"/>
          </a:solidFill>
          <a:ln w="12700">
            <a:solidFill>
              <a:srgbClr val="A7829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1170432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Montserrat Bold" panose="00000800000000000000" pitchFamily="2" charset="0"/>
              </a:rPr>
              <a:t>  Le Problème</a:t>
            </a:r>
            <a:endParaRPr lang="en-US" sz="1200" dirty="0">
              <a:latin typeface="Montserrat Bold" panose="00000800000000000000" pitchFamily="2" charset="0"/>
            </a:endParaRPr>
          </a:p>
        </p:txBody>
      </p:sp>
      <p:sp>
        <p:nvSpPr>
          <p:cNvPr id="8" name="Text 6"/>
          <p:cNvSpPr/>
          <p:nvPr/>
        </p:nvSpPr>
        <p:spPr>
          <a:xfrm>
            <a:off x="502920" y="1664208"/>
            <a:ext cx="3749040" cy="2788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85750" indent="-285750">
              <a:spcAft>
                <a:spcPts val="800"/>
              </a:spcAft>
              <a:buSzPct val="100000"/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rgbClr val="374151"/>
                </a:solidFill>
                <a:ea typeface="Calibri" pitchFamily="34" charset="-122"/>
                <a:cs typeface="Calibri" pitchFamily="34" charset="-120"/>
              </a:rPr>
              <a:t>Les notes prises à la volée sont désorganisées (abréviations, dates informelles, texte libre)</a:t>
            </a:r>
            <a:endParaRPr lang="en-US" sz="1400" dirty="0"/>
          </a:p>
          <a:p>
            <a:pPr marL="285750" indent="-285750">
              <a:spcAft>
                <a:spcPts val="800"/>
              </a:spcAft>
              <a:buSzPct val="100000"/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rgbClr val="374151"/>
                </a:solidFill>
                <a:ea typeface="Calibri" pitchFamily="34" charset="-122"/>
                <a:cs typeface="Calibri" pitchFamily="34" charset="-120"/>
              </a:rPr>
              <a:t>Des heures perdues chaque semaine à reformater manuellement</a:t>
            </a:r>
            <a:endParaRPr lang="en-US" sz="1400" dirty="0"/>
          </a:p>
          <a:p>
            <a:pPr marL="285750" indent="-285750">
              <a:spcAft>
                <a:spcPts val="800"/>
              </a:spcAft>
              <a:buSzPct val="100000"/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rgbClr val="374151"/>
                </a:solidFill>
                <a:ea typeface="Calibri" pitchFamily="34" charset="-122"/>
                <a:cs typeface="Calibri" pitchFamily="34" charset="-120"/>
              </a:rPr>
              <a:t>Perte d'informations importantes lors du recopiage</a:t>
            </a:r>
            <a:endParaRPr lang="en-US" sz="1400" dirty="0"/>
          </a:p>
          <a:p>
            <a:pPr marL="285750" indent="-285750">
              <a:spcAft>
                <a:spcPts val="800"/>
              </a:spcAft>
              <a:buSzPct val="100000"/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rgbClr val="374151"/>
                </a:solidFill>
                <a:ea typeface="Calibri" pitchFamily="34" charset="-122"/>
                <a:cs typeface="Calibri" pitchFamily="34" charset="-120"/>
              </a:rPr>
              <a:t>Difficulté de partage et de relecture pour les équipes</a:t>
            </a:r>
            <a:endParaRPr lang="en-US" sz="1400" dirty="0"/>
          </a:p>
          <a:p>
            <a:pPr marL="285750" indent="-285750">
              <a:spcAft>
                <a:spcPts val="800"/>
              </a:spcAft>
              <a:buSzPct val="100000"/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rgbClr val="374151"/>
                </a:solidFill>
                <a:ea typeface="Calibri" pitchFamily="34" charset="-122"/>
                <a:cs typeface="Calibri" pitchFamily="34" charset="-120"/>
              </a:rPr>
              <a:t>Aucune cohérence de format entre les membres d'un projet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709160" y="1170432"/>
            <a:ext cx="4114800" cy="3520440"/>
          </a:xfrm>
          <a:prstGeom prst="rect">
            <a:avLst/>
          </a:prstGeom>
          <a:solidFill>
            <a:srgbClr val="FFF5F5"/>
          </a:solidFill>
          <a:ln w="12700">
            <a:solidFill>
              <a:srgbClr val="EFE1D1"/>
            </a:solidFill>
            <a:prstDash val="solid"/>
          </a:ln>
          <a:effectLst/>
        </p:spPr>
        <p:txBody>
          <a:bodyPr/>
          <a:lstStyle/>
          <a:p>
            <a:endParaRPr lang="en-US" dirty="0"/>
          </a:p>
        </p:txBody>
      </p:sp>
      <p:sp>
        <p:nvSpPr>
          <p:cNvPr id="10" name="Shape 8"/>
          <p:cNvSpPr/>
          <p:nvPr/>
        </p:nvSpPr>
        <p:spPr>
          <a:xfrm>
            <a:off x="4709160" y="1170432"/>
            <a:ext cx="4114800" cy="347472"/>
          </a:xfrm>
          <a:prstGeom prst="rect">
            <a:avLst/>
          </a:prstGeom>
          <a:solidFill>
            <a:srgbClr val="A78295"/>
          </a:solidFill>
          <a:ln w="12700">
            <a:solidFill>
              <a:srgbClr val="A7829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800600" y="1170432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Montserrat Bold" panose="00000800000000000000" pitchFamily="2" charset="0"/>
              </a:rPr>
              <a:t>Notre Solution</a:t>
            </a:r>
            <a:endParaRPr lang="en-US" sz="1200" dirty="0">
              <a:latin typeface="Montserrat Bold" panose="00000800000000000000" pitchFamily="2" charset="0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4846320" y="1627632"/>
            <a:ext cx="388620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F4E3D"/>
                </a:solidFill>
                <a:ea typeface="Calibri" pitchFamily="34" charset="-122"/>
                <a:cs typeface="Calibri" pitchFamily="34" charset="-120"/>
              </a:rPr>
              <a:t>Un agent IA autonome qui lit, comprend et classifie chaque note </a:t>
            </a:r>
            <a:r>
              <a:rPr lang="en-US" sz="1400" dirty="0" err="1">
                <a:solidFill>
                  <a:srgbClr val="1F4E3D"/>
                </a:solidFill>
                <a:ea typeface="Calibri" pitchFamily="34" charset="-122"/>
                <a:cs typeface="Calibri" pitchFamily="34" charset="-120"/>
              </a:rPr>
              <a:t>automatiquement</a:t>
            </a:r>
            <a:r>
              <a:rPr lang="en-US" sz="1400" dirty="0">
                <a:solidFill>
                  <a:srgbClr val="1F4E3D"/>
                </a:solidFill>
                <a:ea typeface="Calibri" pitchFamily="34" charset="-122"/>
                <a:cs typeface="Calibri" pitchFamily="34" charset="-120"/>
              </a:rPr>
              <a:t>.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F4E3D"/>
                </a:solidFill>
                <a:ea typeface="Calibri" pitchFamily="34" charset="-122"/>
                <a:cs typeface="Calibri" pitchFamily="34" charset="-120"/>
              </a:rPr>
              <a:t>Détection intelligente du type : réunion, idée, todo, Q&amp;A, question, </a:t>
            </a:r>
            <a:r>
              <a:rPr lang="en-US" sz="1400" dirty="0" err="1">
                <a:solidFill>
                  <a:srgbClr val="1F4E3D"/>
                </a:solidFill>
                <a:ea typeface="Calibri" pitchFamily="34" charset="-122"/>
                <a:cs typeface="Calibri" pitchFamily="34" charset="-120"/>
              </a:rPr>
              <a:t>défaut</a:t>
            </a:r>
            <a:r>
              <a:rPr lang="en-US" sz="1400" dirty="0">
                <a:solidFill>
                  <a:srgbClr val="1F4E3D"/>
                </a:solidFill>
                <a:ea typeface="Calibri" pitchFamily="34" charset="-122"/>
                <a:cs typeface="Calibri" pitchFamily="34" charset="-120"/>
              </a:rPr>
              <a:t>.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F4E3D"/>
                </a:solidFill>
                <a:ea typeface="Calibri" pitchFamily="34" charset="-122"/>
                <a:cs typeface="Calibri" pitchFamily="34" charset="-120"/>
              </a:rPr>
              <a:t>Structuration </a:t>
            </a:r>
            <a:r>
              <a:rPr lang="en-US" sz="1400" dirty="0" err="1">
                <a:solidFill>
                  <a:srgbClr val="1F4E3D"/>
                </a:solidFill>
                <a:ea typeface="Calibri" pitchFamily="34" charset="-122"/>
                <a:cs typeface="Calibri" pitchFamily="34" charset="-120"/>
              </a:rPr>
              <a:t>intelligente</a:t>
            </a:r>
            <a:r>
              <a:rPr lang="en-US" sz="1400" dirty="0">
                <a:solidFill>
                  <a:srgbClr val="1F4E3D"/>
                </a:solidFill>
                <a:ea typeface="Calibri" pitchFamily="34" charset="-122"/>
                <a:cs typeface="Calibri" pitchFamily="34" charset="-120"/>
              </a:rPr>
              <a:t> pour </a:t>
            </a:r>
            <a:r>
              <a:rPr lang="en-US" sz="1400" dirty="0" err="1">
                <a:solidFill>
                  <a:srgbClr val="1F4E3D"/>
                </a:solidFill>
                <a:ea typeface="Calibri" pitchFamily="34" charset="-122"/>
                <a:cs typeface="Calibri" pitchFamily="34" charset="-120"/>
              </a:rPr>
              <a:t>chaque</a:t>
            </a:r>
            <a:r>
              <a:rPr lang="en-US" sz="1400" dirty="0">
                <a:solidFill>
                  <a:srgbClr val="1F4E3D"/>
                </a:solidFill>
                <a:ea typeface="Calibri" pitchFamily="34" charset="-122"/>
                <a:cs typeface="Calibri" pitchFamily="34" charset="-120"/>
              </a:rPr>
              <a:t> type.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F4E3D"/>
                </a:solidFill>
                <a:ea typeface="Calibri" pitchFamily="34" charset="-122"/>
                <a:cs typeface="Calibri" pitchFamily="34" charset="-120"/>
              </a:rPr>
              <a:t>Export immédiat en document Word “.docx” formaté, coloré, professionnel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F4E3D"/>
                </a:solidFill>
                <a:ea typeface="Calibri" pitchFamily="34" charset="-122"/>
                <a:cs typeface="Calibri" pitchFamily="34" charset="-120"/>
              </a:rPr>
              <a:t>Meilleur structuration des notes.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331D2C"/>
          </a:solidFill>
          <a:ln w="12700">
            <a:solidFill>
              <a:srgbClr val="4D1717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1371600" y="4764405"/>
            <a:ext cx="192024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EFE1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Nom Du Agent</a:t>
            </a:r>
            <a:endParaRPr lang="en-US" sz="1300" dirty="0">
              <a:solidFill>
                <a:srgbClr val="EFE1D1"/>
              </a:solidFill>
            </a:endParaRPr>
          </a:p>
        </p:txBody>
      </p:sp>
      <p:sp>
        <p:nvSpPr>
          <p:cNvPr id="17" name="Shape 15"/>
          <p:cNvSpPr/>
          <p:nvPr/>
        </p:nvSpPr>
        <p:spPr>
          <a:xfrm>
            <a:off x="4480560" y="4828032"/>
            <a:ext cx="0" cy="228600"/>
          </a:xfrm>
          <a:prstGeom prst="line">
            <a:avLst/>
          </a:prstGeom>
          <a:ln>
            <a:solidFill>
              <a:srgbClr val="EFE1D1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sp>
      <p:sp>
        <p:nvSpPr>
          <p:cNvPr id="18" name="Text 16"/>
          <p:cNvSpPr/>
          <p:nvPr/>
        </p:nvSpPr>
        <p:spPr>
          <a:xfrm>
            <a:off x="5852160" y="4745355"/>
            <a:ext cx="192024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EFE1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28 Avril 2026</a:t>
            </a:r>
            <a:endParaRPr lang="en-US" sz="1300" dirty="0">
              <a:solidFill>
                <a:srgbClr val="EFE1D1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EFE1D1"/>
          </a:solidFill>
          <a:ln w="12700">
            <a:noFill/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8288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4D1717"/>
                </a:solidFill>
                <a:latin typeface="Montserrat Bold" panose="00000800000000000000" pitchFamily="2" charset="0"/>
                <a:ea typeface="Calibri" pitchFamily="34" charset="-122"/>
                <a:cs typeface="Calibri" pitchFamily="34" charset="-120"/>
              </a:rPr>
              <a:t>Architecture</a:t>
            </a:r>
            <a:r>
              <a:rPr lang="en-US" sz="2400" b="1" dirty="0">
                <a:solidFill>
                  <a:srgbClr val="4D17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2400" b="1" dirty="0" err="1">
                <a:solidFill>
                  <a:srgbClr val="4D1717"/>
                </a:solidFill>
                <a:latin typeface="Montserrat Bold" panose="00000800000000000000" pitchFamily="2" charset="0"/>
                <a:ea typeface="Calibri" pitchFamily="34" charset="-122"/>
                <a:cs typeface="Calibri" pitchFamily="34" charset="-120"/>
              </a:rPr>
              <a:t>Système</a:t>
            </a:r>
            <a:endParaRPr lang="en-US" sz="2400" b="1" dirty="0">
              <a:solidFill>
                <a:srgbClr val="4D1717"/>
              </a:solidFill>
              <a:latin typeface="Montserrat Bold" panose="00000800000000000000" pitchFamily="2" charset="0"/>
              <a:ea typeface="Calibri" pitchFamily="34" charset="-122"/>
              <a:cs typeface="Calibri" pitchFamily="34" charset="-120"/>
            </a:endParaRPr>
          </a:p>
        </p:txBody>
      </p:sp>
      <p:sp>
        <p:nvSpPr>
          <p:cNvPr id="4" name="Text 2"/>
          <p:cNvSpPr/>
          <p:nvPr/>
        </p:nvSpPr>
        <p:spPr>
          <a:xfrm>
            <a:off x="411480" y="65836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F2E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modulaire — 6 couches indépendantes et extensibles</a:t>
            </a:r>
            <a:endParaRPr lang="en-US" sz="1400" dirty="0">
              <a:solidFill>
                <a:srgbClr val="3F2E3E"/>
              </a:solidFill>
            </a:endParaRPr>
          </a:p>
        </p:txBody>
      </p:sp>
      <p:sp>
        <p:nvSpPr>
          <p:cNvPr id="5" name="Shape 3"/>
          <p:cNvSpPr/>
          <p:nvPr/>
        </p:nvSpPr>
        <p:spPr>
          <a:xfrm>
            <a:off x="274320" y="1078992"/>
            <a:ext cx="4069080" cy="1097280"/>
          </a:xfrm>
          <a:prstGeom prst="roundRect">
            <a:avLst/>
          </a:prstGeom>
          <a:solidFill>
            <a:srgbClr val="FFF5F5"/>
          </a:solidFill>
          <a:ln w="19050">
            <a:solidFill>
              <a:srgbClr val="4D1717"/>
            </a:solidFill>
            <a:prstDash val="solid"/>
          </a:ln>
          <a:effectLst/>
        </p:spPr>
        <p:txBody>
          <a:bodyPr/>
          <a:lstStyle/>
          <a:p>
            <a:endParaRPr lang="fr-MA" dirty="0"/>
          </a:p>
        </p:txBody>
      </p:sp>
      <p:sp>
        <p:nvSpPr>
          <p:cNvPr id="6" name="Shape 4"/>
          <p:cNvSpPr/>
          <p:nvPr/>
        </p:nvSpPr>
        <p:spPr>
          <a:xfrm>
            <a:off x="384048" y="1316736"/>
            <a:ext cx="566928" cy="566928"/>
          </a:xfrm>
          <a:prstGeom prst="ellipse">
            <a:avLst/>
          </a:prstGeom>
          <a:solidFill>
            <a:srgbClr val="3F2E3E"/>
          </a:solidFill>
          <a:ln w="12700">
            <a:noFill/>
            <a:prstDash val="solid"/>
          </a:ln>
          <a:effectLst/>
        </p:spPr>
        <p:txBody>
          <a:bodyPr/>
          <a:lstStyle/>
          <a:p>
            <a:endParaRPr lang="fr-MA"/>
          </a:p>
        </p:txBody>
      </p:sp>
      <p:sp>
        <p:nvSpPr>
          <p:cNvPr id="7" name="Text 5"/>
          <p:cNvSpPr/>
          <p:nvPr/>
        </p:nvSpPr>
        <p:spPr>
          <a:xfrm>
            <a:off x="384048" y="1316736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5F5"/>
                </a:solidFill>
                <a:ea typeface="Calibri" pitchFamily="34" charset="-122"/>
                <a:cs typeface="Calibri" pitchFamily="34" charset="-120"/>
              </a:rPr>
              <a:t>1</a:t>
            </a:r>
          </a:p>
        </p:txBody>
      </p:sp>
      <p:sp>
        <p:nvSpPr>
          <p:cNvPr id="8" name="Text 6"/>
          <p:cNvSpPr/>
          <p:nvPr/>
        </p:nvSpPr>
        <p:spPr>
          <a:xfrm>
            <a:off x="1078992" y="1170432"/>
            <a:ext cx="3108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F2E3E"/>
                </a:solidFill>
                <a:latin typeface="Montserrat Bold" panose="00000800000000000000" pitchFamily="2" charset="0"/>
                <a:ea typeface="Calibri" pitchFamily="34" charset="-122"/>
                <a:cs typeface="Calibri" pitchFamily="34" charset="-120"/>
              </a:rPr>
              <a:t>ENTRÉE</a:t>
            </a:r>
          </a:p>
        </p:txBody>
      </p:sp>
      <p:sp>
        <p:nvSpPr>
          <p:cNvPr id="9" name="Text 7"/>
          <p:cNvSpPr/>
          <p:nvPr/>
        </p:nvSpPr>
        <p:spPr>
          <a:xfrm>
            <a:off x="1060704" y="1453896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 err="1">
                <a:solidFill>
                  <a:srgbClr val="374151"/>
                </a:solidFill>
                <a:ea typeface="Calibri" pitchFamily="34" charset="-122"/>
                <a:cs typeface="Calibri" pitchFamily="34" charset="-120"/>
              </a:rPr>
              <a:t>Fichiers</a:t>
            </a:r>
            <a:r>
              <a:rPr lang="en-US" sz="1400" dirty="0">
                <a:solidFill>
                  <a:srgbClr val="374151"/>
                </a:solidFill>
                <a:ea typeface="Calibri" pitchFamily="34" charset="-122"/>
                <a:cs typeface="Calibri" pitchFamily="34" charset="-120"/>
              </a:rPr>
              <a:t> .txt </a:t>
            </a:r>
            <a:r>
              <a:rPr lang="en-US" sz="1400" dirty="0" err="1">
                <a:solidFill>
                  <a:srgbClr val="374151"/>
                </a:solidFill>
                <a:ea typeface="Calibri" pitchFamily="34" charset="-122"/>
                <a:cs typeface="Calibri" pitchFamily="34" charset="-120"/>
              </a:rPr>
              <a:t>bruts</a:t>
            </a:r>
            <a:endParaRPr lang="en-US" sz="1400" dirty="0">
              <a:solidFill>
                <a:srgbClr val="374151"/>
              </a:solidFill>
              <a:ea typeface="Calibri" pitchFamily="34" charset="-122"/>
              <a:cs typeface="Calibri" pitchFamily="34" charset="-120"/>
            </a:endParaRPr>
          </a:p>
        </p:txBody>
      </p:sp>
      <p:sp>
        <p:nvSpPr>
          <p:cNvPr id="10" name="Text 8"/>
          <p:cNvSpPr/>
          <p:nvPr/>
        </p:nvSpPr>
        <p:spPr>
          <a:xfrm>
            <a:off x="1078992" y="1673352"/>
            <a:ext cx="31089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F2E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Notes brutes </a:t>
            </a:r>
            <a:r>
              <a:rPr lang="en-US" sz="1100" dirty="0" err="1">
                <a:solidFill>
                  <a:srgbClr val="3F2E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déposées</a:t>
            </a:r>
            <a:r>
              <a:rPr lang="en-US" sz="1100" dirty="0">
                <a:solidFill>
                  <a:srgbClr val="3F2E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dans notes/</a:t>
            </a:r>
            <a:endParaRPr lang="en-US" sz="1100" dirty="0">
              <a:solidFill>
                <a:srgbClr val="3F2E3E"/>
              </a:solidFill>
            </a:endParaRPr>
          </a:p>
        </p:txBody>
      </p:sp>
      <p:sp>
        <p:nvSpPr>
          <p:cNvPr id="11" name="Text 9"/>
          <p:cNvSpPr/>
          <p:nvPr/>
        </p:nvSpPr>
        <p:spPr>
          <a:xfrm>
            <a:off x="2057400" y="2176272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0C9A7"/>
                </a:solidFill>
              </a:rPr>
              <a:t>↓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709160" y="1078992"/>
            <a:ext cx="4069080" cy="1097280"/>
          </a:xfrm>
          <a:prstGeom prst="roundRect">
            <a:avLst/>
          </a:prstGeom>
          <a:solidFill>
            <a:srgbClr val="FFF5F5"/>
          </a:solidFill>
          <a:ln w="19050">
            <a:solidFill>
              <a:srgbClr val="4D1717"/>
            </a:solidFill>
            <a:prstDash val="solid"/>
          </a:ln>
          <a:effectLst/>
        </p:spPr>
      </p:sp>
      <p:sp>
        <p:nvSpPr>
          <p:cNvPr id="13" name="Shape 11"/>
          <p:cNvSpPr/>
          <p:nvPr/>
        </p:nvSpPr>
        <p:spPr>
          <a:xfrm>
            <a:off x="4818888" y="1316736"/>
            <a:ext cx="566928" cy="566928"/>
          </a:xfrm>
          <a:prstGeom prst="ellipse">
            <a:avLst/>
          </a:prstGeom>
          <a:solidFill>
            <a:srgbClr val="A78295"/>
          </a:solidFill>
          <a:ln w="12700">
            <a:noFill/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818888" y="1316736"/>
            <a:ext cx="566928" cy="566928"/>
          </a:xfrm>
          <a:prstGeom prst="ellipse">
            <a:avLst/>
          </a:prstGeom>
          <a:solidFill>
            <a:srgbClr val="3F2E3E"/>
          </a:solidFill>
          <a:ln/>
          <a:effectLst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5F5"/>
                </a:solidFill>
                <a:ea typeface="Calibri" pitchFamily="34" charset="-122"/>
                <a:cs typeface="Calibri" pitchFamily="34" charset="-120"/>
              </a:rPr>
              <a:t>2</a:t>
            </a:r>
          </a:p>
        </p:txBody>
      </p:sp>
      <p:sp>
        <p:nvSpPr>
          <p:cNvPr id="15" name="Text 13"/>
          <p:cNvSpPr/>
          <p:nvPr/>
        </p:nvSpPr>
        <p:spPr>
          <a:xfrm>
            <a:off x="5513832" y="1170432"/>
            <a:ext cx="3108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F2E3E"/>
                </a:solidFill>
                <a:latin typeface="Montserrat Bold" panose="00000800000000000000" pitchFamily="2" charset="0"/>
                <a:ea typeface="Calibri" pitchFamily="34" charset="-122"/>
                <a:cs typeface="Calibri" pitchFamily="34" charset="-120"/>
              </a:rPr>
              <a:t>CLASSIFICATION</a:t>
            </a:r>
          </a:p>
        </p:txBody>
      </p:sp>
      <p:sp>
        <p:nvSpPr>
          <p:cNvPr id="16" name="Text 14"/>
          <p:cNvSpPr/>
          <p:nvPr/>
        </p:nvSpPr>
        <p:spPr>
          <a:xfrm>
            <a:off x="5513832" y="1380744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74151"/>
                </a:solidFill>
                <a:ea typeface="Calibri" pitchFamily="34" charset="-122"/>
                <a:cs typeface="Calibri" pitchFamily="34" charset="-120"/>
              </a:rPr>
              <a:t>Classifier Heuristique + API</a:t>
            </a:r>
          </a:p>
        </p:txBody>
      </p:sp>
      <p:sp>
        <p:nvSpPr>
          <p:cNvPr id="17" name="Text 15"/>
          <p:cNvSpPr/>
          <p:nvPr/>
        </p:nvSpPr>
        <p:spPr>
          <a:xfrm>
            <a:off x="5513832" y="1673352"/>
            <a:ext cx="31089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F2E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Mots-clés → type détecté (+ fallback </a:t>
            </a:r>
            <a:r>
              <a:rPr lang="en-US" sz="1100" dirty="0" err="1">
                <a:solidFill>
                  <a:srgbClr val="3F2E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Groq</a:t>
            </a:r>
            <a:r>
              <a:rPr lang="en-US" sz="1100" dirty="0">
                <a:solidFill>
                  <a:srgbClr val="3F2E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</a:t>
            </a:r>
          </a:p>
        </p:txBody>
      </p:sp>
      <p:sp>
        <p:nvSpPr>
          <p:cNvPr id="18" name="Text 16"/>
          <p:cNvSpPr/>
          <p:nvPr/>
        </p:nvSpPr>
        <p:spPr>
          <a:xfrm>
            <a:off x="6492240" y="2176272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0C9A7"/>
                </a:solidFill>
              </a:rPr>
              <a:t>↓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274320" y="2340864"/>
            <a:ext cx="4069080" cy="1097280"/>
          </a:xfrm>
          <a:prstGeom prst="roundRect">
            <a:avLst/>
          </a:prstGeom>
          <a:solidFill>
            <a:srgbClr val="FFF5F5"/>
          </a:solidFill>
          <a:ln w="19050">
            <a:solidFill>
              <a:srgbClr val="4D1717"/>
            </a:solidFill>
            <a:prstDash val="solid"/>
          </a:ln>
          <a:effectLst/>
        </p:spPr>
      </p:sp>
      <p:sp>
        <p:nvSpPr>
          <p:cNvPr id="20" name="Shape 18"/>
          <p:cNvSpPr/>
          <p:nvPr/>
        </p:nvSpPr>
        <p:spPr>
          <a:xfrm>
            <a:off x="384048" y="2578608"/>
            <a:ext cx="566928" cy="566928"/>
          </a:xfrm>
          <a:prstGeom prst="ellipse">
            <a:avLst/>
          </a:prstGeom>
          <a:solidFill>
            <a:srgbClr val="3F2E3E"/>
          </a:solidFill>
          <a:ln w="12700">
            <a:solidFill>
              <a:srgbClr val="5C4A1A"/>
            </a:solidFill>
            <a:prstDash val="solid"/>
          </a:ln>
          <a:effectLst/>
        </p:spPr>
      </p:sp>
      <p:sp>
        <p:nvSpPr>
          <p:cNvPr id="21" name="Text 19"/>
          <p:cNvSpPr/>
          <p:nvPr/>
        </p:nvSpPr>
        <p:spPr>
          <a:xfrm>
            <a:off x="384048" y="257860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5F5"/>
                </a:solidFill>
                <a:ea typeface="Calibri" pitchFamily="34" charset="-122"/>
                <a:cs typeface="Calibri" pitchFamily="34" charset="-120"/>
              </a:rPr>
              <a:t>3</a:t>
            </a:r>
          </a:p>
        </p:txBody>
      </p:sp>
      <p:sp>
        <p:nvSpPr>
          <p:cNvPr id="22" name="Text 20"/>
          <p:cNvSpPr/>
          <p:nvPr/>
        </p:nvSpPr>
        <p:spPr>
          <a:xfrm>
            <a:off x="1078992" y="2432304"/>
            <a:ext cx="3108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F2E3E"/>
                </a:solidFill>
                <a:latin typeface="Montserrat Bold" panose="00000800000000000000" pitchFamily="2" charset="0"/>
                <a:ea typeface="Calibri" pitchFamily="34" charset="-122"/>
                <a:cs typeface="Calibri" pitchFamily="34" charset="-120"/>
              </a:rPr>
              <a:t>EXTRACTION</a:t>
            </a:r>
          </a:p>
        </p:txBody>
      </p:sp>
      <p:sp>
        <p:nvSpPr>
          <p:cNvPr id="23" name="Text 21"/>
          <p:cNvSpPr/>
          <p:nvPr/>
        </p:nvSpPr>
        <p:spPr>
          <a:xfrm>
            <a:off x="1078992" y="2642616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74151"/>
                </a:solidFill>
                <a:ea typeface="Calibri" pitchFamily="34" charset="-122"/>
                <a:cs typeface="Calibri" pitchFamily="34" charset="-120"/>
              </a:rPr>
              <a:t>Templates JSON </a:t>
            </a:r>
            <a:r>
              <a:rPr lang="en-US" sz="1400" dirty="0" err="1">
                <a:solidFill>
                  <a:srgbClr val="374151"/>
                </a:solidFill>
                <a:ea typeface="Calibri" pitchFamily="34" charset="-122"/>
                <a:cs typeface="Calibri" pitchFamily="34" charset="-120"/>
              </a:rPr>
              <a:t>dynamiques</a:t>
            </a:r>
            <a:endParaRPr lang="en-US" sz="1400" dirty="0">
              <a:solidFill>
                <a:srgbClr val="374151"/>
              </a:solidFill>
              <a:ea typeface="Calibri" pitchFamily="34" charset="-122"/>
              <a:cs typeface="Calibri" pitchFamily="34" charset="-120"/>
            </a:endParaRPr>
          </a:p>
        </p:txBody>
      </p:sp>
      <p:sp>
        <p:nvSpPr>
          <p:cNvPr id="24" name="Text 22"/>
          <p:cNvSpPr/>
          <p:nvPr/>
        </p:nvSpPr>
        <p:spPr>
          <a:xfrm>
            <a:off x="1078992" y="2935224"/>
            <a:ext cx="31089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F2E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templates : meeting, idea, todo, qa, question, default</a:t>
            </a:r>
          </a:p>
        </p:txBody>
      </p:sp>
      <p:sp>
        <p:nvSpPr>
          <p:cNvPr id="25" name="Text 23"/>
          <p:cNvSpPr/>
          <p:nvPr/>
        </p:nvSpPr>
        <p:spPr>
          <a:xfrm>
            <a:off x="2057400" y="3438144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0C9A7"/>
                </a:solidFill>
              </a:rPr>
              <a:t>↓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4709160" y="2340864"/>
            <a:ext cx="4069080" cy="1097280"/>
          </a:xfrm>
          <a:prstGeom prst="roundRect">
            <a:avLst/>
          </a:prstGeom>
          <a:solidFill>
            <a:srgbClr val="FFF5F5"/>
          </a:solidFill>
          <a:ln w="19050">
            <a:solidFill>
              <a:srgbClr val="4D1717"/>
            </a:solidFill>
            <a:prstDash val="solid"/>
          </a:ln>
          <a:effectLst/>
        </p:spPr>
      </p:sp>
      <p:sp>
        <p:nvSpPr>
          <p:cNvPr id="27" name="Shape 25"/>
          <p:cNvSpPr/>
          <p:nvPr/>
        </p:nvSpPr>
        <p:spPr>
          <a:xfrm>
            <a:off x="4818888" y="2578608"/>
            <a:ext cx="566928" cy="566928"/>
          </a:xfrm>
          <a:prstGeom prst="ellipse">
            <a:avLst/>
          </a:prstGeom>
          <a:solidFill>
            <a:srgbClr val="3F2E3E"/>
          </a:solidFill>
          <a:ln w="12700">
            <a:solidFill>
              <a:srgbClr val="4A1A5C"/>
            </a:solidFill>
            <a:prstDash val="solid"/>
          </a:ln>
          <a:effectLst/>
        </p:spPr>
      </p:sp>
      <p:sp>
        <p:nvSpPr>
          <p:cNvPr id="28" name="Text 26"/>
          <p:cNvSpPr/>
          <p:nvPr/>
        </p:nvSpPr>
        <p:spPr>
          <a:xfrm>
            <a:off x="4818888" y="257860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algn="ctr">
              <a:buNone/>
            </a:pPr>
            <a:r>
              <a:rPr lang="en-US" sz="2000" b="1" dirty="0">
                <a:solidFill>
                  <a:srgbClr val="FFF5F5"/>
                </a:solidFill>
                <a:ea typeface="Calibri" pitchFamily="34" charset="-122"/>
                <a:cs typeface="Calibri" pitchFamily="34" charset="-120"/>
              </a:rPr>
              <a:t>4</a:t>
            </a:r>
          </a:p>
        </p:txBody>
      </p:sp>
      <p:sp>
        <p:nvSpPr>
          <p:cNvPr id="29" name="Text 27"/>
          <p:cNvSpPr/>
          <p:nvPr/>
        </p:nvSpPr>
        <p:spPr>
          <a:xfrm>
            <a:off x="5513832" y="2432304"/>
            <a:ext cx="3108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F2E3E"/>
                </a:solidFill>
                <a:latin typeface="Montserrat Bold" panose="00000800000000000000" pitchFamily="2" charset="0"/>
                <a:ea typeface="Calibri" pitchFamily="34" charset="-122"/>
                <a:cs typeface="Calibri" pitchFamily="34" charset="-120"/>
              </a:rPr>
              <a:t>API</a:t>
            </a:r>
            <a:r>
              <a:rPr lang="en-US" sz="1000" b="1" kern="0" spc="150" dirty="0">
                <a:solidFill>
                  <a:srgbClr val="3F2E3E"/>
                </a:solidFill>
                <a:latin typeface="Montserrat Bold" panose="00000800000000000000" pitchFamily="2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00" dirty="0">
                <a:solidFill>
                  <a:srgbClr val="3F2E3E"/>
                </a:solidFill>
                <a:latin typeface="Montserrat Bold" panose="00000800000000000000" pitchFamily="2" charset="0"/>
                <a:ea typeface="Calibri" pitchFamily="34" charset="-122"/>
                <a:cs typeface="Calibri" pitchFamily="34" charset="-120"/>
              </a:rPr>
              <a:t>LAYER</a:t>
            </a:r>
          </a:p>
        </p:txBody>
      </p:sp>
      <p:sp>
        <p:nvSpPr>
          <p:cNvPr id="30" name="Text 28"/>
          <p:cNvSpPr/>
          <p:nvPr/>
        </p:nvSpPr>
        <p:spPr>
          <a:xfrm>
            <a:off x="5513832" y="2642616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dirty="0">
                <a:solidFill>
                  <a:srgbClr val="374151"/>
                </a:solidFill>
                <a:ea typeface="Calibri" pitchFamily="34" charset="-122"/>
                <a:cs typeface="Calibri" pitchFamily="34" charset="-120"/>
              </a:rPr>
              <a:t>Appel Groq (Llama 3.1)</a:t>
            </a:r>
          </a:p>
        </p:txBody>
      </p:sp>
      <p:sp>
        <p:nvSpPr>
          <p:cNvPr id="31" name="Text 29"/>
          <p:cNvSpPr/>
          <p:nvPr/>
        </p:nvSpPr>
        <p:spPr>
          <a:xfrm>
            <a:off x="5513832" y="2935224"/>
            <a:ext cx="31089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00" dirty="0">
                <a:solidFill>
                  <a:srgbClr val="3F2E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Retry logic + nettoyage markdown fences</a:t>
            </a:r>
          </a:p>
        </p:txBody>
      </p:sp>
      <p:sp>
        <p:nvSpPr>
          <p:cNvPr id="32" name="Text 30"/>
          <p:cNvSpPr/>
          <p:nvPr/>
        </p:nvSpPr>
        <p:spPr>
          <a:xfrm>
            <a:off x="6492240" y="3438144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0C9A7"/>
                </a:solidFill>
              </a:rPr>
              <a:t>↓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274320" y="3602736"/>
            <a:ext cx="4069080" cy="1014984"/>
          </a:xfrm>
          <a:prstGeom prst="roundRect">
            <a:avLst/>
          </a:prstGeom>
          <a:solidFill>
            <a:srgbClr val="FFF5F5"/>
          </a:solidFill>
          <a:ln w="19050">
            <a:solidFill>
              <a:srgbClr val="4D1717"/>
            </a:solidFill>
            <a:prstDash val="solid"/>
          </a:ln>
          <a:effectLst/>
        </p:spPr>
        <p:txBody>
          <a:bodyPr/>
          <a:lstStyle/>
          <a:p>
            <a:endParaRPr lang="fr-MA" dirty="0"/>
          </a:p>
        </p:txBody>
      </p:sp>
      <p:sp>
        <p:nvSpPr>
          <p:cNvPr id="34" name="Shape 32"/>
          <p:cNvSpPr/>
          <p:nvPr/>
        </p:nvSpPr>
        <p:spPr>
          <a:xfrm>
            <a:off x="384048" y="3840480"/>
            <a:ext cx="566928" cy="566928"/>
          </a:xfrm>
          <a:prstGeom prst="ellipse">
            <a:avLst/>
          </a:prstGeom>
          <a:solidFill>
            <a:srgbClr val="3F2E3E"/>
          </a:solidFill>
          <a:ln w="12700">
            <a:solidFill>
              <a:srgbClr val="1A3A5C"/>
            </a:solidFill>
            <a:prstDash val="solid"/>
          </a:ln>
          <a:effectLst/>
        </p:spPr>
      </p:sp>
      <p:sp>
        <p:nvSpPr>
          <p:cNvPr id="35" name="Text 33"/>
          <p:cNvSpPr/>
          <p:nvPr/>
        </p:nvSpPr>
        <p:spPr>
          <a:xfrm>
            <a:off x="384048" y="384048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400" b="1" dirty="0">
                <a:solidFill>
                  <a:srgbClr val="FFF5F5"/>
                </a:solidFill>
                <a:ea typeface="Calibri" pitchFamily="34" charset="-122"/>
                <a:cs typeface="Calibri" pitchFamily="34" charset="-120"/>
              </a:rPr>
              <a:t>5</a:t>
            </a:r>
          </a:p>
        </p:txBody>
      </p:sp>
      <p:sp>
        <p:nvSpPr>
          <p:cNvPr id="36" name="Text 34"/>
          <p:cNvSpPr/>
          <p:nvPr/>
        </p:nvSpPr>
        <p:spPr>
          <a:xfrm>
            <a:off x="1078992" y="3694176"/>
            <a:ext cx="3108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F2E3E"/>
                </a:solidFill>
                <a:latin typeface="Montserrat Bold" panose="00000800000000000000" pitchFamily="2" charset="0"/>
                <a:ea typeface="Calibri" pitchFamily="34" charset="-122"/>
                <a:cs typeface="Calibri" pitchFamily="34" charset="-120"/>
              </a:rPr>
              <a:t>VALIDATION</a:t>
            </a:r>
          </a:p>
        </p:txBody>
      </p:sp>
      <p:sp>
        <p:nvSpPr>
          <p:cNvPr id="37" name="Text 35"/>
          <p:cNvSpPr/>
          <p:nvPr/>
        </p:nvSpPr>
        <p:spPr>
          <a:xfrm>
            <a:off x="1078992" y="3904488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74151"/>
                </a:solidFill>
                <a:ea typeface="Calibri" pitchFamily="34" charset="-122"/>
                <a:cs typeface="Calibri" pitchFamily="34" charset="-120"/>
              </a:rPr>
              <a:t>Vérification &amp; </a:t>
            </a:r>
            <a:r>
              <a:rPr lang="en-US" sz="1400" dirty="0" err="1">
                <a:solidFill>
                  <a:srgbClr val="374151"/>
                </a:solidFill>
                <a:ea typeface="Calibri" pitchFamily="34" charset="-122"/>
                <a:cs typeface="Calibri" pitchFamily="34" charset="-120"/>
              </a:rPr>
              <a:t>nettoyage</a:t>
            </a:r>
            <a:endParaRPr lang="en-US" sz="1400" dirty="0">
              <a:solidFill>
                <a:srgbClr val="374151"/>
              </a:solidFill>
              <a:ea typeface="Calibri" pitchFamily="34" charset="-122"/>
              <a:cs typeface="Calibri" pitchFamily="34" charset="-120"/>
            </a:endParaRPr>
          </a:p>
        </p:txBody>
      </p:sp>
      <p:sp>
        <p:nvSpPr>
          <p:cNvPr id="38" name="Text 36"/>
          <p:cNvSpPr/>
          <p:nvPr/>
        </p:nvSpPr>
        <p:spPr>
          <a:xfrm>
            <a:off x="1078992" y="4197096"/>
            <a:ext cx="31089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F2E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Champs requis + valeurs par </a:t>
            </a:r>
            <a:r>
              <a:rPr lang="en-US" sz="1100" dirty="0" err="1">
                <a:solidFill>
                  <a:srgbClr val="3F2E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défaut</a:t>
            </a:r>
            <a:endParaRPr lang="en-US" sz="1100" dirty="0">
              <a:solidFill>
                <a:srgbClr val="3F2E3E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</p:txBody>
      </p:sp>
      <p:sp>
        <p:nvSpPr>
          <p:cNvPr id="39" name="Shape 37"/>
          <p:cNvSpPr/>
          <p:nvPr/>
        </p:nvSpPr>
        <p:spPr>
          <a:xfrm>
            <a:off x="4709160" y="3602736"/>
            <a:ext cx="4069080" cy="1014984"/>
          </a:xfrm>
          <a:prstGeom prst="roundRect">
            <a:avLst/>
          </a:prstGeom>
          <a:solidFill>
            <a:srgbClr val="FFF5F5"/>
          </a:solidFill>
          <a:ln w="19050">
            <a:solidFill>
              <a:srgbClr val="4D1717"/>
            </a:solidFill>
            <a:prstDash val="solid"/>
          </a:ln>
          <a:effectLst/>
        </p:spPr>
      </p:sp>
      <p:sp>
        <p:nvSpPr>
          <p:cNvPr id="40" name="Shape 38"/>
          <p:cNvSpPr/>
          <p:nvPr/>
        </p:nvSpPr>
        <p:spPr>
          <a:xfrm>
            <a:off x="4818888" y="3840480"/>
            <a:ext cx="566928" cy="566928"/>
          </a:xfrm>
          <a:prstGeom prst="ellipse">
            <a:avLst/>
          </a:prstGeom>
          <a:solidFill>
            <a:srgbClr val="3F2E3E"/>
          </a:solidFill>
          <a:ln w="12700">
            <a:solidFill>
              <a:srgbClr val="5C1A2A"/>
            </a:solidFill>
            <a:prstDash val="solid"/>
          </a:ln>
          <a:effectLst/>
        </p:spPr>
      </p:sp>
      <p:sp>
        <p:nvSpPr>
          <p:cNvPr id="41" name="Text 39"/>
          <p:cNvSpPr/>
          <p:nvPr/>
        </p:nvSpPr>
        <p:spPr>
          <a:xfrm>
            <a:off x="4818888" y="384048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2000" b="1" dirty="0">
                <a:solidFill>
                  <a:srgbClr val="FFF5F5"/>
                </a:solidFill>
                <a:ea typeface="Calibri" pitchFamily="34" charset="-122"/>
                <a:cs typeface="Calibri" pitchFamily="34" charset="-120"/>
              </a:rPr>
              <a:t>6</a:t>
            </a:r>
          </a:p>
        </p:txBody>
      </p:sp>
      <p:sp>
        <p:nvSpPr>
          <p:cNvPr id="42" name="Text 40"/>
          <p:cNvSpPr/>
          <p:nvPr/>
        </p:nvSpPr>
        <p:spPr>
          <a:xfrm>
            <a:off x="5513832" y="3694176"/>
            <a:ext cx="3108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F2E3E"/>
                </a:solidFill>
                <a:latin typeface="Montserrat Bold" panose="00000800000000000000" pitchFamily="2" charset="0"/>
                <a:ea typeface="Calibri" pitchFamily="34" charset="-122"/>
                <a:cs typeface="Calibri" pitchFamily="34" charset="-120"/>
              </a:rPr>
              <a:t>RENDU</a:t>
            </a:r>
          </a:p>
        </p:txBody>
      </p:sp>
      <p:sp>
        <p:nvSpPr>
          <p:cNvPr id="43" name="Text 41"/>
          <p:cNvSpPr/>
          <p:nvPr/>
        </p:nvSpPr>
        <p:spPr>
          <a:xfrm>
            <a:off x="5513832" y="3904488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74151"/>
                </a:solidFill>
                <a:ea typeface="Calibri" pitchFamily="34" charset="-122"/>
                <a:cs typeface="Calibri" pitchFamily="34" charset="-120"/>
              </a:rPr>
              <a:t>Générateur .docx</a:t>
            </a:r>
          </a:p>
        </p:txBody>
      </p:sp>
      <p:sp>
        <p:nvSpPr>
          <p:cNvPr id="44" name="Text 42"/>
          <p:cNvSpPr/>
          <p:nvPr/>
        </p:nvSpPr>
        <p:spPr>
          <a:xfrm>
            <a:off x="5513832" y="4197096"/>
            <a:ext cx="31089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>
              <a:buNone/>
            </a:pPr>
            <a:r>
              <a:rPr lang="en-US" sz="1100" dirty="0">
                <a:solidFill>
                  <a:srgbClr val="3F2E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python-docx : styles, couleurs, tableaux</a:t>
            </a:r>
          </a:p>
        </p:txBody>
      </p:sp>
      <p:sp>
        <p:nvSpPr>
          <p:cNvPr id="45" name="Shape 43"/>
          <p:cNvSpPr/>
          <p:nvPr/>
        </p:nvSpPr>
        <p:spPr>
          <a:xfrm>
            <a:off x="3063240" y="4690491"/>
            <a:ext cx="3108960" cy="320040"/>
          </a:xfrm>
          <a:prstGeom prst="roundRect">
            <a:avLst/>
          </a:prstGeom>
          <a:solidFill>
            <a:srgbClr val="3F2E3E"/>
          </a:solidFill>
          <a:ln w="19050">
            <a:noFill/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3017520" y="4665599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FF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Sortie : documents .docx structurés </a:t>
            </a:r>
            <a:r>
              <a:rPr lang="en-US" sz="1100" i="1">
                <a:solidFill>
                  <a:srgbClr val="FF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dans output</a:t>
            </a:r>
            <a:endParaRPr lang="en-US" sz="1100" i="1" dirty="0">
              <a:solidFill>
                <a:srgbClr val="FFF5F5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07560758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-14631"/>
            <a:ext cx="9144000" cy="914400"/>
          </a:xfrm>
          <a:prstGeom prst="rect">
            <a:avLst/>
          </a:prstGeom>
          <a:solidFill>
            <a:srgbClr val="331D2C"/>
          </a:solidFill>
          <a:ln w="12700">
            <a:solidFill>
              <a:srgbClr val="0F1B2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146304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Workflow Global de l'Agent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256032" y="1188720"/>
            <a:ext cx="1133856" cy="3200400"/>
          </a:xfrm>
          <a:prstGeom prst="roundRect">
            <a:avLst/>
          </a:prstGeom>
          <a:solidFill>
            <a:srgbClr val="FFF5F5"/>
          </a:solidFill>
          <a:ln w="19050">
            <a:solidFill>
              <a:srgbClr val="331D2C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85216" y="129844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endParaRPr lang="en-US" sz="1400" dirty="0">
              <a:solidFill>
                <a:srgbClr val="374151"/>
              </a:solidFill>
              <a:ea typeface="Calibri" pitchFamily="34" charset="-122"/>
              <a:cs typeface="Calibri" pitchFamily="34" charset="-120"/>
            </a:endParaRPr>
          </a:p>
        </p:txBody>
      </p:sp>
      <p:sp>
        <p:nvSpPr>
          <p:cNvPr id="8" name="Text 6"/>
          <p:cNvSpPr/>
          <p:nvPr/>
        </p:nvSpPr>
        <p:spPr>
          <a:xfrm>
            <a:off x="256032" y="1847088"/>
            <a:ext cx="11338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256032" y="2395728"/>
            <a:ext cx="113385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374151"/>
                </a:solidFill>
                <a:latin typeface="Montserrat Bold" panose="00000800000000000000" pitchFamily="2" charset="0"/>
                <a:ea typeface="Calibri" pitchFamily="34" charset="-122"/>
                <a:cs typeface="Calibri" pitchFamily="34" charset="-120"/>
              </a:rPr>
              <a:t>Lecture</a:t>
            </a:r>
          </a:p>
        </p:txBody>
      </p:sp>
      <p:sp>
        <p:nvSpPr>
          <p:cNvPr id="10" name="Text 8"/>
          <p:cNvSpPr/>
          <p:nvPr/>
        </p:nvSpPr>
        <p:spPr>
          <a:xfrm>
            <a:off x="310896" y="2761488"/>
            <a:ext cx="10241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 err="1">
                <a:solidFill>
                  <a:srgbClr val="374151"/>
                </a:solidFill>
                <a:ea typeface="Calibri" pitchFamily="34" charset="-122"/>
                <a:cs typeface="Calibri" pitchFamily="34" charset="-120"/>
              </a:rPr>
              <a:t>Fichier</a:t>
            </a:r>
            <a:r>
              <a:rPr lang="en-US" sz="1400" dirty="0">
                <a:solidFill>
                  <a:srgbClr val="374151"/>
                </a:solidFill>
                <a:ea typeface="Calibri" pitchFamily="34" charset="-122"/>
                <a:cs typeface="Calibri" pitchFamily="34" charset="-120"/>
              </a:rPr>
              <a:t> .txt brut chargé </a:t>
            </a:r>
            <a:r>
              <a:rPr lang="en-US" sz="1400" dirty="0" err="1">
                <a:solidFill>
                  <a:srgbClr val="374151"/>
                </a:solidFill>
                <a:ea typeface="Calibri" pitchFamily="34" charset="-122"/>
                <a:cs typeface="Calibri" pitchFamily="34" charset="-120"/>
              </a:rPr>
              <a:t>depuis</a:t>
            </a:r>
            <a:r>
              <a:rPr lang="en-US" sz="1400" dirty="0">
                <a:solidFill>
                  <a:srgbClr val="374151"/>
                </a:solidFill>
                <a:ea typeface="Calibri" pitchFamily="34" charset="-122"/>
                <a:cs typeface="Calibri" pitchFamily="34" charset="-120"/>
              </a:rPr>
              <a:t> notes/</a:t>
            </a:r>
          </a:p>
        </p:txBody>
      </p:sp>
      <p:sp>
        <p:nvSpPr>
          <p:cNvPr id="11" name="Text 9"/>
          <p:cNvSpPr/>
          <p:nvPr/>
        </p:nvSpPr>
        <p:spPr>
          <a:xfrm>
            <a:off x="1353312" y="2697480"/>
            <a:ext cx="14630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7A466A"/>
                </a:solidFill>
              </a:rPr>
              <a:t>→</a:t>
            </a:r>
            <a:endParaRPr lang="en-US" sz="1300" dirty="0">
              <a:solidFill>
                <a:srgbClr val="7A466A"/>
              </a:solidFill>
            </a:endParaRPr>
          </a:p>
        </p:txBody>
      </p:sp>
      <p:sp>
        <p:nvSpPr>
          <p:cNvPr id="12" name="Shape 10"/>
          <p:cNvSpPr/>
          <p:nvPr/>
        </p:nvSpPr>
        <p:spPr>
          <a:xfrm>
            <a:off x="1499616" y="1188720"/>
            <a:ext cx="1133856" cy="3200400"/>
          </a:xfrm>
          <a:prstGeom prst="roundRect">
            <a:avLst/>
          </a:prstGeom>
          <a:solidFill>
            <a:srgbClr val="FFF5F5"/>
          </a:solidFill>
          <a:ln w="19050">
            <a:solidFill>
              <a:srgbClr val="331D2C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1828800" y="129844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algn="ctr">
              <a:buNone/>
            </a:pPr>
            <a:endParaRPr lang="en-US" sz="1400" dirty="0">
              <a:solidFill>
                <a:srgbClr val="374151"/>
              </a:solidFill>
              <a:ea typeface="Calibri" pitchFamily="34" charset="-122"/>
              <a:cs typeface="Calibri" pitchFamily="34" charset="-120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1499616" y="1847088"/>
            <a:ext cx="11338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1499616" y="2395728"/>
            <a:ext cx="113385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374151"/>
                </a:solidFill>
                <a:latin typeface="Montserrat Bold" panose="00000800000000000000" pitchFamily="2" charset="0"/>
                <a:ea typeface="Calibri" pitchFamily="34" charset="-122"/>
                <a:cs typeface="Calibri" pitchFamily="34" charset="-120"/>
              </a:rPr>
              <a:t>Classification</a:t>
            </a:r>
          </a:p>
        </p:txBody>
      </p:sp>
      <p:sp>
        <p:nvSpPr>
          <p:cNvPr id="17" name="Text 15"/>
          <p:cNvSpPr/>
          <p:nvPr/>
        </p:nvSpPr>
        <p:spPr>
          <a:xfrm>
            <a:off x="1554480" y="2761488"/>
            <a:ext cx="10241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 err="1">
                <a:solidFill>
                  <a:srgbClr val="374151"/>
                </a:solidFill>
                <a:ea typeface="Calibri" pitchFamily="34" charset="-122"/>
                <a:cs typeface="Calibri" pitchFamily="34" charset="-120"/>
              </a:rPr>
              <a:t>Détection</a:t>
            </a:r>
            <a:r>
              <a:rPr lang="en-US" sz="1400" dirty="0">
                <a:solidFill>
                  <a:srgbClr val="374151"/>
                </a:solidFill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dirty="0" err="1">
                <a:solidFill>
                  <a:srgbClr val="374151"/>
                </a:solidFill>
                <a:ea typeface="Calibri" pitchFamily="34" charset="-122"/>
                <a:cs typeface="Calibri" pitchFamily="34" charset="-120"/>
              </a:rPr>
              <a:t>automatique</a:t>
            </a:r>
            <a:r>
              <a:rPr lang="en-US" sz="1400" dirty="0">
                <a:solidFill>
                  <a:srgbClr val="374151"/>
                </a:solidFill>
                <a:ea typeface="Calibri" pitchFamily="34" charset="-122"/>
                <a:cs typeface="Calibri" pitchFamily="34" charset="-120"/>
              </a:rPr>
              <a:t> du type de note</a:t>
            </a:r>
          </a:p>
        </p:txBody>
      </p:sp>
      <p:sp>
        <p:nvSpPr>
          <p:cNvPr id="18" name="Text 16"/>
          <p:cNvSpPr/>
          <p:nvPr/>
        </p:nvSpPr>
        <p:spPr>
          <a:xfrm>
            <a:off x="2596896" y="2697480"/>
            <a:ext cx="14630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7A466A"/>
                </a:solidFill>
              </a:rPr>
              <a:t>→</a:t>
            </a:r>
            <a:endParaRPr lang="en-US" sz="1300" dirty="0">
              <a:solidFill>
                <a:srgbClr val="7A466A"/>
              </a:solidFill>
            </a:endParaRPr>
          </a:p>
        </p:txBody>
      </p:sp>
      <p:sp>
        <p:nvSpPr>
          <p:cNvPr id="19" name="Shape 17"/>
          <p:cNvSpPr/>
          <p:nvPr/>
        </p:nvSpPr>
        <p:spPr>
          <a:xfrm>
            <a:off x="2743200" y="1188720"/>
            <a:ext cx="1133856" cy="3200400"/>
          </a:xfrm>
          <a:prstGeom prst="roundRect">
            <a:avLst/>
          </a:prstGeom>
          <a:solidFill>
            <a:srgbClr val="FFF5F5"/>
          </a:solidFill>
          <a:ln w="19050">
            <a:solidFill>
              <a:srgbClr val="331D2C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3072384" y="129844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endParaRPr lang="en-US" sz="1400" dirty="0">
              <a:solidFill>
                <a:srgbClr val="374151"/>
              </a:solidFill>
              <a:ea typeface="Calibri" pitchFamily="34" charset="-122"/>
              <a:cs typeface="Calibri" pitchFamily="34" charset="-120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2743200" y="1847088"/>
            <a:ext cx="11338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2743200" y="2395728"/>
            <a:ext cx="113385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374151"/>
                </a:solidFill>
                <a:latin typeface="Montserrat Bold" panose="00000800000000000000" pitchFamily="2" charset="0"/>
                <a:ea typeface="Calibri" pitchFamily="34" charset="-122"/>
                <a:cs typeface="Calibri" pitchFamily="34" charset="-120"/>
              </a:rPr>
              <a:t>Template</a:t>
            </a:r>
          </a:p>
        </p:txBody>
      </p:sp>
      <p:sp>
        <p:nvSpPr>
          <p:cNvPr id="24" name="Text 22"/>
          <p:cNvSpPr/>
          <p:nvPr/>
        </p:nvSpPr>
        <p:spPr>
          <a:xfrm>
            <a:off x="2798064" y="2761488"/>
            <a:ext cx="10241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374151"/>
                </a:solidFill>
                <a:ea typeface="Calibri" pitchFamily="34" charset="-122"/>
                <a:cs typeface="Calibri" pitchFamily="34" charset="-120"/>
              </a:rPr>
              <a:t>Chargement du prompt adapté au type</a:t>
            </a:r>
          </a:p>
        </p:txBody>
      </p:sp>
      <p:sp>
        <p:nvSpPr>
          <p:cNvPr id="25" name="Text 23"/>
          <p:cNvSpPr/>
          <p:nvPr/>
        </p:nvSpPr>
        <p:spPr>
          <a:xfrm>
            <a:off x="3840480" y="2697480"/>
            <a:ext cx="14630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7A466A"/>
                </a:solidFill>
              </a:rPr>
              <a:t>→</a:t>
            </a:r>
            <a:endParaRPr lang="en-US" sz="1300" dirty="0">
              <a:solidFill>
                <a:srgbClr val="7A466A"/>
              </a:solidFill>
            </a:endParaRPr>
          </a:p>
        </p:txBody>
      </p:sp>
      <p:sp>
        <p:nvSpPr>
          <p:cNvPr id="26" name="Shape 24"/>
          <p:cNvSpPr/>
          <p:nvPr/>
        </p:nvSpPr>
        <p:spPr>
          <a:xfrm>
            <a:off x="3986784" y="1188720"/>
            <a:ext cx="1133856" cy="3200400"/>
          </a:xfrm>
          <a:prstGeom prst="roundRect">
            <a:avLst/>
          </a:prstGeom>
          <a:solidFill>
            <a:srgbClr val="FFF5F5"/>
          </a:solidFill>
          <a:ln w="19050">
            <a:solidFill>
              <a:srgbClr val="331D2C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fr-MA" dirty="0"/>
          </a:p>
        </p:txBody>
      </p:sp>
      <p:sp>
        <p:nvSpPr>
          <p:cNvPr id="28" name="Text 26"/>
          <p:cNvSpPr/>
          <p:nvPr/>
        </p:nvSpPr>
        <p:spPr>
          <a:xfrm>
            <a:off x="4315968" y="129844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algn="ctr">
              <a:buNone/>
            </a:pPr>
            <a:endParaRPr lang="en-US" sz="1400" dirty="0">
              <a:solidFill>
                <a:srgbClr val="374151"/>
              </a:solidFill>
              <a:ea typeface="Calibri" pitchFamily="34" charset="-122"/>
              <a:cs typeface="Calibri" pitchFamily="34" charset="-120"/>
            </a:endParaRPr>
          </a:p>
        </p:txBody>
      </p:sp>
      <p:sp>
        <p:nvSpPr>
          <p:cNvPr id="29" name="Text 27"/>
          <p:cNvSpPr/>
          <p:nvPr/>
        </p:nvSpPr>
        <p:spPr>
          <a:xfrm>
            <a:off x="3986784" y="1847088"/>
            <a:ext cx="11338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2000" dirty="0"/>
          </a:p>
        </p:txBody>
      </p:sp>
      <p:sp>
        <p:nvSpPr>
          <p:cNvPr id="30" name="Text 28"/>
          <p:cNvSpPr/>
          <p:nvPr/>
        </p:nvSpPr>
        <p:spPr>
          <a:xfrm>
            <a:off x="3986784" y="2395728"/>
            <a:ext cx="113385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374151"/>
                </a:solidFill>
                <a:latin typeface="Montserrat Bold" panose="00000800000000000000" pitchFamily="2" charset="0"/>
                <a:ea typeface="Calibri" pitchFamily="34" charset="-122"/>
                <a:cs typeface="Calibri" pitchFamily="34" charset="-120"/>
              </a:rPr>
              <a:t>API</a:t>
            </a: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 err="1">
                <a:solidFill>
                  <a:srgbClr val="374151"/>
                </a:solidFill>
                <a:latin typeface="Montserrat Bold" panose="00000800000000000000" pitchFamily="2" charset="0"/>
                <a:ea typeface="Calibri" pitchFamily="34" charset="-122"/>
                <a:cs typeface="Calibri" pitchFamily="34" charset="-120"/>
              </a:rPr>
              <a:t>Groq</a:t>
            </a:r>
            <a:endParaRPr lang="en-US" sz="1200" dirty="0">
              <a:solidFill>
                <a:srgbClr val="374151"/>
              </a:solidFill>
              <a:latin typeface="Montserrat Bold" panose="00000800000000000000" pitchFamily="2" charset="0"/>
              <a:ea typeface="Calibri" pitchFamily="34" charset="-122"/>
              <a:cs typeface="Calibri" pitchFamily="34" charset="-120"/>
            </a:endParaRPr>
          </a:p>
        </p:txBody>
      </p:sp>
      <p:sp>
        <p:nvSpPr>
          <p:cNvPr id="31" name="Text 29"/>
          <p:cNvSpPr/>
          <p:nvPr/>
        </p:nvSpPr>
        <p:spPr>
          <a:xfrm>
            <a:off x="4041648" y="2761488"/>
            <a:ext cx="10241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374151"/>
                </a:solidFill>
                <a:ea typeface="Calibri" pitchFamily="34" charset="-122"/>
                <a:cs typeface="Calibri" pitchFamily="34" charset="-120"/>
              </a:rPr>
              <a:t>Structuration en JSON via Llama 3.1</a:t>
            </a:r>
          </a:p>
        </p:txBody>
      </p:sp>
      <p:sp>
        <p:nvSpPr>
          <p:cNvPr id="32" name="Text 30"/>
          <p:cNvSpPr/>
          <p:nvPr/>
        </p:nvSpPr>
        <p:spPr>
          <a:xfrm>
            <a:off x="5084064" y="2697480"/>
            <a:ext cx="14630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7A466A"/>
                </a:solidFill>
              </a:rPr>
              <a:t>→</a:t>
            </a:r>
            <a:endParaRPr lang="en-US" sz="1300" dirty="0">
              <a:solidFill>
                <a:srgbClr val="7A466A"/>
              </a:solidFill>
            </a:endParaRPr>
          </a:p>
        </p:txBody>
      </p:sp>
      <p:sp>
        <p:nvSpPr>
          <p:cNvPr id="33" name="Shape 31"/>
          <p:cNvSpPr/>
          <p:nvPr/>
        </p:nvSpPr>
        <p:spPr>
          <a:xfrm>
            <a:off x="5230368" y="1188720"/>
            <a:ext cx="1133856" cy="3200400"/>
          </a:xfrm>
          <a:prstGeom prst="roundRect">
            <a:avLst/>
          </a:prstGeom>
          <a:solidFill>
            <a:srgbClr val="FFF5F5"/>
          </a:solidFill>
          <a:ln w="19050">
            <a:solidFill>
              <a:srgbClr val="331D2C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35" name="Text 33"/>
          <p:cNvSpPr/>
          <p:nvPr/>
        </p:nvSpPr>
        <p:spPr>
          <a:xfrm>
            <a:off x="5559552" y="129844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endParaRPr lang="en-US" sz="1400" dirty="0">
              <a:solidFill>
                <a:srgbClr val="374151"/>
              </a:solidFill>
              <a:ea typeface="Calibri" pitchFamily="34" charset="-122"/>
              <a:cs typeface="Calibri" pitchFamily="34" charset="-120"/>
            </a:endParaRPr>
          </a:p>
        </p:txBody>
      </p:sp>
      <p:sp>
        <p:nvSpPr>
          <p:cNvPr id="36" name="Text 34"/>
          <p:cNvSpPr/>
          <p:nvPr/>
        </p:nvSpPr>
        <p:spPr>
          <a:xfrm>
            <a:off x="5230368" y="1847088"/>
            <a:ext cx="11338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2000" dirty="0"/>
          </a:p>
        </p:txBody>
      </p:sp>
      <p:sp>
        <p:nvSpPr>
          <p:cNvPr id="37" name="Text 35"/>
          <p:cNvSpPr/>
          <p:nvPr/>
        </p:nvSpPr>
        <p:spPr>
          <a:xfrm>
            <a:off x="5230368" y="2395728"/>
            <a:ext cx="113385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374151"/>
                </a:solidFill>
                <a:latin typeface="Montserrat Bold" panose="00000800000000000000" pitchFamily="2" charset="0"/>
                <a:ea typeface="Calibri" pitchFamily="34" charset="-122"/>
                <a:cs typeface="Calibri" pitchFamily="34" charset="-120"/>
              </a:rPr>
              <a:t>Validation</a:t>
            </a:r>
          </a:p>
        </p:txBody>
      </p:sp>
      <p:sp>
        <p:nvSpPr>
          <p:cNvPr id="38" name="Text 36"/>
          <p:cNvSpPr/>
          <p:nvPr/>
        </p:nvSpPr>
        <p:spPr>
          <a:xfrm>
            <a:off x="5285232" y="2761488"/>
            <a:ext cx="10241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374151"/>
                </a:solidFill>
                <a:ea typeface="Calibri" pitchFamily="34" charset="-122"/>
                <a:cs typeface="Calibri" pitchFamily="34" charset="-120"/>
              </a:rPr>
              <a:t>Nettoyage et vérification des champs</a:t>
            </a:r>
          </a:p>
        </p:txBody>
      </p:sp>
      <p:sp>
        <p:nvSpPr>
          <p:cNvPr id="39" name="Text 37"/>
          <p:cNvSpPr/>
          <p:nvPr/>
        </p:nvSpPr>
        <p:spPr>
          <a:xfrm>
            <a:off x="6327648" y="2697480"/>
            <a:ext cx="14630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7A466A"/>
                </a:solidFill>
              </a:rPr>
              <a:t>→</a:t>
            </a:r>
            <a:endParaRPr lang="en-US" sz="1300" dirty="0">
              <a:solidFill>
                <a:srgbClr val="7A466A"/>
              </a:solidFill>
            </a:endParaRPr>
          </a:p>
        </p:txBody>
      </p:sp>
      <p:sp>
        <p:nvSpPr>
          <p:cNvPr id="40" name="Shape 38"/>
          <p:cNvSpPr/>
          <p:nvPr/>
        </p:nvSpPr>
        <p:spPr>
          <a:xfrm>
            <a:off x="6473952" y="1188720"/>
            <a:ext cx="1133856" cy="3200400"/>
          </a:xfrm>
          <a:prstGeom prst="roundRect">
            <a:avLst/>
          </a:prstGeom>
          <a:solidFill>
            <a:srgbClr val="FFF5F5"/>
          </a:solidFill>
          <a:ln w="19050">
            <a:solidFill>
              <a:srgbClr val="331D2C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42" name="Text 40"/>
          <p:cNvSpPr/>
          <p:nvPr/>
        </p:nvSpPr>
        <p:spPr>
          <a:xfrm>
            <a:off x="6803136" y="129844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algn="ctr">
              <a:buNone/>
            </a:pPr>
            <a:endParaRPr lang="en-US" sz="1400" dirty="0">
              <a:solidFill>
                <a:srgbClr val="374151"/>
              </a:solidFill>
              <a:ea typeface="Calibri" pitchFamily="34" charset="-122"/>
              <a:cs typeface="Calibri" pitchFamily="34" charset="-120"/>
            </a:endParaRPr>
          </a:p>
        </p:txBody>
      </p:sp>
      <p:sp>
        <p:nvSpPr>
          <p:cNvPr id="43" name="Text 41"/>
          <p:cNvSpPr/>
          <p:nvPr/>
        </p:nvSpPr>
        <p:spPr>
          <a:xfrm>
            <a:off x="6473952" y="1847088"/>
            <a:ext cx="11338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2000" dirty="0"/>
          </a:p>
        </p:txBody>
      </p:sp>
      <p:sp>
        <p:nvSpPr>
          <p:cNvPr id="44" name="Text 42"/>
          <p:cNvSpPr/>
          <p:nvPr/>
        </p:nvSpPr>
        <p:spPr>
          <a:xfrm>
            <a:off x="6473952" y="2395728"/>
            <a:ext cx="113385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 err="1">
                <a:solidFill>
                  <a:srgbClr val="374151"/>
                </a:solidFill>
                <a:latin typeface="Montserrat Bold" panose="00000800000000000000" pitchFamily="2" charset="0"/>
                <a:ea typeface="Calibri" pitchFamily="34" charset="-122"/>
                <a:cs typeface="Calibri" pitchFamily="34" charset="-120"/>
              </a:rPr>
              <a:t>Rendu</a:t>
            </a:r>
            <a:endParaRPr lang="en-US" sz="1200" dirty="0">
              <a:solidFill>
                <a:srgbClr val="374151"/>
              </a:solidFill>
              <a:latin typeface="Montserrat Bold" panose="00000800000000000000" pitchFamily="2" charset="0"/>
              <a:ea typeface="Calibri" pitchFamily="34" charset="-122"/>
              <a:cs typeface="Calibri" pitchFamily="34" charset="-120"/>
            </a:endParaRPr>
          </a:p>
        </p:txBody>
      </p:sp>
      <p:sp>
        <p:nvSpPr>
          <p:cNvPr id="45" name="Text 43"/>
          <p:cNvSpPr/>
          <p:nvPr/>
        </p:nvSpPr>
        <p:spPr>
          <a:xfrm>
            <a:off x="6528816" y="2761488"/>
            <a:ext cx="10241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374151"/>
                </a:solidFill>
                <a:ea typeface="Calibri" pitchFamily="34" charset="-122"/>
                <a:cs typeface="Calibri" pitchFamily="34" charset="-120"/>
              </a:rPr>
              <a:t>Génération du document Word mis </a:t>
            </a:r>
            <a:r>
              <a:rPr lang="en-US" sz="1400" dirty="0" err="1">
                <a:solidFill>
                  <a:srgbClr val="374151"/>
                </a:solidFill>
                <a:ea typeface="Calibri" pitchFamily="34" charset="-122"/>
                <a:cs typeface="Calibri" pitchFamily="34" charset="-120"/>
              </a:rPr>
              <a:t>en</a:t>
            </a:r>
            <a:r>
              <a:rPr lang="en-US" sz="1400" dirty="0">
                <a:solidFill>
                  <a:srgbClr val="374151"/>
                </a:solidFill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dirty="0" err="1">
                <a:solidFill>
                  <a:srgbClr val="374151"/>
                </a:solidFill>
                <a:ea typeface="Calibri" pitchFamily="34" charset="-122"/>
                <a:cs typeface="Calibri" pitchFamily="34" charset="-120"/>
              </a:rPr>
              <a:t>forme</a:t>
            </a:r>
            <a:endParaRPr lang="en-US" sz="1400" dirty="0">
              <a:solidFill>
                <a:srgbClr val="374151"/>
              </a:solidFill>
              <a:ea typeface="Calibri" pitchFamily="34" charset="-122"/>
              <a:cs typeface="Calibri" pitchFamily="34" charset="-120"/>
            </a:endParaRPr>
          </a:p>
        </p:txBody>
      </p:sp>
      <p:sp>
        <p:nvSpPr>
          <p:cNvPr id="46" name="Text 44"/>
          <p:cNvSpPr/>
          <p:nvPr/>
        </p:nvSpPr>
        <p:spPr>
          <a:xfrm>
            <a:off x="7571232" y="2697480"/>
            <a:ext cx="14630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7A466A"/>
                </a:solidFill>
              </a:rPr>
              <a:t>→</a:t>
            </a:r>
            <a:endParaRPr lang="en-US" sz="1300" dirty="0">
              <a:solidFill>
                <a:srgbClr val="7A466A"/>
              </a:solidFill>
            </a:endParaRPr>
          </a:p>
        </p:txBody>
      </p:sp>
      <p:sp>
        <p:nvSpPr>
          <p:cNvPr id="47" name="Shape 45"/>
          <p:cNvSpPr/>
          <p:nvPr/>
        </p:nvSpPr>
        <p:spPr>
          <a:xfrm>
            <a:off x="7717536" y="1188720"/>
            <a:ext cx="1133856" cy="3200400"/>
          </a:xfrm>
          <a:prstGeom prst="roundRect">
            <a:avLst/>
          </a:prstGeom>
          <a:solidFill>
            <a:srgbClr val="FFF5F5"/>
          </a:solidFill>
          <a:ln w="19050">
            <a:solidFill>
              <a:srgbClr val="331D2C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49" name="Text 47"/>
          <p:cNvSpPr/>
          <p:nvPr/>
        </p:nvSpPr>
        <p:spPr>
          <a:xfrm>
            <a:off x="8046720" y="129844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endParaRPr lang="en-US" sz="1400" dirty="0">
              <a:solidFill>
                <a:srgbClr val="374151"/>
              </a:solidFill>
              <a:ea typeface="Calibri" pitchFamily="34" charset="-122"/>
              <a:cs typeface="Calibri" pitchFamily="34" charset="-120"/>
            </a:endParaRPr>
          </a:p>
        </p:txBody>
      </p:sp>
      <p:sp>
        <p:nvSpPr>
          <p:cNvPr id="50" name="Text 48"/>
          <p:cNvSpPr/>
          <p:nvPr/>
        </p:nvSpPr>
        <p:spPr>
          <a:xfrm>
            <a:off x="7717536" y="1847088"/>
            <a:ext cx="11338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2000" dirty="0"/>
          </a:p>
        </p:txBody>
      </p:sp>
      <p:sp>
        <p:nvSpPr>
          <p:cNvPr id="51" name="Text 49"/>
          <p:cNvSpPr/>
          <p:nvPr/>
        </p:nvSpPr>
        <p:spPr>
          <a:xfrm>
            <a:off x="7717536" y="2395728"/>
            <a:ext cx="113385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374151"/>
                </a:solidFill>
                <a:latin typeface="Montserrat Bold" panose="00000800000000000000" pitchFamily="2" charset="0"/>
                <a:ea typeface="Calibri" pitchFamily="34" charset="-122"/>
                <a:cs typeface="Calibri" pitchFamily="34" charset="-120"/>
              </a:rPr>
              <a:t>Export</a:t>
            </a:r>
          </a:p>
        </p:txBody>
      </p:sp>
      <p:sp>
        <p:nvSpPr>
          <p:cNvPr id="52" name="Text 50"/>
          <p:cNvSpPr/>
          <p:nvPr/>
        </p:nvSpPr>
        <p:spPr>
          <a:xfrm>
            <a:off x="7772400" y="2761488"/>
            <a:ext cx="10241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400" dirty="0">
                <a:solidFill>
                  <a:srgbClr val="374151"/>
                </a:solidFill>
                <a:ea typeface="Calibri" pitchFamily="34" charset="-122"/>
                <a:cs typeface="Calibri" pitchFamily="34" charset="-120"/>
              </a:rPr>
              <a:t>Fichier .docx sauvegardé dans output/</a:t>
            </a:r>
          </a:p>
        </p:txBody>
      </p:sp>
      <p:sp>
        <p:nvSpPr>
          <p:cNvPr id="53" name="Shape 51"/>
          <p:cNvSpPr/>
          <p:nvPr/>
        </p:nvSpPr>
        <p:spPr>
          <a:xfrm>
            <a:off x="256032" y="4526280"/>
            <a:ext cx="1133856" cy="274320"/>
          </a:xfrm>
          <a:prstGeom prst="roundRect">
            <a:avLst/>
          </a:prstGeom>
          <a:solidFill>
            <a:srgbClr val="331D2C"/>
          </a:solidFill>
          <a:ln w="12700">
            <a:noFill/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256032" y="4526280"/>
            <a:ext cx="11338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EFE1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</a:t>
            </a:r>
          </a:p>
        </p:txBody>
      </p:sp>
      <p:sp>
        <p:nvSpPr>
          <p:cNvPr id="55" name="Shape 53"/>
          <p:cNvSpPr/>
          <p:nvPr/>
        </p:nvSpPr>
        <p:spPr>
          <a:xfrm>
            <a:off x="7936992" y="4526280"/>
            <a:ext cx="1133856" cy="274320"/>
          </a:xfrm>
          <a:prstGeom prst="roundRect">
            <a:avLst/>
          </a:prstGeom>
          <a:solidFill>
            <a:srgbClr val="331D2C"/>
          </a:solidFill>
          <a:ln w="12700">
            <a:noFill/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7936992" y="4526280"/>
            <a:ext cx="11338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EFE1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</a:t>
            </a:r>
          </a:p>
        </p:txBody>
      </p:sp>
      <p:sp>
        <p:nvSpPr>
          <p:cNvPr id="58" name="Shape 4">
            <a:extLst>
              <a:ext uri="{FF2B5EF4-FFF2-40B4-BE49-F238E27FC236}">
                <a16:creationId xmlns:a16="http://schemas.microsoft.com/office/drawing/2014/main" id="{9AF06073-61CD-4C51-BA22-8F965C0007E2}"/>
              </a:ext>
            </a:extLst>
          </p:cNvPr>
          <p:cNvSpPr/>
          <p:nvPr/>
        </p:nvSpPr>
        <p:spPr>
          <a:xfrm>
            <a:off x="539496" y="1332738"/>
            <a:ext cx="566928" cy="566928"/>
          </a:xfrm>
          <a:prstGeom prst="ellipse">
            <a:avLst/>
          </a:prstGeom>
          <a:solidFill>
            <a:srgbClr val="3F2E3E"/>
          </a:solidFill>
          <a:ln w="12700">
            <a:noFill/>
            <a:prstDash val="solid"/>
          </a:ln>
          <a:effectLst/>
        </p:spPr>
        <p:txBody>
          <a:bodyPr/>
          <a:lstStyle/>
          <a:p>
            <a:r>
              <a:rPr lang="en-US" sz="2000" b="1" dirty="0">
                <a:solidFill>
                  <a:srgbClr val="FFF5F5"/>
                </a:solidFill>
                <a:ea typeface="Calibri" pitchFamily="34" charset="-122"/>
                <a:cs typeface="Calibri" pitchFamily="34" charset="-120"/>
              </a:rPr>
              <a:t> 1</a:t>
            </a:r>
            <a:endParaRPr lang="fr-MA" sz="2000" b="1" dirty="0">
              <a:solidFill>
                <a:srgbClr val="FFF5F5"/>
              </a:solidFill>
              <a:ea typeface="Calibri" pitchFamily="34" charset="-122"/>
              <a:cs typeface="Calibri" pitchFamily="34" charset="-120"/>
            </a:endParaRPr>
          </a:p>
        </p:txBody>
      </p:sp>
      <p:sp>
        <p:nvSpPr>
          <p:cNvPr id="59" name="Shape 4">
            <a:extLst>
              <a:ext uri="{FF2B5EF4-FFF2-40B4-BE49-F238E27FC236}">
                <a16:creationId xmlns:a16="http://schemas.microsoft.com/office/drawing/2014/main" id="{F7654BB1-4136-4FEF-819E-60A89D73F25E}"/>
              </a:ext>
            </a:extLst>
          </p:cNvPr>
          <p:cNvSpPr/>
          <p:nvPr/>
        </p:nvSpPr>
        <p:spPr>
          <a:xfrm>
            <a:off x="1790395" y="1332738"/>
            <a:ext cx="566928" cy="566928"/>
          </a:xfrm>
          <a:prstGeom prst="ellipse">
            <a:avLst/>
          </a:prstGeom>
          <a:solidFill>
            <a:srgbClr val="3F2E3E"/>
          </a:solidFill>
          <a:ln w="12700">
            <a:noFill/>
            <a:prstDash val="solid"/>
          </a:ln>
          <a:effectLst/>
        </p:spPr>
        <p:txBody>
          <a:bodyPr/>
          <a:lstStyle/>
          <a:p>
            <a:r>
              <a:rPr lang="en-US" dirty="0"/>
              <a:t> </a:t>
            </a:r>
            <a:r>
              <a:rPr lang="en-US" sz="2000" b="1" dirty="0">
                <a:solidFill>
                  <a:srgbClr val="FFF5F5"/>
                </a:solidFill>
                <a:ea typeface="Calibri" pitchFamily="34" charset="-122"/>
                <a:cs typeface="Calibri" pitchFamily="34" charset="-120"/>
              </a:rPr>
              <a:t>2</a:t>
            </a:r>
            <a:endParaRPr lang="fr-MA" sz="2000" b="1" dirty="0">
              <a:solidFill>
                <a:srgbClr val="FFF5F5"/>
              </a:solidFill>
              <a:ea typeface="Calibri" pitchFamily="34" charset="-122"/>
              <a:cs typeface="Calibri" pitchFamily="34" charset="-120"/>
            </a:endParaRPr>
          </a:p>
        </p:txBody>
      </p:sp>
      <p:sp>
        <p:nvSpPr>
          <p:cNvPr id="60" name="Shape 4">
            <a:extLst>
              <a:ext uri="{FF2B5EF4-FFF2-40B4-BE49-F238E27FC236}">
                <a16:creationId xmlns:a16="http://schemas.microsoft.com/office/drawing/2014/main" id="{5A1BF956-227B-486F-B479-F1FA8421F055}"/>
              </a:ext>
            </a:extLst>
          </p:cNvPr>
          <p:cNvSpPr/>
          <p:nvPr/>
        </p:nvSpPr>
        <p:spPr>
          <a:xfrm>
            <a:off x="3026664" y="1332738"/>
            <a:ext cx="566928" cy="566928"/>
          </a:xfrm>
          <a:prstGeom prst="ellipse">
            <a:avLst/>
          </a:prstGeom>
          <a:solidFill>
            <a:srgbClr val="3F2E3E"/>
          </a:solidFill>
          <a:ln w="12700">
            <a:noFill/>
            <a:prstDash val="solid"/>
          </a:ln>
          <a:effectLst/>
        </p:spPr>
        <p:txBody>
          <a:bodyPr/>
          <a:lstStyle/>
          <a:p>
            <a:r>
              <a:rPr lang="en-US" dirty="0"/>
              <a:t> </a:t>
            </a:r>
            <a:r>
              <a:rPr lang="en-US" sz="2000" b="1" dirty="0">
                <a:solidFill>
                  <a:srgbClr val="FFF5F5"/>
                </a:solidFill>
                <a:ea typeface="Calibri" pitchFamily="34" charset="-122"/>
                <a:cs typeface="Calibri" pitchFamily="34" charset="-120"/>
              </a:rPr>
              <a:t>3</a:t>
            </a:r>
            <a:endParaRPr lang="fr-MA" sz="2000" b="1" dirty="0">
              <a:solidFill>
                <a:srgbClr val="FFF5F5"/>
              </a:solidFill>
              <a:ea typeface="Calibri" pitchFamily="34" charset="-122"/>
              <a:cs typeface="Calibri" pitchFamily="34" charset="-120"/>
            </a:endParaRPr>
          </a:p>
        </p:txBody>
      </p:sp>
      <p:sp>
        <p:nvSpPr>
          <p:cNvPr id="61" name="Shape 4">
            <a:extLst>
              <a:ext uri="{FF2B5EF4-FFF2-40B4-BE49-F238E27FC236}">
                <a16:creationId xmlns:a16="http://schemas.microsoft.com/office/drawing/2014/main" id="{DFD148F7-3399-49D8-8B98-7DC451D597D4}"/>
              </a:ext>
            </a:extLst>
          </p:cNvPr>
          <p:cNvSpPr/>
          <p:nvPr/>
        </p:nvSpPr>
        <p:spPr>
          <a:xfrm>
            <a:off x="4316882" y="1332738"/>
            <a:ext cx="566928" cy="566928"/>
          </a:xfrm>
          <a:prstGeom prst="ellipse">
            <a:avLst/>
          </a:prstGeom>
          <a:solidFill>
            <a:srgbClr val="3F2E3E"/>
          </a:solidFill>
          <a:ln w="12700">
            <a:noFill/>
            <a:prstDash val="solid"/>
          </a:ln>
          <a:effectLst/>
        </p:spPr>
        <p:txBody>
          <a:bodyPr/>
          <a:lstStyle/>
          <a:p>
            <a:r>
              <a:rPr lang="en-US" dirty="0"/>
              <a:t> </a:t>
            </a:r>
            <a:r>
              <a:rPr lang="en-US" sz="2000" b="1" dirty="0">
                <a:solidFill>
                  <a:srgbClr val="FFF5F5"/>
                </a:solidFill>
                <a:ea typeface="Calibri" pitchFamily="34" charset="-122"/>
                <a:cs typeface="Calibri" pitchFamily="34" charset="-120"/>
              </a:rPr>
              <a:t>4</a:t>
            </a:r>
            <a:endParaRPr lang="fr-MA" sz="2000" b="1" dirty="0">
              <a:solidFill>
                <a:srgbClr val="FFF5F5"/>
              </a:solidFill>
              <a:ea typeface="Calibri" pitchFamily="34" charset="-122"/>
              <a:cs typeface="Calibri" pitchFamily="34" charset="-120"/>
            </a:endParaRPr>
          </a:p>
        </p:txBody>
      </p:sp>
      <p:sp>
        <p:nvSpPr>
          <p:cNvPr id="62" name="Shape 4">
            <a:extLst>
              <a:ext uri="{FF2B5EF4-FFF2-40B4-BE49-F238E27FC236}">
                <a16:creationId xmlns:a16="http://schemas.microsoft.com/office/drawing/2014/main" id="{6814862B-CB7E-45F0-91AF-C98D59F6BD67}"/>
              </a:ext>
            </a:extLst>
          </p:cNvPr>
          <p:cNvSpPr/>
          <p:nvPr/>
        </p:nvSpPr>
        <p:spPr>
          <a:xfrm>
            <a:off x="5525719" y="1332738"/>
            <a:ext cx="566928" cy="566928"/>
          </a:xfrm>
          <a:prstGeom prst="ellipse">
            <a:avLst/>
          </a:prstGeom>
          <a:solidFill>
            <a:srgbClr val="3F2E3E"/>
          </a:solidFill>
          <a:ln w="12700">
            <a:noFill/>
            <a:prstDash val="solid"/>
          </a:ln>
          <a:effectLst/>
        </p:spPr>
        <p:txBody>
          <a:bodyPr/>
          <a:lstStyle/>
          <a:p>
            <a:r>
              <a:rPr lang="en-US" dirty="0"/>
              <a:t> </a:t>
            </a:r>
            <a:r>
              <a:rPr lang="en-US" sz="2000" b="1" dirty="0">
                <a:solidFill>
                  <a:srgbClr val="FFF5F5"/>
                </a:solidFill>
                <a:ea typeface="Calibri" pitchFamily="34" charset="-122"/>
                <a:cs typeface="Calibri" pitchFamily="34" charset="-120"/>
              </a:rPr>
              <a:t>5</a:t>
            </a:r>
            <a:endParaRPr lang="fr-MA" sz="2000" b="1" dirty="0">
              <a:solidFill>
                <a:srgbClr val="FFF5F5"/>
              </a:solidFill>
              <a:ea typeface="Calibri" pitchFamily="34" charset="-122"/>
              <a:cs typeface="Calibri" pitchFamily="34" charset="-120"/>
            </a:endParaRPr>
          </a:p>
        </p:txBody>
      </p:sp>
      <p:sp>
        <p:nvSpPr>
          <p:cNvPr id="63" name="Shape 4">
            <a:extLst>
              <a:ext uri="{FF2B5EF4-FFF2-40B4-BE49-F238E27FC236}">
                <a16:creationId xmlns:a16="http://schemas.microsoft.com/office/drawing/2014/main" id="{6B99AE98-6279-43BF-B8EA-BF92B00AFDBA}"/>
              </a:ext>
            </a:extLst>
          </p:cNvPr>
          <p:cNvSpPr/>
          <p:nvPr/>
        </p:nvSpPr>
        <p:spPr>
          <a:xfrm>
            <a:off x="6748272" y="1332738"/>
            <a:ext cx="566928" cy="566928"/>
          </a:xfrm>
          <a:prstGeom prst="ellipse">
            <a:avLst/>
          </a:prstGeom>
          <a:solidFill>
            <a:srgbClr val="3F2E3E"/>
          </a:solidFill>
          <a:ln w="12700">
            <a:noFill/>
            <a:prstDash val="solid"/>
          </a:ln>
          <a:effectLst/>
        </p:spPr>
        <p:txBody>
          <a:bodyPr/>
          <a:lstStyle/>
          <a:p>
            <a:r>
              <a:rPr lang="en-US" dirty="0"/>
              <a:t> </a:t>
            </a:r>
            <a:r>
              <a:rPr lang="en-US" sz="2000" b="1" dirty="0">
                <a:solidFill>
                  <a:srgbClr val="FFF5F5"/>
                </a:solidFill>
                <a:ea typeface="Calibri" pitchFamily="34" charset="-122"/>
                <a:cs typeface="Calibri" pitchFamily="34" charset="-120"/>
              </a:rPr>
              <a:t>6</a:t>
            </a:r>
            <a:endParaRPr lang="fr-MA" sz="2000" b="1" dirty="0">
              <a:solidFill>
                <a:srgbClr val="FFF5F5"/>
              </a:solidFill>
              <a:ea typeface="Calibri" pitchFamily="34" charset="-122"/>
              <a:cs typeface="Calibri" pitchFamily="34" charset="-120"/>
            </a:endParaRPr>
          </a:p>
        </p:txBody>
      </p:sp>
      <p:sp>
        <p:nvSpPr>
          <p:cNvPr id="64" name="Shape 4">
            <a:extLst>
              <a:ext uri="{FF2B5EF4-FFF2-40B4-BE49-F238E27FC236}">
                <a16:creationId xmlns:a16="http://schemas.microsoft.com/office/drawing/2014/main" id="{437BBB6F-EFF0-48BB-BE24-042956B73E0B}"/>
              </a:ext>
            </a:extLst>
          </p:cNvPr>
          <p:cNvSpPr/>
          <p:nvPr/>
        </p:nvSpPr>
        <p:spPr>
          <a:xfrm>
            <a:off x="8050378" y="1330909"/>
            <a:ext cx="566928" cy="566928"/>
          </a:xfrm>
          <a:prstGeom prst="ellipse">
            <a:avLst/>
          </a:prstGeom>
          <a:solidFill>
            <a:srgbClr val="3F2E3E"/>
          </a:solidFill>
          <a:ln w="12700">
            <a:noFill/>
            <a:prstDash val="solid"/>
          </a:ln>
          <a:effectLst/>
        </p:spPr>
        <p:txBody>
          <a:bodyPr/>
          <a:lstStyle/>
          <a:p>
            <a:r>
              <a:rPr lang="en-US" dirty="0"/>
              <a:t> </a:t>
            </a:r>
            <a:r>
              <a:rPr lang="en-US" sz="2000" b="1" dirty="0">
                <a:solidFill>
                  <a:srgbClr val="FFF5F5"/>
                </a:solidFill>
                <a:ea typeface="Calibri" pitchFamily="34" charset="-122"/>
                <a:cs typeface="Calibri" pitchFamily="34" charset="-120"/>
              </a:rPr>
              <a:t>7</a:t>
            </a:r>
            <a:endParaRPr lang="fr-MA" sz="2000" b="1" dirty="0">
              <a:solidFill>
                <a:srgbClr val="FFF5F5"/>
              </a:solidFill>
              <a:ea typeface="Calibri" pitchFamily="34" charset="-122"/>
              <a:cs typeface="Calibri" pitchFamily="34" charset="-120"/>
            </a:endParaRPr>
          </a:p>
        </p:txBody>
      </p:sp>
      <p:sp>
        <p:nvSpPr>
          <p:cNvPr id="65" name="Shape 1">
            <a:extLst>
              <a:ext uri="{FF2B5EF4-FFF2-40B4-BE49-F238E27FC236}">
                <a16:creationId xmlns:a16="http://schemas.microsoft.com/office/drawing/2014/main" id="{7A5B76AE-3A4C-4208-9780-B64222B405B7}"/>
              </a:ext>
            </a:extLst>
          </p:cNvPr>
          <p:cNvSpPr/>
          <p:nvPr/>
        </p:nvSpPr>
        <p:spPr>
          <a:xfrm>
            <a:off x="0" y="811073"/>
            <a:ext cx="9144000" cy="54864"/>
          </a:xfrm>
          <a:prstGeom prst="rect">
            <a:avLst/>
          </a:prstGeom>
          <a:solidFill>
            <a:srgbClr val="EFE1D1"/>
          </a:solidFill>
          <a:ln w="12700">
            <a:solidFill>
              <a:srgbClr val="EFE1D1"/>
            </a:solidFill>
            <a:prstDash val="solid"/>
          </a:ln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411480" y="20116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4D1717"/>
                </a:solidFill>
                <a:latin typeface="Montserrat Bold" panose="00000800000000000000" pitchFamily="2" charset="0"/>
                <a:ea typeface="Calibri" pitchFamily="34" charset="-122"/>
                <a:cs typeface="Calibri" pitchFamily="34" charset="-120"/>
              </a:rPr>
              <a:t>Étape 1 — Classification </a:t>
            </a:r>
            <a:r>
              <a:rPr lang="en-US" sz="2400" b="1" dirty="0" err="1">
                <a:solidFill>
                  <a:srgbClr val="4D1717"/>
                </a:solidFill>
                <a:latin typeface="Montserrat Bold" panose="00000800000000000000" pitchFamily="2" charset="0"/>
                <a:ea typeface="Calibri" pitchFamily="34" charset="-122"/>
                <a:cs typeface="Calibri" pitchFamily="34" charset="-120"/>
              </a:rPr>
              <a:t>Intelligente</a:t>
            </a:r>
            <a:endParaRPr lang="en-US" sz="2400" b="1" dirty="0">
              <a:solidFill>
                <a:srgbClr val="4D1717"/>
              </a:solidFill>
              <a:latin typeface="Montserrat Bold" panose="00000800000000000000" pitchFamily="2" charset="0"/>
              <a:ea typeface="Calibri" pitchFamily="34" charset="-122"/>
              <a:cs typeface="Calibri" pitchFamily="34" charset="-120"/>
            </a:endParaRPr>
          </a:p>
        </p:txBody>
      </p:sp>
      <p:sp>
        <p:nvSpPr>
          <p:cNvPr id="4" name="Text 2"/>
          <p:cNvSpPr/>
          <p:nvPr/>
        </p:nvSpPr>
        <p:spPr>
          <a:xfrm>
            <a:off x="411480" y="676656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F2E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Double stratégie : économie de tokens + </a:t>
            </a:r>
            <a:r>
              <a:rPr lang="en-US" sz="1400" dirty="0" err="1">
                <a:solidFill>
                  <a:srgbClr val="3F2E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robustesse</a:t>
            </a:r>
            <a:endParaRPr lang="en-US" sz="1400" dirty="0">
              <a:solidFill>
                <a:srgbClr val="3F2E3E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</p:txBody>
      </p:sp>
      <p:sp>
        <p:nvSpPr>
          <p:cNvPr id="5" name="Shape 3"/>
          <p:cNvSpPr/>
          <p:nvPr/>
        </p:nvSpPr>
        <p:spPr>
          <a:xfrm>
            <a:off x="365760" y="1078992"/>
            <a:ext cx="4069080" cy="3063240"/>
          </a:xfrm>
          <a:prstGeom prst="rect">
            <a:avLst/>
          </a:prstGeom>
          <a:solidFill>
            <a:srgbClr val="FFF5F5"/>
          </a:solidFill>
          <a:ln w="19050">
            <a:solidFill>
              <a:srgbClr val="331D2C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fr-MA" dirty="0"/>
          </a:p>
        </p:txBody>
      </p:sp>
      <p:sp>
        <p:nvSpPr>
          <p:cNvPr id="6" name="Shape 4"/>
          <p:cNvSpPr/>
          <p:nvPr/>
        </p:nvSpPr>
        <p:spPr>
          <a:xfrm>
            <a:off x="365760" y="1078992"/>
            <a:ext cx="4069080" cy="384048"/>
          </a:xfrm>
          <a:prstGeom prst="rect">
            <a:avLst/>
          </a:prstGeom>
          <a:solidFill>
            <a:srgbClr val="331D2C"/>
          </a:solidFill>
          <a:ln w="12700">
            <a:solidFill>
              <a:srgbClr val="1A5C4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1078992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Classifier </a:t>
            </a:r>
            <a:r>
              <a:rPr lang="en-US" sz="13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Heuristique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218688" y="1161288"/>
            <a:ext cx="1024128" cy="219456"/>
          </a:xfrm>
          <a:prstGeom prst="roundRect">
            <a:avLst/>
          </a:prstGeom>
          <a:solidFill>
            <a:srgbClr val="FFF5F5"/>
          </a:solidFill>
          <a:ln w="12700">
            <a:noFill/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218688" y="1161288"/>
            <a:ext cx="10241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kern="0" spc="50" dirty="0">
                <a:solidFill>
                  <a:srgbClr val="0F1B2D"/>
                </a:solidFill>
              </a:rPr>
              <a:t>PRIORITAIRE</a:t>
            </a:r>
            <a:endParaRPr lang="en-US" sz="700" dirty="0"/>
          </a:p>
        </p:txBody>
      </p:sp>
      <p:sp>
        <p:nvSpPr>
          <p:cNvPr id="10" name="Text 8"/>
          <p:cNvSpPr/>
          <p:nvPr/>
        </p:nvSpPr>
        <p:spPr>
          <a:xfrm>
            <a:off x="530352" y="1554480"/>
            <a:ext cx="365760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 err="1">
                <a:solidFill>
                  <a:srgbClr val="374151"/>
                </a:solidFill>
                <a:ea typeface="Calibri" pitchFamily="34" charset="-122"/>
                <a:cs typeface="Calibri" pitchFamily="34" charset="-120"/>
              </a:rPr>
              <a:t>Analyse</a:t>
            </a:r>
            <a:r>
              <a:rPr lang="en-US" sz="1400" dirty="0">
                <a:solidFill>
                  <a:srgbClr val="374151"/>
                </a:solidFill>
                <a:ea typeface="Calibri" pitchFamily="34" charset="-122"/>
                <a:cs typeface="Calibri" pitchFamily="34" charset="-120"/>
              </a:rPr>
              <a:t> de mots-</a:t>
            </a:r>
            <a:r>
              <a:rPr lang="en-US" sz="1400" dirty="0" err="1">
                <a:solidFill>
                  <a:srgbClr val="374151"/>
                </a:solidFill>
                <a:ea typeface="Calibri" pitchFamily="34" charset="-122"/>
                <a:cs typeface="Calibri" pitchFamily="34" charset="-120"/>
              </a:rPr>
              <a:t>clés</a:t>
            </a:r>
            <a:r>
              <a:rPr lang="en-US" sz="1400" dirty="0">
                <a:solidFill>
                  <a:srgbClr val="374151"/>
                </a:solidFill>
                <a:ea typeface="Calibri" pitchFamily="34" charset="-122"/>
                <a:cs typeface="Calibri" pitchFamily="34" charset="-120"/>
              </a:rPr>
              <a:t> dans le </a:t>
            </a:r>
            <a:r>
              <a:rPr lang="en-US" sz="1400" dirty="0" err="1">
                <a:solidFill>
                  <a:srgbClr val="374151"/>
                </a:solidFill>
                <a:ea typeface="Calibri" pitchFamily="34" charset="-122"/>
                <a:cs typeface="Calibri" pitchFamily="34" charset="-120"/>
              </a:rPr>
              <a:t>texte</a:t>
            </a:r>
            <a:r>
              <a:rPr lang="en-US" sz="1400" dirty="0">
                <a:solidFill>
                  <a:srgbClr val="374151"/>
                </a:solidFill>
                <a:ea typeface="Calibri" pitchFamily="34" charset="-122"/>
                <a:cs typeface="Calibri" pitchFamily="34" charset="-120"/>
              </a:rPr>
              <a:t> brut</a:t>
            </a:r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374151"/>
                </a:solidFill>
                <a:ea typeface="Calibri" pitchFamily="34" charset="-122"/>
                <a:cs typeface="Calibri" pitchFamily="34" charset="-120"/>
              </a:rPr>
              <a:t>meet, </a:t>
            </a:r>
            <a:r>
              <a:rPr lang="en-US" sz="1400" dirty="0" err="1">
                <a:solidFill>
                  <a:srgbClr val="374151"/>
                </a:solidFill>
                <a:ea typeface="Calibri" pitchFamily="34" charset="-122"/>
                <a:cs typeface="Calibri" pitchFamily="34" charset="-120"/>
              </a:rPr>
              <a:t>réunion</a:t>
            </a:r>
            <a:r>
              <a:rPr lang="en-US" sz="1400" dirty="0">
                <a:solidFill>
                  <a:srgbClr val="374151"/>
                </a:solidFill>
                <a:ea typeface="Calibri" pitchFamily="34" charset="-122"/>
                <a:cs typeface="Calibri" pitchFamily="34" charset="-120"/>
              </a:rPr>
              <a:t> → meeting</a:t>
            </a:r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 err="1">
                <a:solidFill>
                  <a:srgbClr val="374151"/>
                </a:solidFill>
                <a:ea typeface="Calibri" pitchFamily="34" charset="-122"/>
                <a:cs typeface="Calibri" pitchFamily="34" charset="-120"/>
              </a:rPr>
              <a:t>todo</a:t>
            </a:r>
            <a:r>
              <a:rPr lang="en-US" sz="1400" dirty="0">
                <a:solidFill>
                  <a:srgbClr val="374151"/>
                </a:solidFill>
                <a:ea typeface="Calibri" pitchFamily="34" charset="-122"/>
                <a:cs typeface="Calibri" pitchFamily="34" charset="-120"/>
              </a:rPr>
              <a:t>, </a:t>
            </a:r>
            <a:r>
              <a:rPr lang="en-US" sz="1400" dirty="0" err="1">
                <a:solidFill>
                  <a:srgbClr val="374151"/>
                </a:solidFill>
                <a:ea typeface="Calibri" pitchFamily="34" charset="-122"/>
                <a:cs typeface="Calibri" pitchFamily="34" charset="-120"/>
              </a:rPr>
              <a:t>tâche</a:t>
            </a:r>
            <a:r>
              <a:rPr lang="en-US" sz="1400" dirty="0">
                <a:solidFill>
                  <a:srgbClr val="374151"/>
                </a:solidFill>
                <a:ea typeface="Calibri" pitchFamily="34" charset="-122"/>
                <a:cs typeface="Calibri" pitchFamily="34" charset="-120"/>
              </a:rPr>
              <a:t>, urgent → </a:t>
            </a:r>
            <a:r>
              <a:rPr lang="en-US" sz="1400" dirty="0" err="1">
                <a:solidFill>
                  <a:srgbClr val="374151"/>
                </a:solidFill>
                <a:ea typeface="Calibri" pitchFamily="34" charset="-122"/>
                <a:cs typeface="Calibri" pitchFamily="34" charset="-120"/>
              </a:rPr>
              <a:t>todo</a:t>
            </a:r>
            <a:endParaRPr lang="en-US" sz="1400" dirty="0">
              <a:solidFill>
                <a:srgbClr val="374151"/>
              </a:solidFill>
              <a:ea typeface="Calibri" pitchFamily="34" charset="-122"/>
              <a:cs typeface="Calibri" pitchFamily="34" charset="-120"/>
            </a:endParaRPr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374151"/>
                </a:solidFill>
                <a:ea typeface="Calibri" pitchFamily="34" charset="-122"/>
                <a:cs typeface="Calibri" pitchFamily="34" charset="-120"/>
              </a:rPr>
              <a:t>how, </a:t>
            </a:r>
            <a:r>
              <a:rPr lang="en-US" sz="1400" dirty="0" err="1">
                <a:solidFill>
                  <a:srgbClr val="374151"/>
                </a:solidFill>
                <a:ea typeface="Calibri" pitchFamily="34" charset="-122"/>
                <a:cs typeface="Calibri" pitchFamily="34" charset="-120"/>
              </a:rPr>
              <a:t>pourquoi</a:t>
            </a:r>
            <a:r>
              <a:rPr lang="en-US" sz="1400" dirty="0">
                <a:solidFill>
                  <a:srgbClr val="374151"/>
                </a:solidFill>
                <a:ea typeface="Calibri" pitchFamily="34" charset="-122"/>
                <a:cs typeface="Calibri" pitchFamily="34" charset="-120"/>
              </a:rPr>
              <a:t> → </a:t>
            </a:r>
            <a:r>
              <a:rPr lang="en-US" sz="1400" dirty="0" err="1">
                <a:solidFill>
                  <a:srgbClr val="374151"/>
                </a:solidFill>
                <a:ea typeface="Calibri" pitchFamily="34" charset="-122"/>
                <a:cs typeface="Calibri" pitchFamily="34" charset="-120"/>
              </a:rPr>
              <a:t>question_only</a:t>
            </a:r>
            <a:endParaRPr lang="en-US" sz="1400" dirty="0">
              <a:solidFill>
                <a:srgbClr val="374151"/>
              </a:solidFill>
              <a:ea typeface="Calibri" pitchFamily="34" charset="-122"/>
              <a:cs typeface="Calibri" pitchFamily="34" charset="-120"/>
            </a:endParaRPr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 err="1">
                <a:solidFill>
                  <a:srgbClr val="374151"/>
                </a:solidFill>
                <a:latin typeface="Montserrat Bold" panose="00000800000000000000" pitchFamily="2" charset="0"/>
                <a:ea typeface="Calibri" pitchFamily="34" charset="-122"/>
                <a:cs typeface="Calibri" pitchFamily="34" charset="-120"/>
              </a:rPr>
              <a:t>Coût</a:t>
            </a:r>
            <a:r>
              <a:rPr lang="en-US" sz="1200" dirty="0">
                <a:solidFill>
                  <a:srgbClr val="374151"/>
                </a:solidFill>
                <a:latin typeface="Montserrat Bold" panose="00000800000000000000" pitchFamily="2" charset="0"/>
                <a:ea typeface="Calibri" pitchFamily="34" charset="-122"/>
                <a:cs typeface="Calibri" pitchFamily="34" charset="-120"/>
              </a:rPr>
              <a:t> : 0 token — </a:t>
            </a:r>
            <a:r>
              <a:rPr lang="en-US" sz="1200" dirty="0" err="1">
                <a:solidFill>
                  <a:srgbClr val="374151"/>
                </a:solidFill>
                <a:latin typeface="Montserrat Bold" panose="00000800000000000000" pitchFamily="2" charset="0"/>
                <a:ea typeface="Calibri" pitchFamily="34" charset="-122"/>
                <a:cs typeface="Calibri" pitchFamily="34" charset="-120"/>
              </a:rPr>
              <a:t>instantané</a:t>
            </a:r>
            <a:endParaRPr lang="en-US" sz="1200" dirty="0">
              <a:solidFill>
                <a:srgbClr val="374151"/>
              </a:solidFill>
              <a:latin typeface="Montserrat Bold" panose="00000800000000000000" pitchFamily="2" charset="0"/>
              <a:ea typeface="Calibri" pitchFamily="34" charset="-122"/>
              <a:cs typeface="Calibri" pitchFamily="34" charset="-120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4800600" y="1078992"/>
            <a:ext cx="4069080" cy="3063240"/>
          </a:xfrm>
          <a:prstGeom prst="rect">
            <a:avLst/>
          </a:prstGeom>
          <a:solidFill>
            <a:srgbClr val="FFF5F5"/>
          </a:solidFill>
          <a:ln w="19050">
            <a:solidFill>
              <a:srgbClr val="331D2C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800600" y="1078992"/>
            <a:ext cx="4069080" cy="384048"/>
          </a:xfrm>
          <a:prstGeom prst="rect">
            <a:avLst/>
          </a:prstGeom>
          <a:solidFill>
            <a:srgbClr val="331D2C"/>
          </a:solidFill>
          <a:ln w="12700">
            <a:solidFill>
              <a:srgbClr val="4A2A1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937760" y="1078992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Classifier API (</a:t>
            </a:r>
            <a:r>
              <a:rPr lang="en-US" sz="13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Groq</a:t>
            </a: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7653528" y="1161288"/>
            <a:ext cx="1024128" cy="219456"/>
          </a:xfrm>
          <a:prstGeom prst="roundRect">
            <a:avLst/>
          </a:prstGeom>
          <a:solidFill>
            <a:srgbClr val="FFF5F5"/>
          </a:solidFill>
          <a:ln w="12700">
            <a:noFill/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653528" y="1161288"/>
            <a:ext cx="10241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kern="0" spc="50" dirty="0">
                <a:solidFill>
                  <a:srgbClr val="0F1B2D"/>
                </a:solidFill>
              </a:rPr>
              <a:t>FALLBACK</a:t>
            </a:r>
            <a:endParaRPr lang="en-US" sz="700" dirty="0"/>
          </a:p>
        </p:txBody>
      </p:sp>
      <p:sp>
        <p:nvSpPr>
          <p:cNvPr id="16" name="Text 14"/>
          <p:cNvSpPr/>
          <p:nvPr/>
        </p:nvSpPr>
        <p:spPr>
          <a:xfrm>
            <a:off x="4965192" y="1554480"/>
            <a:ext cx="365760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374151"/>
                </a:solidFill>
                <a:ea typeface="Calibri" pitchFamily="34" charset="-122"/>
                <a:cs typeface="Calibri" pitchFamily="34" charset="-120"/>
              </a:rPr>
              <a:t>Activé si confiance heuristique &lt; </a:t>
            </a:r>
            <a:r>
              <a:rPr lang="en-US" sz="1400" dirty="0" err="1">
                <a:solidFill>
                  <a:srgbClr val="374151"/>
                </a:solidFill>
                <a:ea typeface="Calibri" pitchFamily="34" charset="-122"/>
                <a:cs typeface="Calibri" pitchFamily="34" charset="-120"/>
              </a:rPr>
              <a:t>seuil</a:t>
            </a:r>
            <a:endParaRPr lang="en-US" sz="1400" dirty="0">
              <a:solidFill>
                <a:srgbClr val="374151"/>
              </a:solidFill>
              <a:ea typeface="Calibri" pitchFamily="34" charset="-122"/>
              <a:cs typeface="Calibri" pitchFamily="34" charset="-120"/>
            </a:endParaRPr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374151"/>
                </a:solidFill>
                <a:ea typeface="Calibri" pitchFamily="34" charset="-122"/>
                <a:cs typeface="Calibri" pitchFamily="34" charset="-120"/>
              </a:rPr>
              <a:t>Envoi du texte à Llama 3.1 pour </a:t>
            </a:r>
            <a:r>
              <a:rPr lang="en-US" sz="1400" dirty="0" err="1">
                <a:solidFill>
                  <a:srgbClr val="374151"/>
                </a:solidFill>
                <a:ea typeface="Calibri" pitchFamily="34" charset="-122"/>
                <a:cs typeface="Calibri" pitchFamily="34" charset="-120"/>
              </a:rPr>
              <a:t>analyse</a:t>
            </a:r>
            <a:endParaRPr lang="en-US" sz="1400" dirty="0">
              <a:solidFill>
                <a:srgbClr val="374151"/>
              </a:solidFill>
              <a:ea typeface="Calibri" pitchFamily="34" charset="-122"/>
              <a:cs typeface="Calibri" pitchFamily="34" charset="-120"/>
            </a:endParaRPr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374151"/>
                </a:solidFill>
                <a:ea typeface="Calibri" pitchFamily="34" charset="-122"/>
                <a:cs typeface="Calibri" pitchFamily="34" charset="-120"/>
              </a:rPr>
              <a:t>Retourne le type JSON + niveau de </a:t>
            </a:r>
            <a:r>
              <a:rPr lang="en-US" sz="1400" dirty="0" err="1">
                <a:solidFill>
                  <a:srgbClr val="374151"/>
                </a:solidFill>
                <a:ea typeface="Calibri" pitchFamily="34" charset="-122"/>
                <a:cs typeface="Calibri" pitchFamily="34" charset="-120"/>
              </a:rPr>
              <a:t>confiance</a:t>
            </a:r>
            <a:endParaRPr lang="en-US" sz="1400" dirty="0">
              <a:solidFill>
                <a:srgbClr val="374151"/>
              </a:solidFill>
              <a:ea typeface="Calibri" pitchFamily="34" charset="-122"/>
              <a:cs typeface="Calibri" pitchFamily="34" charset="-120"/>
            </a:endParaRPr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374151"/>
                </a:solidFill>
                <a:ea typeface="Calibri" pitchFamily="34" charset="-122"/>
                <a:cs typeface="Calibri" pitchFamily="34" charset="-120"/>
              </a:rPr>
              <a:t>Utilisé pour les notes ambiguës / </a:t>
            </a:r>
            <a:r>
              <a:rPr lang="en-US" sz="1400" dirty="0" err="1">
                <a:solidFill>
                  <a:srgbClr val="374151"/>
                </a:solidFill>
                <a:ea typeface="Calibri" pitchFamily="34" charset="-122"/>
                <a:cs typeface="Calibri" pitchFamily="34" charset="-120"/>
              </a:rPr>
              <a:t>mixtes</a:t>
            </a:r>
            <a:endParaRPr lang="en-US" sz="1400" dirty="0">
              <a:solidFill>
                <a:srgbClr val="374151"/>
              </a:solidFill>
              <a:ea typeface="Calibri" pitchFamily="34" charset="-122"/>
              <a:cs typeface="Calibri" pitchFamily="34" charset="-120"/>
            </a:endParaRPr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 err="1">
                <a:solidFill>
                  <a:srgbClr val="374151"/>
                </a:solidFill>
                <a:latin typeface="Montserrat Bold" panose="00000800000000000000" pitchFamily="2" charset="0"/>
                <a:ea typeface="Calibri" pitchFamily="34" charset="-122"/>
                <a:cs typeface="Calibri" pitchFamily="34" charset="-120"/>
              </a:rPr>
              <a:t>Coût</a:t>
            </a:r>
            <a:r>
              <a:rPr lang="en-US" sz="1200" dirty="0">
                <a:solidFill>
                  <a:srgbClr val="374151"/>
                </a:solidFill>
                <a:latin typeface="Montserrat Bold" panose="00000800000000000000" pitchFamily="2" charset="0"/>
                <a:ea typeface="Calibri" pitchFamily="34" charset="-122"/>
                <a:cs typeface="Calibri" pitchFamily="34" charset="-120"/>
              </a:rPr>
              <a:t> : ~50 tokens par classification</a:t>
            </a:r>
          </a:p>
        </p:txBody>
      </p:sp>
      <p:sp>
        <p:nvSpPr>
          <p:cNvPr id="17" name="Shape 15"/>
          <p:cNvSpPr/>
          <p:nvPr/>
        </p:nvSpPr>
        <p:spPr>
          <a:xfrm>
            <a:off x="365760" y="4279392"/>
            <a:ext cx="8412480" cy="621792"/>
          </a:xfrm>
          <a:prstGeom prst="rect">
            <a:avLst/>
          </a:prstGeom>
          <a:solidFill>
            <a:srgbClr val="331D2C"/>
          </a:solidFill>
          <a:ln w="12700">
            <a:noFill/>
            <a:prstDash val="solid"/>
          </a:ln>
        </p:spPr>
        <p:txBody>
          <a:bodyPr/>
          <a:lstStyle/>
          <a:p>
            <a:endParaRPr lang="fr-MA" dirty="0"/>
          </a:p>
        </p:txBody>
      </p:sp>
      <p:sp>
        <p:nvSpPr>
          <p:cNvPr id="18" name="Text 16"/>
          <p:cNvSpPr/>
          <p:nvPr/>
        </p:nvSpPr>
        <p:spPr>
          <a:xfrm>
            <a:off x="548640" y="4315968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 err="1">
                <a:solidFill>
                  <a:srgbClr val="FF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Exemples</a:t>
            </a: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300" b="1" dirty="0">
                <a:solidFill>
                  <a:srgbClr val="FF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</a:t>
            </a: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</a:p>
        </p:txBody>
      </p:sp>
      <p:sp>
        <p:nvSpPr>
          <p:cNvPr id="19" name="Text 17"/>
          <p:cNvSpPr/>
          <p:nvPr/>
        </p:nvSpPr>
        <p:spPr>
          <a:xfrm>
            <a:off x="1481328" y="4315968"/>
            <a:ext cx="1691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"meet w </a:t>
            </a:r>
            <a:r>
              <a:rPr lang="en-US" sz="900" b="1" dirty="0" err="1">
                <a:solidFill>
                  <a:srgbClr val="FF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alice</a:t>
            </a:r>
            <a:r>
              <a:rPr lang="en-US" sz="900" b="1" dirty="0">
                <a:solidFill>
                  <a:srgbClr val="FF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bob"  → meeting</a:t>
            </a:r>
          </a:p>
        </p:txBody>
      </p:sp>
      <p:sp>
        <p:nvSpPr>
          <p:cNvPr id="20" name="Text 18"/>
          <p:cNvSpPr/>
          <p:nvPr/>
        </p:nvSpPr>
        <p:spPr>
          <a:xfrm>
            <a:off x="3264408" y="4315968"/>
            <a:ext cx="1691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"how do I fix..."  → </a:t>
            </a:r>
            <a:r>
              <a:rPr lang="en-US" sz="900" b="1" dirty="0" err="1">
                <a:solidFill>
                  <a:srgbClr val="FF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question_only</a:t>
            </a:r>
            <a:endParaRPr lang="en-US" sz="900" b="1" dirty="0">
              <a:solidFill>
                <a:srgbClr val="FFF5F5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5047488" y="4315968"/>
            <a:ext cx="1691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00" b="1" dirty="0">
                <a:solidFill>
                  <a:srgbClr val="FF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"buy milk, call bob"  → </a:t>
            </a:r>
            <a:r>
              <a:rPr lang="en-US" sz="900" b="1" dirty="0" err="1">
                <a:solidFill>
                  <a:srgbClr val="FF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todo</a:t>
            </a:r>
            <a:endParaRPr lang="en-US" sz="900" b="1" dirty="0">
              <a:solidFill>
                <a:srgbClr val="FFF5F5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6830568" y="4315968"/>
            <a:ext cx="1691640" cy="2560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</a:t>
            </a:r>
            <a:r>
              <a:rPr lang="en-US" sz="900" b="1" dirty="0" err="1">
                <a:solidFill>
                  <a:srgbClr val="FF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texte</a:t>
            </a:r>
            <a:r>
              <a:rPr lang="en-US" sz="900" b="1" dirty="0">
                <a:solidFill>
                  <a:srgbClr val="FF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900" b="1" dirty="0" err="1">
                <a:solidFill>
                  <a:srgbClr val="FF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mixte</a:t>
            </a:r>
            <a:r>
              <a:rPr lang="en-US" sz="900" b="1" dirty="0">
                <a:solidFill>
                  <a:srgbClr val="FF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  → default</a:t>
            </a:r>
          </a:p>
        </p:txBody>
      </p:sp>
      <p:sp>
        <p:nvSpPr>
          <p:cNvPr id="23" name="Shape 1">
            <a:extLst>
              <a:ext uri="{FF2B5EF4-FFF2-40B4-BE49-F238E27FC236}">
                <a16:creationId xmlns:a16="http://schemas.microsoft.com/office/drawing/2014/main" id="{BE1819FB-45C0-49E9-8C7B-6947A76F8DCD}"/>
              </a:ext>
            </a:extLst>
          </p:cNvPr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EFE1D1"/>
          </a:solidFill>
          <a:ln w="12700">
            <a:solidFill>
              <a:srgbClr val="EFE1D1"/>
            </a:solidFill>
            <a:prstDash val="solid"/>
          </a:ln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-72572"/>
            <a:ext cx="9144000" cy="914400"/>
          </a:xfrm>
          <a:prstGeom prst="rect">
            <a:avLst/>
          </a:prstGeom>
          <a:solidFill>
            <a:srgbClr val="331D2C"/>
          </a:solidFill>
          <a:ln w="12700">
            <a:solidFill>
              <a:srgbClr val="0F1B2D"/>
            </a:solidFill>
            <a:prstDash val="solid"/>
          </a:ln>
        </p:spPr>
        <p:txBody>
          <a:bodyPr/>
          <a:lstStyle/>
          <a:p>
            <a:endParaRPr lang="fr-MA" dirty="0"/>
          </a:p>
        </p:txBody>
      </p:sp>
      <p:sp>
        <p:nvSpPr>
          <p:cNvPr id="4" name="Text 2"/>
          <p:cNvSpPr/>
          <p:nvPr/>
        </p:nvSpPr>
        <p:spPr>
          <a:xfrm>
            <a:off x="411480" y="146304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Étape 2 — Templates </a:t>
            </a:r>
            <a:r>
              <a:rPr lang="en-US" sz="24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Dynamiques</a:t>
            </a:r>
            <a:endParaRPr lang="en-US" sz="2400" b="1" dirty="0">
              <a:solidFill>
                <a:srgbClr val="FFFFFF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</p:txBody>
      </p:sp>
      <p:sp>
        <p:nvSpPr>
          <p:cNvPr id="5" name="Shape 3"/>
          <p:cNvSpPr/>
          <p:nvPr/>
        </p:nvSpPr>
        <p:spPr>
          <a:xfrm>
            <a:off x="320040" y="1097280"/>
            <a:ext cx="2651760" cy="1664208"/>
          </a:xfrm>
          <a:prstGeom prst="roundRect">
            <a:avLst/>
          </a:prstGeom>
          <a:solidFill>
            <a:srgbClr val="FFF5F5"/>
          </a:solidFill>
          <a:ln w="19050">
            <a:solidFill>
              <a:srgbClr val="331D2C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fr-FR" dirty="0"/>
          </a:p>
        </p:txBody>
      </p:sp>
      <p:sp>
        <p:nvSpPr>
          <p:cNvPr id="6" name="Shape 4"/>
          <p:cNvSpPr/>
          <p:nvPr/>
        </p:nvSpPr>
        <p:spPr>
          <a:xfrm>
            <a:off x="320040" y="1097280"/>
            <a:ext cx="2651760" cy="365760"/>
          </a:xfrm>
          <a:prstGeom prst="rect">
            <a:avLst/>
          </a:prstGeom>
          <a:solidFill>
            <a:srgbClr val="331D2C"/>
          </a:solidFill>
          <a:ln w="12700">
            <a:noFill/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109728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🤝 </a:t>
            </a: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meeting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11480" y="1508760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Champs extraits :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411480" y="1719072"/>
            <a:ext cx="2468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title, date, participants,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action_items, summary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3172968" y="1097280"/>
            <a:ext cx="2651760" cy="1664208"/>
          </a:xfrm>
          <a:prstGeom prst="roundRect">
            <a:avLst/>
          </a:prstGeom>
          <a:solidFill>
            <a:srgbClr val="FFF5F5"/>
          </a:solidFill>
          <a:ln w="19050">
            <a:solidFill>
              <a:srgbClr val="331D2C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172968" y="1097280"/>
            <a:ext cx="2651760" cy="365760"/>
          </a:xfrm>
          <a:prstGeom prst="rect">
            <a:avLst/>
          </a:prstGeom>
          <a:solidFill>
            <a:srgbClr val="331D2C"/>
          </a:solidFill>
          <a:ln w="12700">
            <a:solidFill>
              <a:srgbClr val="1A5C4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64408" y="109728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</a:t>
            </a: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todo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264408" y="1508760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Champs extraits :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3264408" y="1719072"/>
            <a:ext cx="2468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title, tasks[ ]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priority, due_date, status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6025896" y="1097280"/>
            <a:ext cx="2651760" cy="1664208"/>
          </a:xfrm>
          <a:prstGeom prst="roundRect">
            <a:avLst/>
          </a:prstGeom>
          <a:solidFill>
            <a:srgbClr val="FFF5F5"/>
          </a:solidFill>
          <a:ln w="19050">
            <a:solidFill>
              <a:srgbClr val="331D2C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025896" y="1097280"/>
            <a:ext cx="2651760" cy="365760"/>
          </a:xfrm>
          <a:prstGeom prst="rect">
            <a:avLst/>
          </a:prstGeom>
          <a:solidFill>
            <a:srgbClr val="331D2C"/>
          </a:solidFill>
          <a:ln w="12700">
            <a:noFill/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117336" y="109728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</a:t>
            </a: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idea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117336" y="1508760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Champs extraits :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6117336" y="1719072"/>
            <a:ext cx="2468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title, description,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potential, next_steps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320040" y="2971800"/>
            <a:ext cx="2651760" cy="1664208"/>
          </a:xfrm>
          <a:prstGeom prst="roundRect">
            <a:avLst/>
          </a:prstGeom>
          <a:solidFill>
            <a:srgbClr val="FFF5F5"/>
          </a:solidFill>
          <a:ln w="19050">
            <a:solidFill>
              <a:srgbClr val="331D2C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20040" y="2971800"/>
            <a:ext cx="2651760" cy="365760"/>
          </a:xfrm>
          <a:prstGeom prst="rect">
            <a:avLst/>
          </a:prstGeom>
          <a:solidFill>
            <a:srgbClr val="331D2C"/>
          </a:solidFill>
          <a:ln w="12700">
            <a:noFill/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11480" y="297180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❓ </a:t>
            </a: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qa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11480" y="3383280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Champs extraits :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411480" y="3593592"/>
            <a:ext cx="2468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title, questions[ ]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question, answer, confidence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3172968" y="2971800"/>
            <a:ext cx="2651760" cy="1664208"/>
          </a:xfrm>
          <a:prstGeom prst="roundRect">
            <a:avLst/>
          </a:prstGeom>
          <a:solidFill>
            <a:srgbClr val="FFF5F5"/>
          </a:solidFill>
          <a:ln w="19050">
            <a:solidFill>
              <a:srgbClr val="331D2C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3172968" y="2971800"/>
            <a:ext cx="2651760" cy="365760"/>
          </a:xfrm>
          <a:prstGeom prst="rect">
            <a:avLst/>
          </a:prstGeom>
          <a:solidFill>
            <a:srgbClr val="331D2C"/>
          </a:solidFill>
          <a:ln w="12700">
            <a:noFill/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264408" y="297180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🔎 </a:t>
            </a: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question_only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3264408" y="3383280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Champs extraits :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3264408" y="3593592"/>
            <a:ext cx="2468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title, questions[ ]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question, context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6025896" y="2971800"/>
            <a:ext cx="2651760" cy="1664208"/>
          </a:xfrm>
          <a:prstGeom prst="roundRect">
            <a:avLst/>
          </a:prstGeom>
          <a:solidFill>
            <a:srgbClr val="FFF5F5"/>
          </a:solidFill>
          <a:ln w="19050">
            <a:solidFill>
              <a:srgbClr val="331D2C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6025896" y="2971800"/>
            <a:ext cx="2651760" cy="365760"/>
          </a:xfrm>
          <a:prstGeom prst="rect">
            <a:avLst/>
          </a:prstGeom>
          <a:solidFill>
            <a:srgbClr val="331D2C"/>
          </a:solidFill>
          <a:ln w="12700">
            <a:noFill/>
            <a:prstDash val="solid"/>
          </a:ln>
        </p:spPr>
        <p:txBody>
          <a:bodyPr/>
          <a:lstStyle/>
          <a:p>
            <a:endParaRPr lang="fr-MA" dirty="0"/>
          </a:p>
        </p:txBody>
      </p:sp>
      <p:sp>
        <p:nvSpPr>
          <p:cNvPr id="32" name="Text 30"/>
          <p:cNvSpPr/>
          <p:nvPr/>
        </p:nvSpPr>
        <p:spPr>
          <a:xfrm>
            <a:off x="6117336" y="297180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📝 </a:t>
            </a: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default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6117336" y="3383280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Champs extraits :</a:t>
            </a:r>
            <a:endParaRPr lang="en-US" sz="850" dirty="0"/>
          </a:p>
        </p:txBody>
      </p:sp>
      <p:sp>
        <p:nvSpPr>
          <p:cNvPr id="34" name="Text 32"/>
          <p:cNvSpPr/>
          <p:nvPr/>
        </p:nvSpPr>
        <p:spPr>
          <a:xfrm>
            <a:off x="6117336" y="3593592"/>
            <a:ext cx="2468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title, summary,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content_blocks, tags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320040" y="4754880"/>
            <a:ext cx="8503920" cy="274320"/>
          </a:xfrm>
          <a:prstGeom prst="rect">
            <a:avLst/>
          </a:prstGeom>
          <a:solidFill>
            <a:srgbClr val="331D2C"/>
          </a:solidFill>
          <a:ln w="12700">
            <a:noFill/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57200" y="4754880"/>
            <a:ext cx="8321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835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</a:t>
            </a:r>
            <a:r>
              <a:rPr lang="en-US" sz="900" b="1" dirty="0">
                <a:solidFill>
                  <a:srgbClr val="FF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Chaque template est un fichier Python indépendant → ajouter un nouveau type = créer 1 </a:t>
            </a:r>
            <a:r>
              <a:rPr lang="en-US" sz="900" b="1" dirty="0" err="1">
                <a:solidFill>
                  <a:srgbClr val="FF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fichier</a:t>
            </a:r>
            <a:endParaRPr lang="en-US" sz="900" b="1" dirty="0">
              <a:solidFill>
                <a:srgbClr val="FFF5F5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</p:txBody>
      </p:sp>
      <p:sp>
        <p:nvSpPr>
          <p:cNvPr id="37" name="Shape 1">
            <a:extLst>
              <a:ext uri="{FF2B5EF4-FFF2-40B4-BE49-F238E27FC236}">
                <a16:creationId xmlns:a16="http://schemas.microsoft.com/office/drawing/2014/main" id="{43324E0B-A58F-4CEF-A5EE-568157569FA8}"/>
              </a:ext>
            </a:extLst>
          </p:cNvPr>
          <p:cNvSpPr/>
          <p:nvPr/>
        </p:nvSpPr>
        <p:spPr>
          <a:xfrm>
            <a:off x="0" y="811073"/>
            <a:ext cx="9144000" cy="54864"/>
          </a:xfrm>
          <a:prstGeom prst="rect">
            <a:avLst/>
          </a:prstGeom>
          <a:solidFill>
            <a:srgbClr val="EFE1D1"/>
          </a:solidFill>
          <a:ln w="12700">
            <a:solidFill>
              <a:srgbClr val="EFE1D1"/>
            </a:solidFill>
            <a:prstDash val="solid"/>
          </a:ln>
        </p:spPr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331D2C"/>
          </a:solidFill>
          <a:ln w="12700">
            <a:solidFill>
              <a:srgbClr val="0F1B2D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28600" y="1063353"/>
            <a:ext cx="4160520" cy="3977640"/>
          </a:xfrm>
          <a:prstGeom prst="rect">
            <a:avLst/>
          </a:prstGeom>
          <a:solidFill>
            <a:srgbClr val="FFF5F5"/>
          </a:solidFill>
          <a:ln w="12700">
            <a:solidFill>
              <a:srgbClr val="A78295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fr-FR" dirty="0">
              <a:solidFill>
                <a:srgbClr val="FFF5F5"/>
              </a:solidFill>
            </a:endParaRPr>
          </a:p>
        </p:txBody>
      </p:sp>
      <p:sp>
        <p:nvSpPr>
          <p:cNvPr id="8" name="Text 6"/>
          <p:cNvSpPr/>
          <p:nvPr/>
        </p:nvSpPr>
        <p:spPr>
          <a:xfrm>
            <a:off x="925667" y="1738539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F2937"/>
                </a:solidFill>
                <a:latin typeface="Consolas" pitchFamily="34" charset="0"/>
              </a:rPr>
              <a:t>Prompt construit avec le template </a:t>
            </a:r>
            <a:r>
              <a:rPr lang="en-US" sz="1000" dirty="0">
                <a:solidFill>
                  <a:srgbClr val="E8F0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676656" y="1709928"/>
            <a:ext cx="0" cy="237744"/>
          </a:xfrm>
          <a:prstGeom prst="line">
            <a:avLst/>
          </a:prstGeom>
          <a:noFill/>
          <a:ln w="12700">
            <a:solidFill>
              <a:srgbClr val="00C9A7"/>
            </a:solidFill>
            <a:prstDash val="dash"/>
          </a:ln>
        </p:spPr>
      </p:sp>
      <p:sp>
        <p:nvSpPr>
          <p:cNvPr id="12" name="Text 10"/>
          <p:cNvSpPr/>
          <p:nvPr/>
        </p:nvSpPr>
        <p:spPr>
          <a:xfrm>
            <a:off x="936934" y="2229485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F2937"/>
                </a:solidFill>
                <a:latin typeface="Consolas" pitchFamily="34" charset="0"/>
              </a:rPr>
              <a:t>Appel </a:t>
            </a:r>
            <a:r>
              <a:rPr lang="en-US" sz="950" dirty="0" err="1">
                <a:solidFill>
                  <a:srgbClr val="1F2937"/>
                </a:solidFill>
                <a:latin typeface="Consolas" pitchFamily="34" charset="0"/>
              </a:rPr>
              <a:t>client.chat.completions.create</a:t>
            </a:r>
            <a:r>
              <a:rPr lang="en-US" sz="950" dirty="0">
                <a:solidFill>
                  <a:srgbClr val="1F2937"/>
                </a:solidFill>
                <a:latin typeface="Consolas" pitchFamily="34" charset="0"/>
              </a:rPr>
              <a:t>()</a:t>
            </a:r>
          </a:p>
        </p:txBody>
      </p:sp>
      <p:sp>
        <p:nvSpPr>
          <p:cNvPr id="16" name="Text 14"/>
          <p:cNvSpPr/>
          <p:nvPr/>
        </p:nvSpPr>
        <p:spPr>
          <a:xfrm>
            <a:off x="912440" y="2715768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50" dirty="0" err="1">
                <a:solidFill>
                  <a:srgbClr val="1F2937"/>
                </a:solidFill>
                <a:latin typeface="Consolas" pitchFamily="34" charset="0"/>
              </a:rPr>
              <a:t>Réponse</a:t>
            </a:r>
            <a:r>
              <a:rPr lang="en-US" sz="950" dirty="0">
                <a:solidFill>
                  <a:srgbClr val="1F2937"/>
                </a:solidFill>
                <a:latin typeface="Consolas" pitchFamily="34" charset="0"/>
              </a:rPr>
              <a:t> reçue (text brut)</a:t>
            </a:r>
          </a:p>
        </p:txBody>
      </p:sp>
      <p:sp>
        <p:nvSpPr>
          <p:cNvPr id="17" name="Shape 15"/>
          <p:cNvSpPr/>
          <p:nvPr/>
        </p:nvSpPr>
        <p:spPr>
          <a:xfrm>
            <a:off x="676656" y="2734056"/>
            <a:ext cx="0" cy="237744"/>
          </a:xfrm>
          <a:prstGeom prst="line">
            <a:avLst/>
          </a:prstGeom>
          <a:noFill/>
          <a:ln w="12700">
            <a:solidFill>
              <a:srgbClr val="00C9A7"/>
            </a:solidFill>
            <a:prstDash val="dash"/>
          </a:ln>
        </p:spPr>
      </p:sp>
      <p:sp>
        <p:nvSpPr>
          <p:cNvPr id="20" name="Text 18"/>
          <p:cNvSpPr/>
          <p:nvPr/>
        </p:nvSpPr>
        <p:spPr>
          <a:xfrm>
            <a:off x="936934" y="3206117"/>
            <a:ext cx="3474720" cy="3094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>
              <a:buNone/>
            </a:pPr>
            <a:r>
              <a:rPr lang="en-US" sz="950" dirty="0">
                <a:solidFill>
                  <a:srgbClr val="1F2937"/>
                </a:solidFill>
                <a:latin typeface="Consolas" pitchFamily="34" charset="0"/>
              </a:rPr>
              <a:t>Nettoyage fences markdown ``` json ```</a:t>
            </a:r>
          </a:p>
        </p:txBody>
      </p:sp>
      <p:sp>
        <p:nvSpPr>
          <p:cNvPr id="24" name="Text 22"/>
          <p:cNvSpPr/>
          <p:nvPr/>
        </p:nvSpPr>
        <p:spPr>
          <a:xfrm>
            <a:off x="936934" y="3719996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50" dirty="0">
                <a:solidFill>
                  <a:srgbClr val="1F2937"/>
                </a:solidFill>
                <a:latin typeface="Consolas" pitchFamily="34" charset="0"/>
              </a:rPr>
              <a:t>Parsing json.loads() → </a:t>
            </a:r>
            <a:r>
              <a:rPr lang="en-US" sz="950" dirty="0" err="1">
                <a:solidFill>
                  <a:srgbClr val="1F2937"/>
                </a:solidFill>
                <a:latin typeface="Consolas" pitchFamily="34" charset="0"/>
              </a:rPr>
              <a:t>dict</a:t>
            </a:r>
            <a:r>
              <a:rPr lang="en-US" sz="950" dirty="0">
                <a:solidFill>
                  <a:srgbClr val="1F2937"/>
                </a:solidFill>
                <a:latin typeface="Consolas" pitchFamily="34" charset="0"/>
              </a:rPr>
              <a:t> Python</a:t>
            </a:r>
          </a:p>
        </p:txBody>
      </p:sp>
      <p:sp>
        <p:nvSpPr>
          <p:cNvPr id="28" name="Text 26"/>
          <p:cNvSpPr/>
          <p:nvPr/>
        </p:nvSpPr>
        <p:spPr>
          <a:xfrm>
            <a:off x="936934" y="4238883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>
              <a:buNone/>
            </a:pPr>
            <a:r>
              <a:rPr lang="en-US" sz="950" dirty="0">
                <a:solidFill>
                  <a:srgbClr val="1F2937"/>
                </a:solidFill>
                <a:latin typeface="Consolas" pitchFamily="34" charset="0"/>
              </a:rPr>
              <a:t>Passage au </a:t>
            </a:r>
            <a:r>
              <a:rPr lang="en-US" sz="950" dirty="0" err="1">
                <a:solidFill>
                  <a:srgbClr val="1F2937"/>
                </a:solidFill>
                <a:latin typeface="Consolas" pitchFamily="34" charset="0"/>
              </a:rPr>
              <a:t>validateur</a:t>
            </a:r>
            <a:endParaRPr lang="en-US" sz="950" dirty="0">
              <a:solidFill>
                <a:srgbClr val="1F2937"/>
              </a:solidFill>
              <a:latin typeface="Consolas" pitchFamily="34" charset="0"/>
            </a:endParaRPr>
          </a:p>
        </p:txBody>
      </p:sp>
      <p:sp>
        <p:nvSpPr>
          <p:cNvPr id="29" name="Shape 27"/>
          <p:cNvSpPr/>
          <p:nvPr/>
        </p:nvSpPr>
        <p:spPr>
          <a:xfrm>
            <a:off x="4640580" y="1063135"/>
            <a:ext cx="4160520" cy="3977640"/>
          </a:xfrm>
          <a:prstGeom prst="rect">
            <a:avLst/>
          </a:prstGeom>
          <a:solidFill>
            <a:srgbClr val="FFF5F5"/>
          </a:solidFill>
          <a:ln w="12700">
            <a:solidFill>
              <a:srgbClr val="F5A623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fr-FR" dirty="0"/>
          </a:p>
        </p:txBody>
      </p:sp>
      <p:sp>
        <p:nvSpPr>
          <p:cNvPr id="31" name="Shape 29"/>
          <p:cNvSpPr/>
          <p:nvPr/>
        </p:nvSpPr>
        <p:spPr>
          <a:xfrm>
            <a:off x="4724616" y="1555472"/>
            <a:ext cx="3931920" cy="493776"/>
          </a:xfrm>
          <a:prstGeom prst="rect">
            <a:avLst/>
          </a:prstGeom>
          <a:solidFill>
            <a:srgbClr val="A78295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846320" y="1599208"/>
            <a:ext cx="1554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EF44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ConnectionError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4816056" y="1773936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F2937"/>
                </a:solidFill>
                <a:latin typeface="Consolas" pitchFamily="34" charset="0"/>
              </a:rPr>
              <a:t>Retry ×3 avec sleep(2s) entre </a:t>
            </a:r>
            <a:r>
              <a:rPr lang="en-US" sz="950" dirty="0" err="1">
                <a:solidFill>
                  <a:srgbClr val="1F2937"/>
                </a:solidFill>
                <a:latin typeface="Consolas" pitchFamily="34" charset="0"/>
              </a:rPr>
              <a:t>chaque</a:t>
            </a:r>
            <a:r>
              <a:rPr lang="en-US" sz="950" dirty="0">
                <a:solidFill>
                  <a:srgbClr val="1F2937"/>
                </a:solidFill>
                <a:latin typeface="Consolas" pitchFamily="34" charset="0"/>
              </a:rPr>
              <a:t> tentative</a:t>
            </a:r>
          </a:p>
        </p:txBody>
      </p:sp>
      <p:sp>
        <p:nvSpPr>
          <p:cNvPr id="34" name="Shape 32"/>
          <p:cNvSpPr/>
          <p:nvPr/>
        </p:nvSpPr>
        <p:spPr>
          <a:xfrm>
            <a:off x="4739640" y="2208049"/>
            <a:ext cx="3931920" cy="493776"/>
          </a:xfrm>
          <a:prstGeom prst="rect">
            <a:avLst/>
          </a:prstGeom>
          <a:solidFill>
            <a:srgbClr val="A78295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846320" y="2243557"/>
            <a:ext cx="1554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5A6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ValueError</a:t>
            </a:r>
            <a:endParaRPr lang="en-US" sz="850" dirty="0"/>
          </a:p>
        </p:txBody>
      </p:sp>
      <p:sp>
        <p:nvSpPr>
          <p:cNvPr id="36" name="Text 34"/>
          <p:cNvSpPr/>
          <p:nvPr/>
        </p:nvSpPr>
        <p:spPr>
          <a:xfrm>
            <a:off x="4793851" y="2409626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50" dirty="0">
                <a:solidFill>
                  <a:srgbClr val="1F2937"/>
                </a:solidFill>
                <a:latin typeface="Consolas" pitchFamily="34" charset="0"/>
              </a:rPr>
              <a:t>Arrêt immédiat, retour None (pas de retry)</a:t>
            </a:r>
          </a:p>
        </p:txBody>
      </p:sp>
      <p:sp>
        <p:nvSpPr>
          <p:cNvPr id="37" name="Shape 35"/>
          <p:cNvSpPr/>
          <p:nvPr/>
        </p:nvSpPr>
        <p:spPr>
          <a:xfrm>
            <a:off x="4739640" y="2835798"/>
            <a:ext cx="3931920" cy="493776"/>
          </a:xfrm>
          <a:prstGeom prst="rect">
            <a:avLst/>
          </a:prstGeom>
          <a:solidFill>
            <a:srgbClr val="A78295"/>
          </a:solidFill>
          <a:ln w="12700">
            <a:solidFill>
              <a:srgbClr val="8EA8C3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835870" y="2903397"/>
            <a:ext cx="1554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8EA8C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Exception</a:t>
            </a:r>
            <a:endParaRPr lang="en-US" sz="850" dirty="0"/>
          </a:p>
        </p:txBody>
      </p:sp>
      <p:sp>
        <p:nvSpPr>
          <p:cNvPr id="39" name="Text 37"/>
          <p:cNvSpPr/>
          <p:nvPr/>
        </p:nvSpPr>
        <p:spPr>
          <a:xfrm>
            <a:off x="4846320" y="3055435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F2937"/>
                </a:solidFill>
                <a:latin typeface="Consolas" pitchFamily="34" charset="0"/>
              </a:rPr>
              <a:t>Re-raise → remonter à l'appelant pour diagnostic</a:t>
            </a:r>
          </a:p>
        </p:txBody>
      </p:sp>
      <p:sp>
        <p:nvSpPr>
          <p:cNvPr id="40" name="Shape 38"/>
          <p:cNvSpPr/>
          <p:nvPr/>
        </p:nvSpPr>
        <p:spPr>
          <a:xfrm>
            <a:off x="4733615" y="3500968"/>
            <a:ext cx="3931920" cy="493776"/>
          </a:xfrm>
          <a:prstGeom prst="rect">
            <a:avLst/>
          </a:prstGeom>
          <a:solidFill>
            <a:srgbClr val="A78295"/>
          </a:solidFill>
          <a:ln w="12700">
            <a:solidFill>
              <a:srgbClr val="5B9BD5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846320" y="3480347"/>
            <a:ext cx="1554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5B9BD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JSON invalide</a:t>
            </a:r>
            <a:endParaRPr lang="en-US" sz="850" dirty="0"/>
          </a:p>
        </p:txBody>
      </p:sp>
      <p:sp>
        <p:nvSpPr>
          <p:cNvPr id="42" name="Text 40"/>
          <p:cNvSpPr/>
          <p:nvPr/>
        </p:nvSpPr>
        <p:spPr>
          <a:xfrm>
            <a:off x="4846320" y="3685958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F2937"/>
                </a:solidFill>
                <a:latin typeface="Consolas" pitchFamily="34" charset="0"/>
              </a:rPr>
              <a:t>Nettoyage fences markdown + second parsing</a:t>
            </a:r>
          </a:p>
        </p:txBody>
      </p:sp>
      <p:sp>
        <p:nvSpPr>
          <p:cNvPr id="43" name="Shape 41"/>
          <p:cNvSpPr/>
          <p:nvPr/>
        </p:nvSpPr>
        <p:spPr>
          <a:xfrm>
            <a:off x="4759307" y="4128070"/>
            <a:ext cx="3931920" cy="493776"/>
          </a:xfrm>
          <a:prstGeom prst="rect">
            <a:avLst/>
          </a:prstGeom>
          <a:solidFill>
            <a:srgbClr val="A78295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846320" y="4183940"/>
            <a:ext cx="1554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0C9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Champs manquants</a:t>
            </a:r>
            <a:endParaRPr lang="en-US" sz="850" dirty="0"/>
          </a:p>
        </p:txBody>
      </p:sp>
      <p:sp>
        <p:nvSpPr>
          <p:cNvPr id="45" name="Text 43"/>
          <p:cNvSpPr/>
          <p:nvPr/>
        </p:nvSpPr>
        <p:spPr>
          <a:xfrm>
            <a:off x="4835870" y="4355193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F2937"/>
                </a:solidFill>
                <a:latin typeface="Consolas" pitchFamily="34" charset="0"/>
              </a:rPr>
              <a:t>Valeurs par défaut injectées par le </a:t>
            </a:r>
            <a:r>
              <a:rPr lang="en-US" sz="950" dirty="0" err="1">
                <a:solidFill>
                  <a:srgbClr val="1F2937"/>
                </a:solidFill>
                <a:latin typeface="Consolas" pitchFamily="34" charset="0"/>
              </a:rPr>
              <a:t>validateur</a:t>
            </a:r>
            <a:endParaRPr lang="en-US" sz="950" dirty="0">
              <a:solidFill>
                <a:srgbClr val="1F2937"/>
              </a:solidFill>
              <a:latin typeface="Consolas" pitchFamily="34" charset="0"/>
            </a:endParaRPr>
          </a:p>
        </p:txBody>
      </p:sp>
      <p:sp>
        <p:nvSpPr>
          <p:cNvPr id="46" name="Shape 0">
            <a:extLst>
              <a:ext uri="{FF2B5EF4-FFF2-40B4-BE49-F238E27FC236}">
                <a16:creationId xmlns:a16="http://schemas.microsoft.com/office/drawing/2014/main" id="{A0B2DBDA-DDF8-4CF9-9171-9528400B38EC}"/>
              </a:ext>
            </a:extLst>
          </p:cNvPr>
          <p:cNvSpPr/>
          <p:nvPr/>
        </p:nvSpPr>
        <p:spPr>
          <a:xfrm>
            <a:off x="54864" y="12047"/>
            <a:ext cx="9144000" cy="914400"/>
          </a:xfrm>
          <a:prstGeom prst="rect">
            <a:avLst/>
          </a:prstGeom>
          <a:solidFill>
            <a:srgbClr val="331D2C"/>
          </a:solidFill>
          <a:ln w="12700">
            <a:solidFill>
              <a:srgbClr val="0F1B2D"/>
            </a:solidFill>
            <a:prstDash val="solid"/>
          </a:ln>
        </p:spPr>
        <p:txBody>
          <a:bodyPr/>
          <a:lstStyle/>
          <a:p>
            <a:endParaRPr lang="fr-MA" dirty="0"/>
          </a:p>
        </p:txBody>
      </p:sp>
      <p:sp>
        <p:nvSpPr>
          <p:cNvPr id="3" name="Text 1"/>
          <p:cNvSpPr/>
          <p:nvPr/>
        </p:nvSpPr>
        <p:spPr>
          <a:xfrm>
            <a:off x="274320" y="24688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Étape 3 — Appel API &amp; Gestion d'Erreurs</a:t>
            </a:r>
            <a:endParaRPr lang="en-US" sz="2200" dirty="0"/>
          </a:p>
        </p:txBody>
      </p:sp>
      <p:sp>
        <p:nvSpPr>
          <p:cNvPr id="47" name="Shape 4">
            <a:extLst>
              <a:ext uri="{FF2B5EF4-FFF2-40B4-BE49-F238E27FC236}">
                <a16:creationId xmlns:a16="http://schemas.microsoft.com/office/drawing/2014/main" id="{6F7BA25E-4EA0-4918-8A07-99899FEB78AD}"/>
              </a:ext>
            </a:extLst>
          </p:cNvPr>
          <p:cNvSpPr/>
          <p:nvPr/>
        </p:nvSpPr>
        <p:spPr>
          <a:xfrm>
            <a:off x="228600" y="1069340"/>
            <a:ext cx="4160520" cy="365760"/>
          </a:xfrm>
          <a:prstGeom prst="rect">
            <a:avLst/>
          </a:prstGeom>
          <a:solidFill>
            <a:srgbClr val="7A466A"/>
          </a:solidFill>
          <a:ln w="12700">
            <a:noFill/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3741" y="1102106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cs typeface="Calibri" pitchFamily="34" charset="-120"/>
              </a:rPr>
              <a:t>          Flux </a:t>
            </a:r>
            <a:r>
              <a:rPr lang="en-US" sz="1200" b="1" dirty="0" err="1">
                <a:solidFill>
                  <a:srgbClr val="FFFFFF"/>
                </a:solidFill>
                <a:latin typeface="Calibri" pitchFamily="34" charset="0"/>
                <a:cs typeface="Calibri" pitchFamily="34" charset="-120"/>
              </a:rPr>
              <a:t>d'appel</a:t>
            </a: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cs typeface="Calibri" pitchFamily="34" charset="-120"/>
              </a:rPr>
              <a:t> API</a:t>
            </a:r>
          </a:p>
        </p:txBody>
      </p:sp>
      <p:sp>
        <p:nvSpPr>
          <p:cNvPr id="48" name="Shape 4">
            <a:extLst>
              <a:ext uri="{FF2B5EF4-FFF2-40B4-BE49-F238E27FC236}">
                <a16:creationId xmlns:a16="http://schemas.microsoft.com/office/drawing/2014/main" id="{35F6703E-7B33-4662-9485-895D99AD7337}"/>
              </a:ext>
            </a:extLst>
          </p:cNvPr>
          <p:cNvSpPr/>
          <p:nvPr/>
        </p:nvSpPr>
        <p:spPr>
          <a:xfrm>
            <a:off x="4640580" y="1056386"/>
            <a:ext cx="4160520" cy="365760"/>
          </a:xfrm>
          <a:prstGeom prst="rect">
            <a:avLst/>
          </a:prstGeom>
          <a:solidFill>
            <a:srgbClr val="331D2C"/>
          </a:solidFill>
          <a:ln w="12700">
            <a:noFill/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759307" y="1061502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    Gestion d'Erreurs &amp; Résilience</a:t>
            </a:r>
            <a:endParaRPr lang="en-US" sz="1200" dirty="0">
              <a:solidFill>
                <a:srgbClr val="FFF5F5"/>
              </a:solidFill>
            </a:endParaRPr>
          </a:p>
        </p:txBody>
      </p:sp>
      <p:sp>
        <p:nvSpPr>
          <p:cNvPr id="56" name="Shape 4">
            <a:extLst>
              <a:ext uri="{FF2B5EF4-FFF2-40B4-BE49-F238E27FC236}">
                <a16:creationId xmlns:a16="http://schemas.microsoft.com/office/drawing/2014/main" id="{F9CA293D-3D9A-46D5-BA16-F75CC95A6AF7}"/>
              </a:ext>
            </a:extLst>
          </p:cNvPr>
          <p:cNvSpPr/>
          <p:nvPr/>
        </p:nvSpPr>
        <p:spPr>
          <a:xfrm>
            <a:off x="494013" y="4202031"/>
            <a:ext cx="353566" cy="354330"/>
          </a:xfrm>
          <a:prstGeom prst="ellipse">
            <a:avLst/>
          </a:prstGeom>
          <a:solidFill>
            <a:srgbClr val="3F2E3E"/>
          </a:solidFill>
          <a:ln w="12700">
            <a:noFill/>
            <a:prstDash val="solid"/>
          </a:ln>
          <a:effectLst/>
        </p:spPr>
        <p:txBody>
          <a:bodyPr/>
          <a:lstStyle/>
          <a:p>
            <a:r>
              <a:rPr lang="en-US" sz="2000" b="1" dirty="0">
                <a:solidFill>
                  <a:srgbClr val="FFF5F5"/>
                </a:solidFill>
                <a:ea typeface="Calibri" pitchFamily="34" charset="-122"/>
                <a:cs typeface="Calibri" pitchFamily="34" charset="-120"/>
              </a:rPr>
              <a:t> 1</a:t>
            </a:r>
            <a:endParaRPr lang="fr-MA" sz="2000" b="1" dirty="0">
              <a:solidFill>
                <a:srgbClr val="FFF5F5"/>
              </a:solidFill>
              <a:ea typeface="Calibri" pitchFamily="34" charset="-122"/>
              <a:cs typeface="Calibri" pitchFamily="34" charset="-120"/>
            </a:endParaRPr>
          </a:p>
        </p:txBody>
      </p:sp>
      <p:sp>
        <p:nvSpPr>
          <p:cNvPr id="57" name="Shape 4">
            <a:extLst>
              <a:ext uri="{FF2B5EF4-FFF2-40B4-BE49-F238E27FC236}">
                <a16:creationId xmlns:a16="http://schemas.microsoft.com/office/drawing/2014/main" id="{C900AEC1-B568-490F-8520-91F517E1BADA}"/>
              </a:ext>
            </a:extLst>
          </p:cNvPr>
          <p:cNvSpPr/>
          <p:nvPr/>
        </p:nvSpPr>
        <p:spPr>
          <a:xfrm>
            <a:off x="467434" y="2685778"/>
            <a:ext cx="353566" cy="354330"/>
          </a:xfrm>
          <a:prstGeom prst="ellipse">
            <a:avLst/>
          </a:prstGeom>
          <a:solidFill>
            <a:srgbClr val="3F2E3E"/>
          </a:solidFill>
          <a:ln w="12700">
            <a:noFill/>
            <a:prstDash val="solid"/>
          </a:ln>
          <a:effectLst/>
        </p:spPr>
        <p:txBody>
          <a:bodyPr/>
          <a:lstStyle/>
          <a:p>
            <a:r>
              <a:rPr lang="en-US" sz="2000" b="1" dirty="0">
                <a:solidFill>
                  <a:srgbClr val="FFF5F5"/>
                </a:solidFill>
                <a:ea typeface="Calibri" pitchFamily="34" charset="-122"/>
                <a:cs typeface="Calibri" pitchFamily="34" charset="-120"/>
              </a:rPr>
              <a:t> 1</a:t>
            </a:r>
            <a:endParaRPr lang="fr-MA" sz="2000" b="1" dirty="0">
              <a:solidFill>
                <a:srgbClr val="FFF5F5"/>
              </a:solidFill>
              <a:ea typeface="Calibri" pitchFamily="34" charset="-122"/>
              <a:cs typeface="Calibri" pitchFamily="34" charset="-120"/>
            </a:endParaRPr>
          </a:p>
        </p:txBody>
      </p:sp>
      <p:sp>
        <p:nvSpPr>
          <p:cNvPr id="58" name="Shape 4">
            <a:extLst>
              <a:ext uri="{FF2B5EF4-FFF2-40B4-BE49-F238E27FC236}">
                <a16:creationId xmlns:a16="http://schemas.microsoft.com/office/drawing/2014/main" id="{5B22CF25-4D13-4B71-A893-39F671CA0903}"/>
              </a:ext>
            </a:extLst>
          </p:cNvPr>
          <p:cNvSpPr/>
          <p:nvPr/>
        </p:nvSpPr>
        <p:spPr>
          <a:xfrm>
            <a:off x="478465" y="3696462"/>
            <a:ext cx="353566" cy="354330"/>
          </a:xfrm>
          <a:prstGeom prst="ellipse">
            <a:avLst/>
          </a:prstGeom>
          <a:solidFill>
            <a:srgbClr val="3F2E3E"/>
          </a:solidFill>
          <a:ln w="12700">
            <a:noFill/>
            <a:prstDash val="solid"/>
          </a:ln>
          <a:effectLst/>
        </p:spPr>
        <p:txBody>
          <a:bodyPr/>
          <a:lstStyle/>
          <a:p>
            <a:r>
              <a:rPr lang="en-US" sz="2000" b="1" dirty="0">
                <a:solidFill>
                  <a:srgbClr val="FFF5F5"/>
                </a:solidFill>
                <a:ea typeface="Calibri" pitchFamily="34" charset="-122"/>
                <a:cs typeface="Calibri" pitchFamily="34" charset="-120"/>
              </a:rPr>
              <a:t> </a:t>
            </a:r>
            <a:endParaRPr lang="fr-MA" sz="2000" b="1" dirty="0">
              <a:solidFill>
                <a:srgbClr val="FFF5F5"/>
              </a:solidFill>
              <a:ea typeface="Calibri" pitchFamily="34" charset="-122"/>
              <a:cs typeface="Calibri" pitchFamily="34" charset="-120"/>
            </a:endParaRPr>
          </a:p>
        </p:txBody>
      </p:sp>
      <p:sp>
        <p:nvSpPr>
          <p:cNvPr id="23" name="Text 21"/>
          <p:cNvSpPr/>
          <p:nvPr/>
        </p:nvSpPr>
        <p:spPr>
          <a:xfrm>
            <a:off x="530352" y="3465575"/>
            <a:ext cx="247540" cy="7894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5F5"/>
                </a:solidFill>
              </a:rPr>
              <a:t>5</a:t>
            </a:r>
            <a:endParaRPr lang="en-US" sz="900" dirty="0">
              <a:solidFill>
                <a:srgbClr val="FFF5F5"/>
              </a:solidFill>
            </a:endParaRPr>
          </a:p>
        </p:txBody>
      </p:sp>
      <p:sp>
        <p:nvSpPr>
          <p:cNvPr id="27" name="Text 25"/>
          <p:cNvSpPr/>
          <p:nvPr/>
        </p:nvSpPr>
        <p:spPr>
          <a:xfrm>
            <a:off x="494014" y="3966318"/>
            <a:ext cx="338036" cy="81728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5F5"/>
                </a:solidFill>
              </a:rPr>
              <a:t>6</a:t>
            </a:r>
            <a:endParaRPr lang="en-US" sz="900" dirty="0">
              <a:solidFill>
                <a:srgbClr val="FFF5F5"/>
              </a:solidFill>
            </a:endParaRPr>
          </a:p>
        </p:txBody>
      </p:sp>
      <p:sp>
        <p:nvSpPr>
          <p:cNvPr id="15" name="Text 13"/>
          <p:cNvSpPr/>
          <p:nvPr/>
        </p:nvSpPr>
        <p:spPr>
          <a:xfrm>
            <a:off x="480351" y="2725438"/>
            <a:ext cx="319749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5F5"/>
                </a:solidFill>
              </a:rPr>
              <a:t>3</a:t>
            </a:r>
            <a:endParaRPr lang="en-US" sz="900" dirty="0">
              <a:solidFill>
                <a:srgbClr val="FFF5F5"/>
              </a:solidFill>
            </a:endParaRPr>
          </a:p>
        </p:txBody>
      </p:sp>
      <p:sp>
        <p:nvSpPr>
          <p:cNvPr id="59" name="Shape 4">
            <a:extLst>
              <a:ext uri="{FF2B5EF4-FFF2-40B4-BE49-F238E27FC236}">
                <a16:creationId xmlns:a16="http://schemas.microsoft.com/office/drawing/2014/main" id="{ECE69165-66C5-463D-A44B-733B7F8A865A}"/>
              </a:ext>
            </a:extLst>
          </p:cNvPr>
          <p:cNvSpPr/>
          <p:nvPr/>
        </p:nvSpPr>
        <p:spPr>
          <a:xfrm>
            <a:off x="478484" y="2186676"/>
            <a:ext cx="353566" cy="354330"/>
          </a:xfrm>
          <a:prstGeom prst="ellipse">
            <a:avLst/>
          </a:prstGeom>
          <a:solidFill>
            <a:srgbClr val="3F2E3E"/>
          </a:solidFill>
          <a:ln w="12700">
            <a:noFill/>
            <a:prstDash val="solid"/>
          </a:ln>
          <a:effectLst/>
        </p:spPr>
        <p:txBody>
          <a:bodyPr/>
          <a:lstStyle/>
          <a:p>
            <a:r>
              <a:rPr lang="en-US" sz="2000" b="1" dirty="0">
                <a:solidFill>
                  <a:srgbClr val="FFF5F5"/>
                </a:solidFill>
                <a:ea typeface="Calibri" pitchFamily="34" charset="-122"/>
                <a:cs typeface="Calibri" pitchFamily="34" charset="-120"/>
              </a:rPr>
              <a:t> </a:t>
            </a:r>
            <a:endParaRPr lang="fr-MA" sz="2000" b="1" dirty="0">
              <a:solidFill>
                <a:srgbClr val="FFF5F5"/>
              </a:solidFill>
              <a:ea typeface="Calibri" pitchFamily="34" charset="-122"/>
              <a:cs typeface="Calibri" pitchFamily="34" charset="-120"/>
            </a:endParaRPr>
          </a:p>
        </p:txBody>
      </p:sp>
      <p:sp>
        <p:nvSpPr>
          <p:cNvPr id="11" name="Text 9"/>
          <p:cNvSpPr/>
          <p:nvPr/>
        </p:nvSpPr>
        <p:spPr>
          <a:xfrm>
            <a:off x="503210" y="1929383"/>
            <a:ext cx="319749" cy="89364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5F5"/>
                </a:solidFill>
              </a:rPr>
              <a:t>2</a:t>
            </a:r>
            <a:endParaRPr lang="en-US" sz="900" dirty="0">
              <a:solidFill>
                <a:srgbClr val="FFF5F5"/>
              </a:solidFill>
            </a:endParaRPr>
          </a:p>
        </p:txBody>
      </p:sp>
      <p:sp>
        <p:nvSpPr>
          <p:cNvPr id="60" name="Shape 4">
            <a:extLst>
              <a:ext uri="{FF2B5EF4-FFF2-40B4-BE49-F238E27FC236}">
                <a16:creationId xmlns:a16="http://schemas.microsoft.com/office/drawing/2014/main" id="{80138965-2100-4914-A35B-D506AB46203D}"/>
              </a:ext>
            </a:extLst>
          </p:cNvPr>
          <p:cNvSpPr/>
          <p:nvPr/>
        </p:nvSpPr>
        <p:spPr>
          <a:xfrm>
            <a:off x="478465" y="3191892"/>
            <a:ext cx="353566" cy="354330"/>
          </a:xfrm>
          <a:prstGeom prst="ellipse">
            <a:avLst/>
          </a:prstGeom>
          <a:solidFill>
            <a:srgbClr val="3F2E3E"/>
          </a:solidFill>
          <a:ln w="12700">
            <a:noFill/>
            <a:prstDash val="solid"/>
          </a:ln>
          <a:effectLst/>
        </p:spPr>
        <p:txBody>
          <a:bodyPr/>
          <a:lstStyle/>
          <a:p>
            <a:endParaRPr lang="fr-MA" sz="2000" b="1" dirty="0">
              <a:solidFill>
                <a:srgbClr val="FFF5F5"/>
              </a:solidFill>
              <a:ea typeface="Calibri" pitchFamily="34" charset="-122"/>
              <a:cs typeface="Calibri" pitchFamily="34" charset="-120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467433" y="3200654"/>
            <a:ext cx="38014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5F5"/>
                </a:solidFill>
              </a:rPr>
              <a:t>4</a:t>
            </a:r>
            <a:endParaRPr lang="en-US" sz="900" dirty="0">
              <a:solidFill>
                <a:srgbClr val="FFF5F5"/>
              </a:solidFill>
            </a:endParaRPr>
          </a:p>
        </p:txBody>
      </p:sp>
      <p:sp>
        <p:nvSpPr>
          <p:cNvPr id="62" name="Shape 4">
            <a:extLst>
              <a:ext uri="{FF2B5EF4-FFF2-40B4-BE49-F238E27FC236}">
                <a16:creationId xmlns:a16="http://schemas.microsoft.com/office/drawing/2014/main" id="{D4718565-B90E-4C9A-B6B7-959E964E520E}"/>
              </a:ext>
            </a:extLst>
          </p:cNvPr>
          <p:cNvSpPr/>
          <p:nvPr/>
        </p:nvSpPr>
        <p:spPr>
          <a:xfrm>
            <a:off x="470790" y="1686895"/>
            <a:ext cx="353566" cy="354330"/>
          </a:xfrm>
          <a:prstGeom prst="ellipse">
            <a:avLst/>
          </a:prstGeom>
          <a:solidFill>
            <a:srgbClr val="3F2E3E"/>
          </a:solidFill>
          <a:ln w="12700">
            <a:noFill/>
            <a:prstDash val="solid"/>
          </a:ln>
          <a:effectLst/>
        </p:spPr>
        <p:txBody>
          <a:bodyPr/>
          <a:lstStyle/>
          <a:p>
            <a:r>
              <a:rPr lang="en-US" sz="2000" b="1" dirty="0">
                <a:solidFill>
                  <a:srgbClr val="FFF5F5"/>
                </a:solidFill>
                <a:ea typeface="Calibri" pitchFamily="34" charset="-122"/>
                <a:cs typeface="Calibri" pitchFamily="34" charset="-120"/>
              </a:rPr>
              <a:t> </a:t>
            </a:r>
            <a:endParaRPr lang="fr-MA" sz="2000" b="1" dirty="0">
              <a:solidFill>
                <a:srgbClr val="FFF5F5"/>
              </a:solidFill>
              <a:ea typeface="Calibri" pitchFamily="34" charset="-122"/>
              <a:cs typeface="Calibri" pitchFamily="34" charset="-120"/>
            </a:endParaRPr>
          </a:p>
        </p:txBody>
      </p:sp>
      <p:sp>
        <p:nvSpPr>
          <p:cNvPr id="7" name="Text 5"/>
          <p:cNvSpPr/>
          <p:nvPr/>
        </p:nvSpPr>
        <p:spPr>
          <a:xfrm>
            <a:off x="530352" y="1417320"/>
            <a:ext cx="2475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5F5"/>
                </a:solidFill>
              </a:rPr>
              <a:t>1</a:t>
            </a:r>
            <a:endParaRPr lang="en-US" sz="900" dirty="0">
              <a:solidFill>
                <a:srgbClr val="FFF5F5"/>
              </a:solidFill>
            </a:endParaRPr>
          </a:p>
        </p:txBody>
      </p:sp>
      <p:pic>
        <p:nvPicPr>
          <p:cNvPr id="10" name="Graphique 9" descr="Globe terrestre : Europe et Afrique avec un remplissage uni">
            <a:extLst>
              <a:ext uri="{FF2B5EF4-FFF2-40B4-BE49-F238E27FC236}">
                <a16:creationId xmlns:a16="http://schemas.microsoft.com/office/drawing/2014/main" id="{E7BD7182-A89D-4092-8AEA-0D193D32BE0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73236" y="1171085"/>
            <a:ext cx="210457" cy="210457"/>
          </a:xfrm>
          <a:prstGeom prst="rect">
            <a:avLst/>
          </a:prstGeom>
        </p:spPr>
      </p:pic>
      <p:pic>
        <p:nvPicPr>
          <p:cNvPr id="14" name="Graphique 13" descr="Avertissement avec un remplissage uni">
            <a:extLst>
              <a:ext uri="{FF2B5EF4-FFF2-40B4-BE49-F238E27FC236}">
                <a16:creationId xmlns:a16="http://schemas.microsoft.com/office/drawing/2014/main" id="{0AECB17D-1A74-4214-A919-CB9A97AA0A9E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816056" y="1074106"/>
            <a:ext cx="252546" cy="252546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-43543"/>
            <a:ext cx="9144000" cy="914400"/>
          </a:xfrm>
          <a:prstGeom prst="rect">
            <a:avLst/>
          </a:prstGeom>
          <a:solidFill>
            <a:srgbClr val="331D2C"/>
          </a:solidFill>
          <a:ln w="12700">
            <a:solidFill>
              <a:srgbClr val="0F1B2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925141"/>
            <a:ext cx="9144000" cy="50292"/>
          </a:xfrm>
          <a:prstGeom prst="rect">
            <a:avLst/>
          </a:prstGeom>
          <a:solidFill>
            <a:srgbClr val="A78295"/>
          </a:solidFill>
          <a:ln w="12700">
            <a:solidFill>
              <a:srgbClr val="A7829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146304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Étape 4 — Rendu Document Word (.docx)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20040" y="1097280"/>
            <a:ext cx="4160520" cy="1691640"/>
          </a:xfrm>
          <a:prstGeom prst="flowChartAlternateProcess">
            <a:avLst/>
          </a:prstGeom>
          <a:solidFill>
            <a:srgbClr val="FFF5F5"/>
          </a:solidFill>
          <a:ln w="19050">
            <a:solidFill>
              <a:srgbClr val="A78295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1097280"/>
            <a:ext cx="4160520" cy="365760"/>
          </a:xfrm>
          <a:prstGeom prst="rect">
            <a:avLst/>
          </a:prstGeom>
          <a:solidFill>
            <a:srgbClr val="A78295"/>
          </a:solidFill>
          <a:ln w="12700">
            <a:solidFill>
              <a:srgbClr val="1E5A8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29768" y="109728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 Mise en forme professionnelle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448056" y="1508760"/>
            <a:ext cx="3886200" cy="12070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Titres centrés avec styles Heading 1/2</a:t>
            </a:r>
            <a:endParaRPr lang="en-US" sz="9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Listes à puces formatées</a:t>
            </a:r>
            <a:endParaRPr lang="en-US" sz="9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Codes couleur par priorité (rouge/orange/vert)</a:t>
            </a:r>
            <a:endParaRPr lang="en-US" sz="9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Badges de confiance pour Q&amp;A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4727448" y="1097280"/>
            <a:ext cx="4160520" cy="1691640"/>
          </a:xfrm>
          <a:prstGeom prst="flowChartAlternateProcess">
            <a:avLst/>
          </a:prstGeom>
          <a:solidFill>
            <a:srgbClr val="EFE1D1"/>
          </a:solidFill>
          <a:ln w="19050">
            <a:solidFill>
              <a:srgbClr val="A78295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727448" y="1097280"/>
            <a:ext cx="4160520" cy="365760"/>
          </a:xfrm>
          <a:prstGeom prst="rect">
            <a:avLst/>
          </a:prstGeom>
          <a:solidFill>
            <a:srgbClr val="A78295"/>
          </a:solidFill>
          <a:ln w="12700">
            <a:solidFill>
              <a:srgbClr val="1A5C4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837176" y="109728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  Tableaux colorés (Todo)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4855464" y="1508760"/>
            <a:ext cx="3886200" cy="12070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En-têtes colorés en bleu marine</a:t>
            </a:r>
            <a:endParaRPr lang="en-US" sz="9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Colonnes : Tâche / Priorité / Date / Statut</a:t>
            </a:r>
            <a:endParaRPr lang="en-US" sz="9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Couleurs conditionnelles par priorité</a:t>
            </a:r>
            <a:endParaRPr lang="en-US" sz="9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Alternance ligne claire/foncée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320040" y="2971800"/>
            <a:ext cx="4160520" cy="1691640"/>
          </a:xfrm>
          <a:prstGeom prst="flowChartAlternateProcess">
            <a:avLst/>
          </a:prstGeom>
          <a:solidFill>
            <a:srgbClr val="EFE1D1"/>
          </a:solidFill>
          <a:ln w="19050">
            <a:solidFill>
              <a:srgbClr val="A78295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20040" y="2971800"/>
            <a:ext cx="4160520" cy="365760"/>
          </a:xfrm>
          <a:prstGeom prst="rect">
            <a:avLst/>
          </a:prstGeom>
          <a:solidFill>
            <a:srgbClr val="A78295"/>
          </a:solidFill>
          <a:ln w="12700">
            <a:solidFill>
              <a:srgbClr val="4A1A5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29768" y="297180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 Moteur modulaire python-docx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448056" y="3383280"/>
            <a:ext cx="3886200" cy="12070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renderer dédié par type de note</a:t>
            </a:r>
            <a:endParaRPr lang="en-US" sz="9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Styles réutilisables entre templates</a:t>
            </a:r>
            <a:endParaRPr lang="en-US" sz="9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Ajout facile de nouvelles mises en forme</a:t>
            </a:r>
            <a:endParaRPr lang="en-US" sz="9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Génération 100% Python natif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4727448" y="2971800"/>
            <a:ext cx="4160520" cy="1691640"/>
          </a:xfrm>
          <a:prstGeom prst="flowChartAlternateProcess">
            <a:avLst/>
          </a:prstGeom>
          <a:solidFill>
            <a:srgbClr val="FFF5F5"/>
          </a:solidFill>
          <a:ln w="19050">
            <a:solidFill>
              <a:srgbClr val="5C4A1A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727448" y="2971800"/>
            <a:ext cx="4160520" cy="365760"/>
          </a:xfrm>
          <a:prstGeom prst="rect">
            <a:avLst/>
          </a:prstGeom>
          <a:solidFill>
            <a:srgbClr val="A78295"/>
          </a:solidFill>
          <a:ln w="12700">
            <a:solidFill>
              <a:srgbClr val="5C4A1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837176" y="297180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  </a:t>
            </a:r>
            <a:r>
              <a:rPr lang="en-US" sz="115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Résultat</a:t>
            </a: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immédiatement utilisable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4855464" y="3383280"/>
            <a:ext cx="3886200" cy="12070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Compatible Word, LibreOffice, Google Docs</a:t>
            </a:r>
            <a:endParaRPr lang="en-US" sz="9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 sémantique (pas juste du texte)</a:t>
            </a:r>
            <a:endParaRPr lang="en-US" sz="9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Nom de fichier automatique depuis le titre</a:t>
            </a:r>
            <a:endParaRPr lang="en-US" sz="9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Dossier output/ organisé et lisible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320040" y="4754880"/>
            <a:ext cx="8503920" cy="274320"/>
          </a:xfrm>
          <a:prstGeom prst="flowChartAlternateProcess">
            <a:avLst/>
          </a:prstGeom>
          <a:solidFill>
            <a:srgbClr val="331D2C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57200" y="4754880"/>
            <a:ext cx="8321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📦  Librairie : python-docx  |  Aucune dépendance Microsoft Office requise  |  100% open source</a:t>
            </a:r>
            <a:endParaRPr lang="en-US" sz="950" dirty="0">
              <a:solidFill>
                <a:srgbClr val="FFF5F5"/>
              </a:solidFill>
            </a:endParaRPr>
          </a:p>
        </p:txBody>
      </p:sp>
      <p:pic>
        <p:nvPicPr>
          <p:cNvPr id="24" name="Graphique 23" descr="Palette avec un remplissage uni">
            <a:extLst>
              <a:ext uri="{FF2B5EF4-FFF2-40B4-BE49-F238E27FC236}">
                <a16:creationId xmlns:a16="http://schemas.microsoft.com/office/drawing/2014/main" id="{1093AB94-4A1D-49EE-82B9-B727B47C397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11480" y="1173026"/>
            <a:ext cx="240030" cy="240030"/>
          </a:xfrm>
          <a:prstGeom prst="rect">
            <a:avLst/>
          </a:prstGeom>
        </p:spPr>
      </p:pic>
      <p:pic>
        <p:nvPicPr>
          <p:cNvPr id="26" name="Graphique 25" descr="Engrenage avec un remplissage uni">
            <a:extLst>
              <a:ext uri="{FF2B5EF4-FFF2-40B4-BE49-F238E27FC236}">
                <a16:creationId xmlns:a16="http://schemas.microsoft.com/office/drawing/2014/main" id="{126669CB-FBA5-4C20-AD00-AF062012640C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11480" y="3063603"/>
            <a:ext cx="219456" cy="219456"/>
          </a:xfrm>
          <a:prstGeom prst="rect">
            <a:avLst/>
          </a:prstGeom>
        </p:spPr>
      </p:pic>
      <p:pic>
        <p:nvPicPr>
          <p:cNvPr id="28" name="Graphique 27" descr="Graphique à barres avec un remplissage uni">
            <a:extLst>
              <a:ext uri="{FF2B5EF4-FFF2-40B4-BE49-F238E27FC236}">
                <a16:creationId xmlns:a16="http://schemas.microsoft.com/office/drawing/2014/main" id="{3C2D1BF4-FDCB-4884-B75A-694B062A85FB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4855464" y="1153015"/>
            <a:ext cx="265176" cy="265176"/>
          </a:xfrm>
          <a:prstGeom prst="rect">
            <a:avLst/>
          </a:prstGeom>
        </p:spPr>
      </p:pic>
      <p:pic>
        <p:nvPicPr>
          <p:cNvPr id="30" name="Graphique 29" descr="Envoyer avec un remplissage uni">
            <a:extLst>
              <a:ext uri="{FF2B5EF4-FFF2-40B4-BE49-F238E27FC236}">
                <a16:creationId xmlns:a16="http://schemas.microsoft.com/office/drawing/2014/main" id="{388A5CF3-19D6-4A0B-936A-8E1A8099483A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4837176" y="3038929"/>
            <a:ext cx="265176" cy="265176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-43543"/>
            <a:ext cx="9144000" cy="54864"/>
          </a:xfrm>
          <a:prstGeom prst="rect">
            <a:avLst/>
          </a:prstGeom>
          <a:solidFill>
            <a:srgbClr val="A78295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0" y="11321"/>
            <a:ext cx="9144000" cy="656191"/>
          </a:xfrm>
          <a:prstGeom prst="rect">
            <a:avLst/>
          </a:prstGeom>
          <a:solidFill>
            <a:srgbClr val="331D2C"/>
          </a:solidFill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	</a:t>
            </a:r>
            <a:r>
              <a:rPr lang="en-US" sz="24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Démonstration</a:t>
            </a: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&amp; Résultats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274320" y="868680"/>
            <a:ext cx="3886200" cy="3977640"/>
          </a:xfrm>
          <a:prstGeom prst="rect">
            <a:avLst/>
          </a:prstGeom>
          <a:solidFill>
            <a:srgbClr val="FFF5F5"/>
          </a:solidFill>
          <a:ln w="19050">
            <a:solidFill>
              <a:srgbClr val="EF4444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868680"/>
            <a:ext cx="3886200" cy="347472"/>
          </a:xfrm>
          <a:prstGeom prst="rect">
            <a:avLst/>
          </a:prstGeom>
          <a:solidFill>
            <a:srgbClr val="EF4444">
              <a:alpha val="80000"/>
            </a:srgbClr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868680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 AVANT — Note brute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11480" y="1298448"/>
            <a:ext cx="3621024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chemeClr val="tx1">
                    <a:lumMod val="95000"/>
                    <a:lumOff val="5000"/>
                  </a:scheme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jan 15 meet w alice bob</a:t>
            </a:r>
            <a:endParaRPr lang="en-US" sz="950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marL="0" indent="0">
              <a:buNone/>
            </a:pPr>
            <a:r>
              <a:rPr lang="en-US" sz="950" dirty="0">
                <a:solidFill>
                  <a:schemeClr val="tx1">
                    <a:lumMod val="95000"/>
                    <a:lumOff val="5000"/>
                  </a:scheme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q1 goals + fix auth bug!!</a:t>
            </a:r>
            <a:endParaRPr lang="en-US" sz="950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marL="0" indent="0">
              <a:buNone/>
            </a:pPr>
            <a:r>
              <a:rPr lang="en-US" sz="950" dirty="0">
                <a:solidFill>
                  <a:schemeClr val="tx1">
                    <a:lumMod val="95000"/>
                    <a:lumOff val="5000"/>
                  </a:scheme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deploy next week??</a:t>
            </a:r>
            <a:endParaRPr lang="en-US" sz="950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marL="0" indent="0">
              <a:buNone/>
            </a:pPr>
            <a:r>
              <a:rPr lang="en-US" sz="950" dirty="0">
                <a:solidFill>
                  <a:schemeClr val="tx1">
                    <a:lumMod val="95000"/>
                    <a:lumOff val="5000"/>
                  </a:scheme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alice: check the logs</a:t>
            </a:r>
            <a:endParaRPr lang="en-US" sz="950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marL="0" indent="0">
              <a:buNone/>
            </a:pPr>
            <a:r>
              <a:rPr lang="en-US" sz="950" dirty="0">
                <a:solidFill>
                  <a:schemeClr val="tx1">
                    <a:lumMod val="95000"/>
                    <a:lumOff val="5000"/>
                  </a:scheme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bob: update readme</a:t>
            </a:r>
            <a:endParaRPr lang="en-US" sz="950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marL="0" indent="0">
              <a:buNone/>
            </a:pPr>
            <a:r>
              <a:rPr lang="en-US" sz="950" dirty="0">
                <a:solidFill>
                  <a:schemeClr val="tx1">
                    <a:lumMod val="95000"/>
                    <a:lumOff val="5000"/>
                  </a:scheme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dont forget standup tmrw 9am</a:t>
            </a:r>
            <a:endParaRPr lang="en-US" sz="950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marL="0" indent="0">
              <a:buNone/>
            </a:pPr>
            <a:r>
              <a:rPr lang="en-US" sz="950" dirty="0">
                <a:solidFill>
                  <a:schemeClr val="tx1">
                    <a:lumMod val="95000"/>
                    <a:lumOff val="5000"/>
                  </a:scheme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also budget review pending</a:t>
            </a:r>
            <a:endParaRPr lang="en-US" sz="950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marL="0" indent="0">
              <a:buNone/>
            </a:pPr>
            <a:r>
              <a:rPr lang="en-US" sz="950" dirty="0">
                <a:solidFill>
                  <a:schemeClr val="tx1">
                    <a:lumMod val="95000"/>
                    <a:lumOff val="5000"/>
                  </a:scheme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ask mgr about Q2 roadmap</a:t>
            </a:r>
            <a:endParaRPr lang="en-US" sz="950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8" name="Text 6"/>
          <p:cNvSpPr/>
          <p:nvPr/>
        </p:nvSpPr>
        <p:spPr>
          <a:xfrm>
            <a:off x="4251960" y="2560320"/>
            <a:ext cx="640080" cy="59436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4D1717"/>
                </a:solidFill>
              </a:rPr>
              <a:t>→</a:t>
            </a:r>
            <a:endParaRPr lang="en-US" sz="3200" dirty="0">
              <a:solidFill>
                <a:srgbClr val="4D1717"/>
              </a:solidFill>
            </a:endParaRPr>
          </a:p>
        </p:txBody>
      </p:sp>
      <p:sp>
        <p:nvSpPr>
          <p:cNvPr id="9" name="Text 7"/>
          <p:cNvSpPr/>
          <p:nvPr/>
        </p:nvSpPr>
        <p:spPr>
          <a:xfrm>
            <a:off x="4206240" y="3182112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331D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Groq</a:t>
            </a:r>
            <a:endParaRPr lang="en-US" sz="750" dirty="0">
              <a:solidFill>
                <a:srgbClr val="331D2C"/>
              </a:solidFill>
            </a:endParaRPr>
          </a:p>
          <a:p>
            <a:pPr marL="0" indent="0" algn="ctr">
              <a:buNone/>
            </a:pPr>
            <a:r>
              <a:rPr lang="en-US" sz="750" dirty="0">
                <a:solidFill>
                  <a:srgbClr val="331D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Llama 3.1</a:t>
            </a:r>
            <a:endParaRPr lang="en-US" sz="750" dirty="0">
              <a:solidFill>
                <a:srgbClr val="331D2C"/>
              </a:solidFill>
            </a:endParaRPr>
          </a:p>
        </p:txBody>
      </p:sp>
      <p:sp>
        <p:nvSpPr>
          <p:cNvPr id="10" name="Shape 8"/>
          <p:cNvSpPr/>
          <p:nvPr/>
        </p:nvSpPr>
        <p:spPr>
          <a:xfrm>
            <a:off x="4983480" y="868680"/>
            <a:ext cx="3886200" cy="3977640"/>
          </a:xfrm>
          <a:prstGeom prst="rect">
            <a:avLst/>
          </a:prstGeom>
          <a:solidFill>
            <a:srgbClr val="A78295"/>
          </a:solidFill>
          <a:ln w="19050">
            <a:solidFill>
              <a:srgbClr val="A78295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983480" y="868680"/>
            <a:ext cx="3886200" cy="347472"/>
          </a:xfrm>
          <a:prstGeom prst="rect">
            <a:avLst/>
          </a:prstGeom>
          <a:solidFill>
            <a:srgbClr val="4D1717">
              <a:alpha val="80000"/>
            </a:srgbClr>
          </a:solidFill>
          <a:ln w="12700">
            <a:solidFill>
              <a:srgbClr val="A7829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120640" y="868680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APRÈS — Document .docx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120640" y="1298448"/>
            <a:ext cx="3621024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4D17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Compte-Rendu de Réunion</a:t>
            </a:r>
            <a:endParaRPr lang="en-US" sz="1200" dirty="0">
              <a:solidFill>
                <a:srgbClr val="4D1717"/>
              </a:solidFill>
            </a:endParaRPr>
          </a:p>
          <a:p>
            <a:pPr marL="0" indent="0">
              <a:buNone/>
            </a:pPr>
            <a:r>
              <a:rPr lang="en-US" sz="9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Janvier 2024</a:t>
            </a:r>
            <a:r>
              <a:rPr lang="en-US" sz="900" dirty="0">
                <a:solidFill>
                  <a:srgbClr val="4D17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endParaRPr lang="en-US" sz="1200" dirty="0">
              <a:solidFill>
                <a:srgbClr val="4D1717"/>
              </a:solidFill>
            </a:endParaRPr>
          </a:p>
          <a:p>
            <a:pPr marL="0" indent="0">
              <a:buNone/>
            </a:pPr>
            <a:r>
              <a:rPr lang="en-US" sz="950" b="1" dirty="0">
                <a:solidFill>
                  <a:srgbClr val="4D17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Participants </a:t>
            </a:r>
            <a:r>
              <a:rPr lang="en-US" sz="95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</a:t>
            </a:r>
            <a:r>
              <a:rPr lang="en-US" sz="95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Alice, Bob</a:t>
            </a:r>
            <a:r>
              <a:rPr lang="en-US" sz="950" dirty="0">
                <a:solidFill>
                  <a:srgbClr val="4D17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endParaRPr lang="en-US" sz="1200" dirty="0">
              <a:solidFill>
                <a:srgbClr val="4D1717"/>
              </a:solidFill>
            </a:endParaRPr>
          </a:p>
          <a:p>
            <a:pPr marL="0" indent="0">
              <a:buNone/>
            </a:pPr>
            <a:r>
              <a:rPr lang="en-US" sz="1000" b="1" dirty="0">
                <a:solidFill>
                  <a:srgbClr val="4D17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Résumé
</a:t>
            </a:r>
            <a:endParaRPr lang="en-US" sz="1200" dirty="0">
              <a:solidFill>
                <a:srgbClr val="4D1717"/>
              </a:solidFill>
            </a:endParaRPr>
          </a:p>
          <a:p>
            <a:pPr marL="0" indent="0">
              <a:buNone/>
            </a:pPr>
            <a:r>
              <a:rPr lang="en-US" sz="9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Revue des objectifs Q1 et
identification des blocages.</a:t>
            </a:r>
            <a:r>
              <a:rPr lang="en-US" sz="900" dirty="0">
                <a:solidFill>
                  <a:srgbClr val="4D17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endParaRPr lang="en-US" sz="1200" dirty="0">
              <a:solidFill>
                <a:srgbClr val="4D1717"/>
              </a:solidFill>
            </a:endParaRPr>
          </a:p>
          <a:p>
            <a:pPr marL="0" indent="0">
              <a:buNone/>
            </a:pPr>
            <a:r>
              <a:rPr lang="en-US" sz="1000" b="1" dirty="0">
                <a:solidFill>
                  <a:srgbClr val="4D17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Actions à mener
</a:t>
            </a:r>
            <a:endParaRPr lang="en-US" sz="1200" dirty="0">
              <a:solidFill>
                <a:schemeClr val="bg1"/>
              </a:solidFill>
            </a:endParaRPr>
          </a:p>
          <a:p>
            <a:pPr marL="0" indent="0">
              <a:buNone/>
            </a:pPr>
            <a:r>
              <a:rPr lang="en-US" sz="9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Corriger le bug d'authentification</a:t>
            </a:r>
            <a:endParaRPr lang="en-US" sz="1200" dirty="0">
              <a:solidFill>
                <a:schemeClr val="bg1"/>
              </a:solidFill>
            </a:endParaRPr>
          </a:p>
          <a:p>
            <a:pPr marL="0" indent="0">
              <a:buNone/>
            </a:pPr>
            <a:r>
              <a:rPr lang="en-US" sz="9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Déployer en semaine prochaine</a:t>
            </a:r>
            <a:endParaRPr lang="en-US" sz="1200" dirty="0">
              <a:solidFill>
                <a:schemeClr val="bg1"/>
              </a:solidFill>
            </a:endParaRPr>
          </a:p>
          <a:p>
            <a:pPr marL="0" indent="0">
              <a:buNone/>
            </a:pPr>
            <a:r>
              <a:rPr lang="en-US" sz="9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Vérifier les logs (Alice)</a:t>
            </a:r>
            <a:endParaRPr lang="en-US" sz="1200" dirty="0">
              <a:solidFill>
                <a:schemeClr val="bg1"/>
              </a:solidFill>
            </a:endParaRPr>
          </a:p>
          <a:p>
            <a:pPr marL="0" indent="0">
              <a:buNone/>
            </a:pPr>
            <a:r>
              <a:rPr lang="en-US" sz="9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Mettre à jour le README (Bob)</a:t>
            </a:r>
            <a:endParaRPr lang="en-US" sz="1200" dirty="0">
              <a:solidFill>
                <a:schemeClr val="bg1"/>
              </a:solidFill>
            </a:endParaRPr>
          </a:p>
          <a:p>
            <a:pPr marL="0" indent="0">
              <a:buNone/>
            </a:pPr>
            <a:r>
              <a:rPr lang="en-US" sz="9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Budget Q2 : planifier revue</a:t>
            </a:r>
            <a:endParaRPr lang="en-US" sz="1200" dirty="0">
              <a:solidFill>
                <a:schemeClr val="bg1"/>
              </a:solidFill>
            </a:endParaRPr>
          </a:p>
        </p:txBody>
      </p:sp>
      <p:pic>
        <p:nvPicPr>
          <p:cNvPr id="15" name="Graphique 14" descr="Coche avec un remplissage uni">
            <a:extLst>
              <a:ext uri="{FF2B5EF4-FFF2-40B4-BE49-F238E27FC236}">
                <a16:creationId xmlns:a16="http://schemas.microsoft.com/office/drawing/2014/main" id="{C9069874-8471-44A9-8D4B-9725770011E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106852" y="950976"/>
            <a:ext cx="182880" cy="182880"/>
          </a:xfrm>
          <a:prstGeom prst="rect">
            <a:avLst/>
          </a:prstGeom>
        </p:spPr>
      </p:pic>
      <p:pic>
        <p:nvPicPr>
          <p:cNvPr id="17" name="Graphique 16" descr="Fermer avec un remplissage uni">
            <a:extLst>
              <a:ext uri="{FF2B5EF4-FFF2-40B4-BE49-F238E27FC236}">
                <a16:creationId xmlns:a16="http://schemas.microsoft.com/office/drawing/2014/main" id="{33C93598-42F5-451D-9F03-394A49DB9DBB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11480" y="950976"/>
            <a:ext cx="182880" cy="18288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331D2C"/>
          </a:solidFill>
          <a:ln w="12700">
            <a:solidFill>
              <a:srgbClr val="0F1B2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96112"/>
            <a:ext cx="9144000" cy="50292"/>
          </a:xfrm>
          <a:prstGeom prst="rect">
            <a:avLst/>
          </a:prstGeom>
          <a:solidFill>
            <a:srgbClr val="A78295"/>
          </a:solidFill>
          <a:ln w="12700">
            <a:solidFill>
              <a:srgbClr val="A7829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146304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Outils, Technologies &amp; Apprentissages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20040" y="1078992"/>
            <a:ext cx="4069080" cy="1719072"/>
          </a:xfrm>
          <a:prstGeom prst="flowChartAlternateProcess">
            <a:avLst/>
          </a:prstGeom>
          <a:solidFill>
            <a:srgbClr val="FFF5F5"/>
          </a:solidFill>
          <a:ln w="19050">
            <a:solidFill>
              <a:srgbClr val="A78295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1078992"/>
            <a:ext cx="4069080" cy="347472"/>
          </a:xfrm>
          <a:prstGeom prst="rect">
            <a:avLst/>
          </a:prstGeom>
          <a:solidFill>
            <a:srgbClr val="4D1717"/>
          </a:solidFill>
          <a:ln w="12700">
            <a:solidFill>
              <a:srgbClr val="1E5A8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29768" y="1078992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  Technologies utilisées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448056" y="1481328"/>
            <a:ext cx="3822192" cy="12435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3.11 — langage principal</a:t>
            </a:r>
            <a:endParaRPr lang="en-US" sz="9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Groq API (Llama 3.1) — moteur IA</a:t>
            </a:r>
            <a:endParaRPr lang="en-US" sz="9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python-docx — génération Word native</a:t>
            </a:r>
            <a:endParaRPr lang="en-US" sz="9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python-dotenv — gestion des clés API</a:t>
            </a:r>
            <a:endParaRPr lang="en-US" sz="9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— contrôle de version &amp; collaboration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4709160" y="1078992"/>
            <a:ext cx="4069080" cy="1719072"/>
          </a:xfrm>
          <a:prstGeom prst="flowChartAlternateProcess">
            <a:avLst/>
          </a:prstGeom>
          <a:solidFill>
            <a:srgbClr val="FFF5F5"/>
          </a:solidFill>
          <a:ln w="19050">
            <a:solidFill>
              <a:srgbClr val="A78295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709160" y="1078992"/>
            <a:ext cx="4069080" cy="347472"/>
          </a:xfrm>
          <a:prstGeom prst="rect">
            <a:avLst/>
          </a:prstGeom>
          <a:solidFill>
            <a:srgbClr val="37353E"/>
          </a:solidFill>
          <a:ln w="12700">
            <a:solidFill>
              <a:srgbClr val="1A5C4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818888" y="1078992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  Concepts maîtrisés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4837176" y="1481328"/>
            <a:ext cx="3822192" cy="12435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engineering &amp; structuration JSON</a:t>
            </a:r>
            <a:endParaRPr lang="en-US" sz="9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modulaire &amp; séparation concerns</a:t>
            </a:r>
            <a:endParaRPr lang="en-US" sz="9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Gestion d'API avec retry logic</a:t>
            </a:r>
            <a:endParaRPr lang="en-US" sz="9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Parsing JSON + validation de schéma</a:t>
            </a:r>
            <a:endParaRPr lang="en-US" sz="9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Classification de texte (heuristique + IA)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320040" y="2926080"/>
            <a:ext cx="4069080" cy="1719072"/>
          </a:xfrm>
          <a:prstGeom prst="flowChartAlternateProcess">
            <a:avLst/>
          </a:prstGeom>
          <a:solidFill>
            <a:srgbClr val="FFF5F5"/>
          </a:solidFill>
          <a:ln w="19050">
            <a:solidFill>
              <a:srgbClr val="A78295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20040" y="2926080"/>
            <a:ext cx="4069080" cy="347472"/>
          </a:xfrm>
          <a:prstGeom prst="rect">
            <a:avLst/>
          </a:prstGeom>
          <a:solidFill>
            <a:srgbClr val="A78295"/>
          </a:solidFill>
          <a:ln w="12700">
            <a:solidFill>
              <a:srgbClr val="5C4A1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29768" y="2926080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 Méthodologie de développement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448056" y="3328416"/>
            <a:ext cx="3822192" cy="12435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 : pipeline core (1 type)</a:t>
            </a:r>
            <a:endParaRPr lang="en-US" sz="9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 : extension multi-types</a:t>
            </a:r>
            <a:endParaRPr lang="en-US" sz="9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Travail en équipe avec branches Git</a:t>
            </a:r>
            <a:endParaRPr lang="en-US" sz="9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Virtual environments (venv)</a:t>
            </a:r>
            <a:endParaRPr lang="en-US" sz="9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Tests manuels sur notes réelles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4709160" y="2926080"/>
            <a:ext cx="4069080" cy="1719072"/>
          </a:xfrm>
          <a:prstGeom prst="flowChartAlternateProcess">
            <a:avLst/>
          </a:prstGeom>
          <a:solidFill>
            <a:srgbClr val="FFF5F5"/>
          </a:solidFill>
          <a:ln w="19050">
            <a:solidFill>
              <a:srgbClr val="A78295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709160" y="2926080"/>
            <a:ext cx="4069080" cy="347472"/>
          </a:xfrm>
          <a:prstGeom prst="rect">
            <a:avLst/>
          </a:prstGeom>
          <a:solidFill>
            <a:srgbClr val="EFE1D1"/>
          </a:solidFill>
          <a:ln w="12700">
            <a:solidFill>
              <a:srgbClr val="4A1A5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818888" y="2926080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 Compétences transversales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4837176" y="3328416"/>
            <a:ext cx="3822192" cy="12435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Gestion sécurisée des clés API (.env)</a:t>
            </a:r>
            <a:endParaRPr lang="en-US" sz="9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Séparation contenu / présentation</a:t>
            </a:r>
            <a:endParaRPr lang="en-US" sz="9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Documentation et README</a:t>
            </a:r>
            <a:endParaRPr lang="en-US" sz="9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Revue de code entre membres</a:t>
            </a:r>
            <a:endParaRPr lang="en-US" sz="9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Économie de tokens (routage API)</a:t>
            </a:r>
            <a:endParaRPr lang="en-US" sz="950" dirty="0"/>
          </a:p>
        </p:txBody>
      </p:sp>
      <p:pic>
        <p:nvPicPr>
          <p:cNvPr id="22" name="Graphique 21" descr="Cerveau avec un remplissage uni">
            <a:extLst>
              <a:ext uri="{FF2B5EF4-FFF2-40B4-BE49-F238E27FC236}">
                <a16:creationId xmlns:a16="http://schemas.microsoft.com/office/drawing/2014/main" id="{31C495EA-4EE8-4D34-A0C7-0A21680B858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768088" y="1125855"/>
            <a:ext cx="253746" cy="253746"/>
          </a:xfrm>
          <a:prstGeom prst="rect">
            <a:avLst/>
          </a:prstGeom>
        </p:spPr>
      </p:pic>
      <p:pic>
        <p:nvPicPr>
          <p:cNvPr id="24" name="Graphique 23" descr="Outils avec un remplissage uni">
            <a:extLst>
              <a:ext uri="{FF2B5EF4-FFF2-40B4-BE49-F238E27FC236}">
                <a16:creationId xmlns:a16="http://schemas.microsoft.com/office/drawing/2014/main" id="{77F228AD-1F2B-43D3-9FA9-A34CD9569812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29768" y="1101852"/>
            <a:ext cx="270219" cy="270219"/>
          </a:xfrm>
          <a:prstGeom prst="rect">
            <a:avLst/>
          </a:prstGeom>
        </p:spPr>
      </p:pic>
      <p:pic>
        <p:nvPicPr>
          <p:cNvPr id="26" name="Graphique 25" descr="Flèche en cercle avec un remplissage uni">
            <a:extLst>
              <a:ext uri="{FF2B5EF4-FFF2-40B4-BE49-F238E27FC236}">
                <a16:creationId xmlns:a16="http://schemas.microsoft.com/office/drawing/2014/main" id="{C0AB78D5-5F11-4DD1-B6FA-A7C30AB3CE2E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429768" y="2987022"/>
            <a:ext cx="230886" cy="230886"/>
          </a:xfrm>
          <a:prstGeom prst="rect">
            <a:avLst/>
          </a:prstGeom>
        </p:spPr>
      </p:pic>
      <p:pic>
        <p:nvPicPr>
          <p:cNvPr id="28" name="Graphique 27" descr="Document avec un remplissage uni">
            <a:extLst>
              <a:ext uri="{FF2B5EF4-FFF2-40B4-BE49-F238E27FC236}">
                <a16:creationId xmlns:a16="http://schemas.microsoft.com/office/drawing/2014/main" id="{4AED1A95-46D8-4667-A0BC-EE80854F8260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4792907" y="2962655"/>
            <a:ext cx="274321" cy="274321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A78295"/>
          </a:solidFill>
          <a:ln w="12700">
            <a:solidFill>
              <a:srgbClr val="A78295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" y="877824"/>
            <a:ext cx="8412480" cy="1024128"/>
          </a:xfrm>
          <a:prstGeom prst="rect">
            <a:avLst/>
          </a:prstGeom>
          <a:solidFill>
            <a:srgbClr val="A78295"/>
          </a:solidFill>
          <a:ln w="19050">
            <a:solidFill>
              <a:srgbClr val="A78295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48640" y="93268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4D17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Bilan — Ce que nous avons livré</a:t>
            </a:r>
            <a:endParaRPr lang="en-US" sz="1200" dirty="0">
              <a:solidFill>
                <a:srgbClr val="4D1717"/>
              </a:solidFill>
            </a:endParaRPr>
          </a:p>
        </p:txBody>
      </p:sp>
      <p:sp>
        <p:nvSpPr>
          <p:cNvPr id="6" name="Text 4"/>
          <p:cNvSpPr/>
          <p:nvPr/>
        </p:nvSpPr>
        <p:spPr>
          <a:xfrm>
            <a:off x="548640" y="1207008"/>
            <a:ext cx="80467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8F0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fonctionnel de bout en bout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8F0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types de notes supportés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8F0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modulaire extensible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8F0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propre, commenté, versionné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365760" y="2048256"/>
            <a:ext cx="3657600" cy="292608"/>
          </a:xfrm>
          <a:prstGeom prst="rect">
            <a:avLst/>
          </a:prstGeom>
          <a:solidFill>
            <a:srgbClr val="331D2C"/>
          </a:solidFill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FE1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   Prochaines étapes</a:t>
            </a:r>
            <a:endParaRPr lang="en-US" sz="1200" dirty="0">
              <a:solidFill>
                <a:srgbClr val="EFE1D1"/>
              </a:solidFill>
            </a:endParaRPr>
          </a:p>
        </p:txBody>
      </p:sp>
      <p:sp>
        <p:nvSpPr>
          <p:cNvPr id="8" name="Shape 6"/>
          <p:cNvSpPr/>
          <p:nvPr/>
        </p:nvSpPr>
        <p:spPr>
          <a:xfrm>
            <a:off x="365760" y="2394132"/>
            <a:ext cx="2011680" cy="2379259"/>
          </a:xfrm>
          <a:prstGeom prst="roundRect">
            <a:avLst/>
          </a:prstGeom>
          <a:solidFill>
            <a:srgbClr val="EFE1D1"/>
          </a:solidFill>
          <a:ln w="12700">
            <a:solidFill>
              <a:srgbClr val="F5A623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65760" y="2394132"/>
            <a:ext cx="2011680" cy="356325"/>
          </a:xfrm>
          <a:prstGeom prst="rect">
            <a:avLst/>
          </a:prstGeom>
          <a:solidFill>
            <a:srgbClr val="331D2C"/>
          </a:solidFill>
          <a:ln w="12700">
            <a:solidFill>
              <a:srgbClr val="0F1B2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874520" y="2423160"/>
            <a:ext cx="4754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5A623"/>
                </a:solidFill>
              </a:rPr>
              <a:t>V2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365760" y="2816352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2000" dirty="0">
              <a:solidFill>
                <a:srgbClr val="4D1717"/>
              </a:solidFill>
            </a:endParaRPr>
          </a:p>
        </p:txBody>
      </p:sp>
      <p:sp>
        <p:nvSpPr>
          <p:cNvPr id="12" name="Text 10"/>
          <p:cNvSpPr/>
          <p:nvPr/>
        </p:nvSpPr>
        <p:spPr>
          <a:xfrm>
            <a:off x="438912" y="3246120"/>
            <a:ext cx="18653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A782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Interface Web</a:t>
            </a:r>
            <a:endParaRPr lang="en-US" sz="1050" dirty="0">
              <a:solidFill>
                <a:srgbClr val="A78295"/>
              </a:solidFill>
            </a:endParaRPr>
          </a:p>
        </p:txBody>
      </p:sp>
      <p:sp>
        <p:nvSpPr>
          <p:cNvPr id="13" name="Text 11"/>
          <p:cNvSpPr/>
          <p:nvPr/>
        </p:nvSpPr>
        <p:spPr>
          <a:xfrm>
            <a:off x="438912" y="3547872"/>
            <a:ext cx="1865376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7A46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API REST + frontend navigateur pour usage sans terminal</a:t>
            </a:r>
            <a:endParaRPr lang="en-US" sz="850" dirty="0">
              <a:solidFill>
                <a:srgbClr val="7A466A"/>
              </a:solidFill>
            </a:endParaRPr>
          </a:p>
        </p:txBody>
      </p:sp>
      <p:sp>
        <p:nvSpPr>
          <p:cNvPr id="14" name="Shape 12"/>
          <p:cNvSpPr/>
          <p:nvPr/>
        </p:nvSpPr>
        <p:spPr>
          <a:xfrm>
            <a:off x="2514600" y="2423160"/>
            <a:ext cx="2011680" cy="2350231"/>
          </a:xfrm>
          <a:prstGeom prst="roundRect">
            <a:avLst/>
          </a:prstGeom>
          <a:solidFill>
            <a:srgbClr val="EFE1D1"/>
          </a:solidFill>
          <a:ln w="12700">
            <a:solidFill>
              <a:srgbClr val="F5A623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2514600" y="2423160"/>
            <a:ext cx="2011680" cy="320040"/>
          </a:xfrm>
          <a:prstGeom prst="rect">
            <a:avLst/>
          </a:prstGeom>
          <a:solidFill>
            <a:srgbClr val="331D2C"/>
          </a:solidFill>
          <a:ln w="12700">
            <a:solidFill>
              <a:srgbClr val="0F1B2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023360" y="2423160"/>
            <a:ext cx="4754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5F5"/>
                </a:solidFill>
              </a:rPr>
              <a:t>V2</a:t>
            </a:r>
            <a:endParaRPr lang="en-US" sz="800" dirty="0">
              <a:solidFill>
                <a:srgbClr val="FFF5F5"/>
              </a:solidFill>
            </a:endParaRPr>
          </a:p>
        </p:txBody>
      </p:sp>
      <p:sp>
        <p:nvSpPr>
          <p:cNvPr id="17" name="Text 15"/>
          <p:cNvSpPr/>
          <p:nvPr/>
        </p:nvSpPr>
        <p:spPr>
          <a:xfrm>
            <a:off x="2514600" y="2816352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2000" dirty="0">
              <a:solidFill>
                <a:srgbClr val="4D1717"/>
              </a:solidFill>
            </a:endParaRPr>
          </a:p>
        </p:txBody>
      </p:sp>
      <p:sp>
        <p:nvSpPr>
          <p:cNvPr id="18" name="Text 16"/>
          <p:cNvSpPr/>
          <p:nvPr/>
        </p:nvSpPr>
        <p:spPr>
          <a:xfrm>
            <a:off x="2587752" y="3246120"/>
            <a:ext cx="18653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050" b="1" dirty="0">
                <a:solidFill>
                  <a:srgbClr val="A78295"/>
                </a:solidFill>
                <a:latin typeface="Calibri" pitchFamily="34" charset="0"/>
                <a:cs typeface="Calibri" pitchFamily="34" charset="-120"/>
              </a:rPr>
              <a:t>Multi-API</a:t>
            </a:r>
          </a:p>
        </p:txBody>
      </p:sp>
      <p:sp>
        <p:nvSpPr>
          <p:cNvPr id="19" name="Text 17"/>
          <p:cNvSpPr/>
          <p:nvPr/>
        </p:nvSpPr>
        <p:spPr>
          <a:xfrm>
            <a:off x="2587752" y="3547872"/>
            <a:ext cx="1865376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7A46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Réintégration Gemini Flash pour routage intelligent et économie de tokens</a:t>
            </a:r>
            <a:endParaRPr lang="en-US" sz="850" dirty="0">
              <a:solidFill>
                <a:srgbClr val="7A466A"/>
              </a:solidFill>
            </a:endParaRPr>
          </a:p>
        </p:txBody>
      </p:sp>
      <p:sp>
        <p:nvSpPr>
          <p:cNvPr id="20" name="Shape 18"/>
          <p:cNvSpPr/>
          <p:nvPr/>
        </p:nvSpPr>
        <p:spPr>
          <a:xfrm>
            <a:off x="4663440" y="2423160"/>
            <a:ext cx="2011680" cy="2350231"/>
          </a:xfrm>
          <a:prstGeom prst="roundRect">
            <a:avLst/>
          </a:prstGeom>
          <a:solidFill>
            <a:srgbClr val="EFE1D1"/>
          </a:solidFill>
          <a:ln w="12700">
            <a:solidFill>
              <a:srgbClr val="F5A623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663440" y="2423160"/>
            <a:ext cx="2011680" cy="320040"/>
          </a:xfrm>
          <a:prstGeom prst="rect">
            <a:avLst/>
          </a:prstGeom>
          <a:solidFill>
            <a:srgbClr val="331D2C"/>
          </a:solidFill>
          <a:ln w="12700">
            <a:solidFill>
              <a:srgbClr val="0F1B2D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172200" y="2423160"/>
            <a:ext cx="4754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5F5"/>
                </a:solidFill>
              </a:rPr>
              <a:t>V3</a:t>
            </a:r>
            <a:endParaRPr lang="en-US" sz="800" dirty="0">
              <a:solidFill>
                <a:srgbClr val="FFF5F5"/>
              </a:solidFill>
            </a:endParaRPr>
          </a:p>
        </p:txBody>
      </p:sp>
      <p:sp>
        <p:nvSpPr>
          <p:cNvPr id="23" name="Text 21"/>
          <p:cNvSpPr/>
          <p:nvPr/>
        </p:nvSpPr>
        <p:spPr>
          <a:xfrm>
            <a:off x="4663440" y="2816352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2000" dirty="0"/>
          </a:p>
        </p:txBody>
      </p:sp>
      <p:sp>
        <p:nvSpPr>
          <p:cNvPr id="24" name="Text 22"/>
          <p:cNvSpPr/>
          <p:nvPr/>
        </p:nvSpPr>
        <p:spPr>
          <a:xfrm>
            <a:off x="4736592" y="3246120"/>
            <a:ext cx="18653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algn="ctr">
              <a:buNone/>
            </a:pPr>
            <a:r>
              <a:rPr lang="en-US" sz="1050" b="1" dirty="0">
                <a:solidFill>
                  <a:srgbClr val="A78295"/>
                </a:solidFill>
                <a:latin typeface="Calibri" pitchFamily="34" charset="0"/>
                <a:cs typeface="Calibri" pitchFamily="34" charset="-120"/>
              </a:rPr>
              <a:t>OCR &amp; Images</a:t>
            </a:r>
          </a:p>
        </p:txBody>
      </p:sp>
      <p:sp>
        <p:nvSpPr>
          <p:cNvPr id="25" name="Text 23"/>
          <p:cNvSpPr/>
          <p:nvPr/>
        </p:nvSpPr>
        <p:spPr>
          <a:xfrm>
            <a:off x="4736592" y="3547872"/>
            <a:ext cx="1865376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7A46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 des notes manuscrites et photos via reconnaissance optique</a:t>
            </a:r>
            <a:endParaRPr lang="en-US" sz="850" dirty="0">
              <a:solidFill>
                <a:srgbClr val="7A466A"/>
              </a:solidFill>
            </a:endParaRPr>
          </a:p>
        </p:txBody>
      </p:sp>
      <p:sp>
        <p:nvSpPr>
          <p:cNvPr id="26" name="Shape 24"/>
          <p:cNvSpPr/>
          <p:nvPr/>
        </p:nvSpPr>
        <p:spPr>
          <a:xfrm>
            <a:off x="6812280" y="2423160"/>
            <a:ext cx="2011680" cy="2350231"/>
          </a:xfrm>
          <a:prstGeom prst="roundRect">
            <a:avLst/>
          </a:prstGeom>
          <a:solidFill>
            <a:srgbClr val="EFE1D1"/>
          </a:solidFill>
          <a:ln w="12700">
            <a:solidFill>
              <a:srgbClr val="F5A623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6812280" y="2423160"/>
            <a:ext cx="2011680" cy="320040"/>
          </a:xfrm>
          <a:prstGeom prst="rect">
            <a:avLst/>
          </a:prstGeom>
          <a:solidFill>
            <a:srgbClr val="331D2C"/>
          </a:solidFill>
          <a:ln w="12700">
            <a:solidFill>
              <a:srgbClr val="0F1B2D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321040" y="2423160"/>
            <a:ext cx="4754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5F5"/>
                </a:solidFill>
              </a:rPr>
              <a:t>V3</a:t>
            </a:r>
            <a:endParaRPr lang="en-US" sz="800" dirty="0">
              <a:solidFill>
                <a:srgbClr val="FFF5F5"/>
              </a:solidFill>
            </a:endParaRPr>
          </a:p>
        </p:txBody>
      </p:sp>
      <p:sp>
        <p:nvSpPr>
          <p:cNvPr id="29" name="Text 27"/>
          <p:cNvSpPr/>
          <p:nvPr/>
        </p:nvSpPr>
        <p:spPr>
          <a:xfrm>
            <a:off x="6812280" y="2816352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2000" dirty="0"/>
          </a:p>
        </p:txBody>
      </p:sp>
      <p:sp>
        <p:nvSpPr>
          <p:cNvPr id="30" name="Text 28"/>
          <p:cNvSpPr/>
          <p:nvPr/>
        </p:nvSpPr>
        <p:spPr>
          <a:xfrm>
            <a:off x="6885432" y="3246120"/>
            <a:ext cx="18653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algn="ctr">
              <a:buNone/>
            </a:pPr>
            <a:r>
              <a:rPr lang="en-US" sz="1050" b="1" dirty="0">
                <a:solidFill>
                  <a:srgbClr val="A78295"/>
                </a:solidFill>
                <a:latin typeface="Calibri" pitchFamily="34" charset="0"/>
                <a:cs typeface="Calibri" pitchFamily="34" charset="-120"/>
              </a:rPr>
              <a:t>Historique &amp; BDD</a:t>
            </a:r>
          </a:p>
        </p:txBody>
      </p:sp>
      <p:sp>
        <p:nvSpPr>
          <p:cNvPr id="31" name="Text 29"/>
          <p:cNvSpPr/>
          <p:nvPr/>
        </p:nvSpPr>
        <p:spPr>
          <a:xfrm>
            <a:off x="6885432" y="3547872"/>
            <a:ext cx="1865376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7A46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Stockage des notes structurées, recherche et export en lot</a:t>
            </a:r>
            <a:endParaRPr lang="en-US" sz="850" dirty="0">
              <a:solidFill>
                <a:srgbClr val="7A466A"/>
              </a:solidFill>
            </a:endParaRPr>
          </a:p>
        </p:txBody>
      </p:sp>
      <p:sp>
        <p:nvSpPr>
          <p:cNvPr id="32" name="Shape 30"/>
          <p:cNvSpPr/>
          <p:nvPr/>
        </p:nvSpPr>
        <p:spPr>
          <a:xfrm>
            <a:off x="722298" y="4930725"/>
            <a:ext cx="7714771" cy="197172"/>
          </a:xfrm>
          <a:prstGeom prst="rect">
            <a:avLst/>
          </a:prstGeom>
          <a:solidFill>
            <a:srgbClr val="331D2C">
              <a:alpha val="80000"/>
            </a:srgbClr>
          </a:solidFill>
          <a:ln w="12700">
            <a:solidFill>
              <a:srgbClr val="A78295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02922" y="4855687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Vision : évoluer vers un assistant de productivité complet, accessible via navigateur, utilisable par tous.</a:t>
            </a:r>
            <a:endParaRPr lang="en-US" sz="950" dirty="0"/>
          </a:p>
        </p:txBody>
      </p:sp>
      <p:sp>
        <p:nvSpPr>
          <p:cNvPr id="34" name="Shape 0">
            <a:extLst>
              <a:ext uri="{FF2B5EF4-FFF2-40B4-BE49-F238E27FC236}">
                <a16:creationId xmlns:a16="http://schemas.microsoft.com/office/drawing/2014/main" id="{2A98A2DE-7A0F-4E2A-B461-980B34D80511}"/>
              </a:ext>
            </a:extLst>
          </p:cNvPr>
          <p:cNvSpPr/>
          <p:nvPr/>
        </p:nvSpPr>
        <p:spPr>
          <a:xfrm>
            <a:off x="54864" y="-9144"/>
            <a:ext cx="9089136" cy="740664"/>
          </a:xfrm>
          <a:prstGeom prst="rect">
            <a:avLst/>
          </a:prstGeom>
          <a:solidFill>
            <a:srgbClr val="331D2C"/>
          </a:solidFill>
          <a:ln w="12700">
            <a:solidFill>
              <a:srgbClr val="0F1B2D"/>
            </a:solidFill>
            <a:prstDash val="solid"/>
          </a:ln>
        </p:spPr>
        <p:txBody>
          <a:bodyPr/>
          <a:lstStyle/>
          <a:p>
            <a:endParaRPr lang="fr-MA" dirty="0"/>
          </a:p>
        </p:txBody>
      </p:sp>
      <p:sp>
        <p:nvSpPr>
          <p:cNvPr id="3" name="Text 1"/>
          <p:cNvSpPr/>
          <p:nvPr/>
        </p:nvSpPr>
        <p:spPr>
          <a:xfrm>
            <a:off x="484632" y="1143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 &amp; Perspectives</a:t>
            </a:r>
            <a:endParaRPr lang="en-US" sz="2400" dirty="0"/>
          </a:p>
        </p:txBody>
      </p:sp>
      <p:pic>
        <p:nvPicPr>
          <p:cNvPr id="43" name="Graphique 42" descr="Coche avec un remplissage uni">
            <a:extLst>
              <a:ext uri="{FF2B5EF4-FFF2-40B4-BE49-F238E27FC236}">
                <a16:creationId xmlns:a16="http://schemas.microsoft.com/office/drawing/2014/main" id="{0D9379F5-FF25-4B05-9C0D-ED32E566DA5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38912" y="963526"/>
            <a:ext cx="192024" cy="192024"/>
          </a:xfrm>
          <a:prstGeom prst="rect">
            <a:avLst/>
          </a:prstGeom>
        </p:spPr>
      </p:pic>
      <p:pic>
        <p:nvPicPr>
          <p:cNvPr id="47" name="Graphique 46" descr="Réseaux sociaux avec un remplissage uni">
            <a:extLst>
              <a:ext uri="{FF2B5EF4-FFF2-40B4-BE49-F238E27FC236}">
                <a16:creationId xmlns:a16="http://schemas.microsoft.com/office/drawing/2014/main" id="{C98B5CF3-E1DF-4FBE-B59A-AF588BAA0B48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129284" y="2834863"/>
            <a:ext cx="384048" cy="384048"/>
          </a:xfrm>
          <a:prstGeom prst="rect">
            <a:avLst/>
          </a:prstGeom>
        </p:spPr>
      </p:pic>
      <p:pic>
        <p:nvPicPr>
          <p:cNvPr id="49" name="Graphique 48" descr="Transférer avec un remplissage uni">
            <a:extLst>
              <a:ext uri="{FF2B5EF4-FFF2-40B4-BE49-F238E27FC236}">
                <a16:creationId xmlns:a16="http://schemas.microsoft.com/office/drawing/2014/main" id="{9B0C83F5-6848-4512-B4DA-AF43E3AB64B8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3415211" y="2883050"/>
            <a:ext cx="293189" cy="293189"/>
          </a:xfrm>
          <a:prstGeom prst="rect">
            <a:avLst/>
          </a:prstGeom>
        </p:spPr>
      </p:pic>
      <p:pic>
        <p:nvPicPr>
          <p:cNvPr id="51" name="Graphique 50" descr="Appareil photo avec un remplissage uni">
            <a:extLst>
              <a:ext uri="{FF2B5EF4-FFF2-40B4-BE49-F238E27FC236}">
                <a16:creationId xmlns:a16="http://schemas.microsoft.com/office/drawing/2014/main" id="{2A95F285-08A1-44ED-901B-5157CE1C4065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5426891" y="2875497"/>
            <a:ext cx="293189" cy="293189"/>
          </a:xfrm>
          <a:prstGeom prst="rect">
            <a:avLst/>
          </a:prstGeom>
        </p:spPr>
      </p:pic>
      <p:pic>
        <p:nvPicPr>
          <p:cNvPr id="53" name="Graphique 52" descr="Base de données avec un remplissage uni">
            <a:extLst>
              <a:ext uri="{FF2B5EF4-FFF2-40B4-BE49-F238E27FC236}">
                <a16:creationId xmlns:a16="http://schemas.microsoft.com/office/drawing/2014/main" id="{055242C1-FC6C-4B20-AE44-FFA28F6421D7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7657665" y="2836531"/>
            <a:ext cx="357051" cy="357051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A7829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-914400"/>
            <a:ext cx="4572000" cy="4572000"/>
          </a:xfrm>
          <a:prstGeom prst="ellipse">
            <a:avLst/>
          </a:prstGeom>
          <a:solidFill>
            <a:srgbClr val="331D2C">
              <a:alpha val="10000"/>
            </a:srgbClr>
          </a:solidFill>
          <a:ln w="12700">
            <a:solidFill>
              <a:srgbClr val="A78295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fr-FR" dirty="0"/>
          </a:p>
        </p:txBody>
      </p:sp>
      <p:sp>
        <p:nvSpPr>
          <p:cNvPr id="3" name="Shape 1"/>
          <p:cNvSpPr/>
          <p:nvPr/>
        </p:nvSpPr>
        <p:spPr>
          <a:xfrm>
            <a:off x="6858000" y="2286000"/>
            <a:ext cx="3657600" cy="3657600"/>
          </a:xfrm>
          <a:prstGeom prst="ellipse">
            <a:avLst/>
          </a:prstGeom>
          <a:solidFill>
            <a:srgbClr val="4D1717">
              <a:alpha val="15000"/>
            </a:srgbClr>
          </a:solidFill>
          <a:ln w="12700">
            <a:solidFill>
              <a:srgbClr val="A78295">
                <a:alpha val="35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14400" y="822960"/>
            <a:ext cx="7315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Merci de votre attention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2926080" y="1664208"/>
            <a:ext cx="3291840" cy="50292"/>
          </a:xfrm>
          <a:prstGeom prst="rect">
            <a:avLst/>
          </a:prstGeom>
          <a:solidFill>
            <a:srgbClr val="EFE1D1"/>
          </a:solidFill>
          <a:ln w="12700">
            <a:solidFill>
              <a:srgbClr val="A7829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1783080"/>
            <a:ext cx="7315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4D17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Note Agent — Projet de Fin de Semestre</a:t>
            </a:r>
            <a:endParaRPr lang="en-US" sz="1300" dirty="0">
              <a:solidFill>
                <a:srgbClr val="4D1717"/>
              </a:solidFill>
            </a:endParaRPr>
          </a:p>
        </p:txBody>
      </p:sp>
      <p:sp>
        <p:nvSpPr>
          <p:cNvPr id="7" name="Shape 5"/>
          <p:cNvSpPr/>
          <p:nvPr/>
        </p:nvSpPr>
        <p:spPr>
          <a:xfrm>
            <a:off x="3429000" y="2331720"/>
            <a:ext cx="2286000" cy="2286000"/>
          </a:xfrm>
          <a:prstGeom prst="ellipse">
            <a:avLst/>
          </a:prstGeom>
          <a:solidFill>
            <a:srgbClr val="331D2C"/>
          </a:solidFill>
          <a:ln w="25400">
            <a:solidFill>
              <a:srgbClr val="A78295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429000" y="2331720"/>
            <a:ext cx="22860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0" b="1" dirty="0">
                <a:solidFill>
                  <a:srgbClr val="EFE1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?</a:t>
            </a:r>
            <a:endParaRPr lang="en-US" sz="8000" dirty="0">
              <a:solidFill>
                <a:srgbClr val="EFE1D1"/>
              </a:solidFill>
            </a:endParaRPr>
          </a:p>
        </p:txBody>
      </p:sp>
      <p:sp>
        <p:nvSpPr>
          <p:cNvPr id="9" name="Text 7"/>
          <p:cNvSpPr/>
          <p:nvPr/>
        </p:nvSpPr>
        <p:spPr>
          <a:xfrm>
            <a:off x="2926080" y="466344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7132320" y="914400"/>
            <a:ext cx="91440" cy="91440"/>
          </a:xfrm>
          <a:prstGeom prst="ellipse">
            <a:avLst/>
          </a:prstGeom>
          <a:solidFill>
            <a:srgbClr val="4D1717">
              <a:alpha val="45000"/>
            </a:srgbClr>
          </a:solidFill>
          <a:ln w="12700">
            <a:solidFill>
              <a:srgbClr val="A78295">
                <a:alpha val="45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132320" y="1234440"/>
            <a:ext cx="91440" cy="91440"/>
          </a:xfrm>
          <a:prstGeom prst="ellipse">
            <a:avLst/>
          </a:prstGeom>
          <a:solidFill>
            <a:srgbClr val="4D1717">
              <a:alpha val="45000"/>
            </a:srgbClr>
          </a:solidFill>
          <a:ln w="12700">
            <a:solidFill>
              <a:srgbClr val="A78295">
                <a:alpha val="45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132320" y="1554480"/>
            <a:ext cx="91440" cy="91440"/>
          </a:xfrm>
          <a:prstGeom prst="ellipse">
            <a:avLst/>
          </a:prstGeom>
          <a:solidFill>
            <a:srgbClr val="4D1717">
              <a:alpha val="45000"/>
            </a:srgbClr>
          </a:solidFill>
          <a:ln w="12700">
            <a:solidFill>
              <a:srgbClr val="A78295">
                <a:alpha val="45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452360" y="914400"/>
            <a:ext cx="91440" cy="91440"/>
          </a:xfrm>
          <a:prstGeom prst="ellipse">
            <a:avLst/>
          </a:prstGeom>
          <a:solidFill>
            <a:srgbClr val="4D1717">
              <a:alpha val="45000"/>
            </a:srgbClr>
          </a:solidFill>
          <a:ln w="12700">
            <a:solidFill>
              <a:srgbClr val="A78295">
                <a:alpha val="45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452360" y="1234440"/>
            <a:ext cx="91440" cy="91440"/>
          </a:xfrm>
          <a:prstGeom prst="ellipse">
            <a:avLst/>
          </a:prstGeom>
          <a:solidFill>
            <a:srgbClr val="4D1717">
              <a:alpha val="45000"/>
            </a:srgbClr>
          </a:solidFill>
          <a:ln w="12700">
            <a:solidFill>
              <a:srgbClr val="A78295">
                <a:alpha val="45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452360" y="1554480"/>
            <a:ext cx="91440" cy="91440"/>
          </a:xfrm>
          <a:prstGeom prst="ellipse">
            <a:avLst/>
          </a:prstGeom>
          <a:solidFill>
            <a:srgbClr val="4D1717">
              <a:alpha val="45000"/>
            </a:srgbClr>
          </a:solidFill>
          <a:ln w="12700">
            <a:solidFill>
              <a:srgbClr val="A78295">
                <a:alpha val="45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772400" y="914400"/>
            <a:ext cx="91440" cy="91440"/>
          </a:xfrm>
          <a:prstGeom prst="ellipse">
            <a:avLst/>
          </a:prstGeom>
          <a:solidFill>
            <a:srgbClr val="4D1717">
              <a:alpha val="45000"/>
            </a:srgbClr>
          </a:solidFill>
          <a:ln w="12700">
            <a:solidFill>
              <a:srgbClr val="A78295">
                <a:alpha val="45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772400" y="1234440"/>
            <a:ext cx="91440" cy="91440"/>
          </a:xfrm>
          <a:prstGeom prst="ellipse">
            <a:avLst/>
          </a:prstGeom>
          <a:solidFill>
            <a:srgbClr val="4D1717">
              <a:alpha val="45000"/>
            </a:srgbClr>
          </a:solidFill>
          <a:ln w="12700">
            <a:solidFill>
              <a:srgbClr val="A78295">
                <a:alpha val="45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7772400" y="1554480"/>
            <a:ext cx="91440" cy="91440"/>
          </a:xfrm>
          <a:prstGeom prst="ellipse">
            <a:avLst/>
          </a:prstGeom>
          <a:solidFill>
            <a:srgbClr val="4D1717">
              <a:alpha val="45000"/>
            </a:srgbClr>
          </a:solidFill>
          <a:ln w="12700">
            <a:solidFill>
              <a:srgbClr val="A78295">
                <a:alpha val="4500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8092440" y="914400"/>
            <a:ext cx="91440" cy="91440"/>
          </a:xfrm>
          <a:prstGeom prst="ellipse">
            <a:avLst/>
          </a:prstGeom>
          <a:solidFill>
            <a:srgbClr val="4D1717">
              <a:alpha val="45000"/>
            </a:srgbClr>
          </a:solidFill>
          <a:ln w="12700">
            <a:solidFill>
              <a:srgbClr val="A78295">
                <a:alpha val="4500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8092440" y="1234440"/>
            <a:ext cx="91440" cy="91440"/>
          </a:xfrm>
          <a:prstGeom prst="ellipse">
            <a:avLst/>
          </a:prstGeom>
          <a:solidFill>
            <a:srgbClr val="4D1717">
              <a:alpha val="45000"/>
            </a:srgbClr>
          </a:solidFill>
          <a:ln w="12700">
            <a:solidFill>
              <a:srgbClr val="A78295">
                <a:alpha val="45000"/>
              </a:srgbClr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8092440" y="1554480"/>
            <a:ext cx="91440" cy="91440"/>
          </a:xfrm>
          <a:prstGeom prst="ellipse">
            <a:avLst/>
          </a:prstGeom>
          <a:solidFill>
            <a:srgbClr val="4D1717">
              <a:alpha val="45000"/>
            </a:srgbClr>
          </a:solidFill>
          <a:ln w="12700">
            <a:solidFill>
              <a:srgbClr val="A78295">
                <a:alpha val="45000"/>
              </a:srgbClr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8412480" y="914400"/>
            <a:ext cx="91440" cy="91440"/>
          </a:xfrm>
          <a:prstGeom prst="ellipse">
            <a:avLst/>
          </a:prstGeom>
          <a:solidFill>
            <a:srgbClr val="4D1717">
              <a:alpha val="45000"/>
            </a:srgbClr>
          </a:solidFill>
          <a:ln w="12700">
            <a:solidFill>
              <a:srgbClr val="A78295">
                <a:alpha val="45000"/>
              </a:srgbClr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8412480" y="1234440"/>
            <a:ext cx="91440" cy="91440"/>
          </a:xfrm>
          <a:prstGeom prst="ellipse">
            <a:avLst/>
          </a:prstGeom>
          <a:solidFill>
            <a:srgbClr val="4D1717">
              <a:alpha val="45000"/>
            </a:srgbClr>
          </a:solidFill>
          <a:ln w="12700">
            <a:solidFill>
              <a:srgbClr val="A78295">
                <a:alpha val="45000"/>
              </a:srgbClr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8412480" y="1554480"/>
            <a:ext cx="91440" cy="91440"/>
          </a:xfrm>
          <a:prstGeom prst="ellipse">
            <a:avLst/>
          </a:prstGeom>
          <a:solidFill>
            <a:srgbClr val="4D1717">
              <a:alpha val="45000"/>
            </a:srgbClr>
          </a:solidFill>
          <a:ln w="12700">
            <a:solidFill>
              <a:srgbClr val="A78295">
                <a:alpha val="45000"/>
              </a:srgbClr>
            </a:solidFill>
            <a:prstDash val="solid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284</TotalTime>
  <Words>1257</Words>
  <Application>Microsoft Office PowerPoint</Application>
  <PresentationFormat>Affichage à l'écran (16:9)</PresentationFormat>
  <Paragraphs>278</Paragraphs>
  <Slides>13</Slides>
  <Notes>13</Notes>
  <HiddenSlides>0</HiddenSlides>
  <MMClips>0</MMClips>
  <ScaleCrop>false</ScaleCrop>
  <HeadingPairs>
    <vt:vector size="6" baseType="variant">
      <vt:variant>
        <vt:lpstr>Polices utilisées</vt:lpstr>
      </vt:variant>
      <vt:variant>
        <vt:i4>5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13</vt:i4>
      </vt:variant>
    </vt:vector>
  </HeadingPairs>
  <TitlesOfParts>
    <vt:vector size="19" baseType="lpstr">
      <vt:lpstr>Arial</vt:lpstr>
      <vt:lpstr>Calibri</vt:lpstr>
      <vt:lpstr>Consolas</vt:lpstr>
      <vt:lpstr>Courier New</vt:lpstr>
      <vt:lpstr>Montserrat Bold</vt:lpstr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 Note Agent</dc:title>
  <dc:subject>PptxGenJS Presentation</dc:subject>
  <dc:creator>Équipe AI Note Agent</dc:creator>
  <cp:lastModifiedBy>HEBA SADKE</cp:lastModifiedBy>
  <cp:revision>23</cp:revision>
  <dcterms:created xsi:type="dcterms:W3CDTF">2026-04-27T21:58:12Z</dcterms:created>
  <dcterms:modified xsi:type="dcterms:W3CDTF">2026-04-29T01:46:40Z</dcterms:modified>
</cp:coreProperties>
</file>